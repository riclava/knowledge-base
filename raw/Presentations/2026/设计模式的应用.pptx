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7" r:id="rId2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开场（2 分钟）：先不定义设计模式。告诉学生整堂课只追踪一个问题——需求变化会扩散到哪里？</a:t>
            </a:r>
          </a:p>
          <a:p/>
          <a:p>
            <a:r>
              <a:t>为什么现在都</a:t>
            </a:r>
            <a:r>
              <a:t> ai </a:t>
            </a:r>
            <a:r>
              <a:t>编码了</a:t>
            </a:r>
            <a:r>
              <a:t>，</a:t>
            </a:r>
            <a:r>
              <a:t>还要学设计模式</a:t>
            </a:r>
            <a:r>
              <a:t>？</a:t>
            </a:r>
            <a:r>
              <a:t>因为设计模式是一种思路</a:t>
            </a:r>
            <a:r>
              <a:t>，</a:t>
            </a:r>
            <a:r>
              <a:t>除了细节的代码实现</a:t>
            </a:r>
            <a:r>
              <a:t>，</a:t>
            </a:r>
            <a:r>
              <a:t>也适合工程设计</a:t>
            </a:r>
          </a:p>
          <a:p/>
          <a:p>
            <a:r>
              <a:t>[Sources]</a:t>
            </a:r>
          </a:p>
          <a:p>
            <a:r>
              <a:t>- Original instructional example authored for this deck; no external visual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开场冲突（6 分钟）：让学生先指出下一次需求会修改哪些行。不要马上给出模式名称；先建立‘变化扩散’这个问题。</a:t>
            </a:r>
          </a:p>
          <a:p/>
          <a:p>
            <a:r>
              <a:t>[Sources]</a:t>
            </a:r>
          </a:p>
          <a:p>
            <a:r>
              <a:t>- Original instructional example authored for this deck; no external visual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课程地图（4 分钟）：创建型、结构型、行为型不是三个互不相干的章节，而是对象生命周期中的三个问题。说明本课只选六个模式。</a:t>
            </a:r>
          </a:p>
          <a:p/>
          <a:p>
            <a:r>
              <a:t>[Sources]</a:t>
            </a:r>
          </a:p>
          <a:p>
            <a:r>
              <a:t>- Gamma, Helm, Johnson, Vlissides. Design Patterns: Elements of Reusable Object-Oriented Software. Addison-Wesley, 1994.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Factory（8 分钟）：先指出模式隔离的是‘创建哪种对象’，不是所有 new。强调工程里常见的是集中工厂或工厂方法；对象类型少且稳定时，直接构造更简单。</a:t>
            </a:r>
          </a:p>
          <a:p/>
          <a:p>
            <a:r>
              <a:t>[Sources]</a:t>
            </a:r>
          </a:p>
          <a:p>
            <a:r>
              <a:t>- Gamma, Helm, Johnson, Vlissides. Design Patterns: Elements of Reusable Object-Oriented Software. Addison-Wesley, 1994.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开场冲突（6 分钟）：让学生先指出下一次需求会修改哪些行。不要马上给出模式名称；先建立‘变化扩散’这个问题。</a:t>
            </a:r>
          </a:p>
          <a:p/>
          <a:p>
            <a:r>
              <a:t>[Sources]</a:t>
            </a:r>
          </a:p>
          <a:p>
            <a:r>
              <a:t>- Original instructional example authored for this deck; no external visual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Adapter（8 分钟）：让学生观察三套 SDK 的动词不同，但内部业务只需要 load()。强调 Adapter 保护的是系统边界，而不是给所有类再包一层接口。</a:t>
            </a:r>
          </a:p>
          <a:p/>
          <a:p>
            <a:r>
              <a:t>[Sources]</a:t>
            </a:r>
          </a:p>
          <a:p>
            <a:r>
              <a:t>- Gamma, Helm, Johnson, Vlissides. Design Patterns: Elements of Reusable Object-Oriented Software. Addison-Wesley, 1994.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开场冲突（6 分钟）：让学生先指出下一次需求会修改哪些行。不要马上给出模式名称；先建立‘变化扩散’这个问题。</a:t>
            </a:r>
          </a:p>
          <a:p/>
          <a:p>
            <a:r>
              <a:t>RunnerFactory &lt;- DatasetSourceFactory &lt;- </a:t>
            </a:r>
            <a:r>
              <a:rPr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DatasetSource</a:t>
            </a:r>
            <a:r>
              <a:rPr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 &lt;- Adapter</a:t>
            </a:r>
            <a:endParaRPr>
              <a:solidFill>
                <a:srgbClr val="6B3AB4"/>
              </a:solidFill>
              <a:latin typeface="SFMono-Regular"/>
              <a:ea typeface="SFMono-Regular"/>
              <a:cs typeface="SFMono-Regular"/>
            </a:endParaRPr>
          </a:p>
          <a:p/>
          <a:p>
            <a:r>
              <a:t>Runner runner = RunnerFactory.create(config);</a:t>
            </a:r>
          </a:p>
          <a:p>
            <a:r>
              <a:t>Result result = runner.run();</a:t>
            </a:r>
          </a:p>
          <a:p/>
          <a:p>
            <a:r>
              <a:t>[Sources]</a:t>
            </a:r>
          </a:p>
          <a:p>
            <a:r>
              <a:t>- Original instructional example authored for this deck; no external visual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Decorator（8 分钟）：先展示继承组合爆炸，再把缓存、重试、日志拆成独立包装层。提醒代价是调用链更长，调试和顺序可能变复杂。</a:t>
            </a:r>
          </a:p>
          <a:p/>
          <a:p>
            <a:r>
              <a:t>[Sources]</a:t>
            </a:r>
          </a:p>
          <a:p>
            <a:r>
              <a:t>- Gamma, Helm, Johnson, Vlissides. Design Patterns: Elements of Reusable Object-Oriented Software. Addison-Wesley, 1994.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开场冲突（6 分钟）：让学生先指出下一次需求会修改哪些行。不要马上给出模式名称；先建立‘变化扩散’这个问题。</a:t>
            </a:r>
          </a:p>
          <a:p/>
          <a:p>
            <a:r>
              <a:t>[Sources]</a:t>
            </a:r>
          </a:p>
          <a:p>
            <a:r>
              <a:t>- Original instructional example authored for this deck; no external visual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结构型对比（5 分钟）：两者都可能表现为‘包一层’，但 Adapter 解决接口不匹配，Decorator 解决能力组合。让学生用意图而不是图形识别模式。</a:t>
            </a:r>
          </a:p>
          <a:p/>
          <a:p>
            <a:r>
              <a:t>[Sources]</a:t>
            </a:r>
          </a:p>
          <a:p>
            <a:r>
              <a:t>- Gamma, Helm, Johnson, Vlissides. Design Patterns: Elements of Reusable Object-Oriented Software. Addison-Wesley, 1994.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开场冲突（6 分钟）：让学生先指出下一次需求会修改哪些行。不要马上给出模式名称；先建立‘变化扩散’这个问题。</a:t>
            </a:r>
          </a:p>
          <a:p/>
          <a:p>
            <a:r>
              <a:t>[Sources]</a:t>
            </a:r>
          </a:p>
          <a:p>
            <a:r>
              <a:t>- Original instructional example authored for this deck; no external visual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Strategy（8 分钟）：把 if/else 背后的变化轴命名为‘训练算法’。指出函数参数在简单场景中也可以是策略，不必为了模式强制创建复杂类层次。</a:t>
            </a:r>
          </a:p>
          <a:p/>
          <a:p>
            <a:r>
              <a:t>[Sources]</a:t>
            </a:r>
          </a:p>
          <a:p>
            <a:r>
              <a:t>- Gamma, Helm, Johnson, Vlissides. Design Patterns: Elements of Reusable Object-Oriented Software. Addison-Wesley, 1994.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开场冲突（6 分钟）：让学生先指出下一次需求会修改哪些行。不要马上给出模式名称；先建立‘变化扩散’这个问题。</a:t>
            </a:r>
          </a:p>
          <a:p/>
          <a:p>
            <a:r>
              <a:t>[Sources]</a:t>
            </a:r>
          </a:p>
          <a:p>
            <a:r>
              <a:t>- Original instructional example authored for this deck; no external visual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State（8 分钟）：用实验生命周期说明同一个 cancel() 在不同状态下有不同含义。强调状态机值得使用的信号是规则分散、非法转换增多，而不是任何枚举都要变成 State。</a:t>
            </a:r>
          </a:p>
          <a:p/>
          <a:p>
            <a:r>
              <a:t>[Sources]</a:t>
            </a:r>
          </a:p>
          <a:p>
            <a:r>
              <a:t>- Gamma, Helm, Johnson, Vlissides. Design Patterns: Elements of Reusable Object-Oriented Software. Addison-Wesley, 1994.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开场冲突（6 分钟）：让学生先指出下一次需求会修改哪些行。不要马上给出模式名称；先建立‘变化扩散’这个问题。</a:t>
            </a:r>
          </a:p>
          <a:p/>
          <a:p>
            <a:r>
              <a:t>[Sources]</a:t>
            </a:r>
          </a:p>
          <a:p>
            <a:r>
              <a:t>- Original instructional example authored for this deck; no external visual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Observer（8 分钟）：先演示 ExperimentRunner 直接调用保存、指标、通知的耦合，再改成发布完成事件。提醒学生：进程内 Observer 很简单，跨进程后的可靠性问题属于进一步的架构设计。</a:t>
            </a:r>
          </a:p>
          <a:p/>
          <a:p>
            <a:r>
              <a:t>[Sources]</a:t>
            </a:r>
          </a:p>
          <a:p>
            <a:r>
              <a:t>- Gamma, Helm, Johnson, Vlissides. Design Patterns: Elements of Reusable Object-Oriented Software. Addison-Wesley, 1994.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开场冲突（6 分钟）：让学生先指出下一次需求会修改哪些行。不要马上给出模式名称；先建立‘变化扩散’这个问题。</a:t>
            </a:r>
          </a:p>
          <a:p/>
          <a:p>
            <a:r>
              <a:t>[Sources]</a:t>
            </a:r>
          </a:p>
          <a:p>
            <a:r>
              <a:t>- Original instructional example authored for this deck; no external visual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行为型对比（5 分钟）：用三个问题帮助学生快速区分 Strategy、State、Observer。让学生分别用一句自然语言描述模式，而不是背定义。</a:t>
            </a:r>
          </a:p>
          <a:p/>
          <a:p>
            <a:r>
              <a:t>[Sources]</a:t>
            </a:r>
          </a:p>
          <a:p>
            <a:r>
              <a:t>- Gamma, Helm, Johnson, Vlissides. Design Patterns: Elements of Reusable Object-Oriented Software. Addison-Wesley, 1994.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模式组合（7 分钟）：逐个回指六种需求，让学生看到模式不是独立插件。中心的 ExperimentRunner 稳定，周围每个扩展点只承担一种变化。</a:t>
            </a:r>
          </a:p>
          <a:p/>
          <a:p>
            <a:r>
              <a:rPr lang="en-US" altLang="zh-CN"/>
              <a:t>DatasetSource source =</a:t>
            </a:r>
            <a:endParaRPr lang="en-US" altLang="zh-CN"/>
          </a:p>
          <a:p>
            <a:r>
              <a:rPr lang="en-US" altLang="zh-CN"/>
              <a:t>    DatasetSourceFactory.create(config);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TrainingStrategy strategy =</a:t>
            </a:r>
            <a:endParaRPr lang="en-US" altLang="zh-CN"/>
          </a:p>
          <a:p>
            <a:r>
              <a:rPr lang="en-US" altLang="zh-CN"/>
              <a:t>    TrainingStrategyFactory.create(config);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Trainer trainer =</a:t>
            </a:r>
            <a:endParaRPr lang="en-US" altLang="zh-CN"/>
          </a:p>
          <a:p>
            <a:r>
              <a:rPr lang="en-US" altLang="zh-CN"/>
              <a:t>    new Trainer(strategy);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Runner runner =</a:t>
            </a:r>
            <a:endParaRPr lang="en-US" altLang="zh-CN"/>
          </a:p>
          <a:p>
            <a:r>
              <a:rPr lang="en-US" altLang="zh-CN"/>
              <a:t>    RunnerFactory.create(</a:t>
            </a:r>
            <a:endParaRPr lang="en-US" altLang="zh-CN"/>
          </a:p>
          <a:p>
            <a:r>
              <a:rPr lang="en-US" altLang="zh-CN"/>
              <a:t>        config,</a:t>
            </a:r>
            <a:endParaRPr lang="en-US" altLang="zh-CN"/>
          </a:p>
          <a:p>
            <a:r>
              <a:rPr lang="en-US" altLang="zh-CN"/>
              <a:t>        source,</a:t>
            </a:r>
            <a:endParaRPr lang="en-US" altLang="zh-CN"/>
          </a:p>
          <a:p>
            <a:r>
              <a:rPr lang="en-US" altLang="zh-CN"/>
              <a:t>        trainer</a:t>
            </a:r>
            <a:endParaRPr lang="en-US" altLang="zh-CN"/>
          </a:p>
          <a:p>
            <a:r>
              <a:rPr lang="en-US" altLang="zh-CN"/>
              <a:t>    );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ExperimentRunner experiment =</a:t>
            </a:r>
            <a:endParaRPr lang="en-US" altLang="zh-CN"/>
          </a:p>
          <a:p>
            <a:r>
              <a:rPr lang="en-US" altLang="zh-CN"/>
              <a:t>    new ExperimentRunner(</a:t>
            </a:r>
            <a:endParaRPr lang="en-US" altLang="zh-CN"/>
          </a:p>
          <a:p>
            <a:r>
              <a:rPr lang="en-US" altLang="zh-CN"/>
              <a:t>        config.experimentId(),</a:t>
            </a:r>
            <a:endParaRPr lang="en-US" altLang="zh-CN"/>
          </a:p>
          <a:p>
            <a:r>
              <a:rPr lang="en-US" altLang="zh-CN"/>
              <a:t>        runner,</a:t>
            </a:r>
            <a:endParaRPr lang="en-US" altLang="zh-CN"/>
          </a:p>
          <a:p>
            <a:r>
              <a:rPr lang="en-US" altLang="zh-CN"/>
              <a:t>        events</a:t>
            </a:r>
            <a:endParaRPr lang="en-US" altLang="zh-CN"/>
          </a:p>
          <a:p>
            <a:r>
              <a:rPr lang="en-US" altLang="zh-CN"/>
              <a:t>    );</a:t>
            </a:r>
            <a:endParaRPr lang="en-US" altLang="zh-CN"/>
          </a:p>
          <a:p/>
          <a:p>
            <a:r>
              <a:t>[Sources]</a:t>
            </a:r>
          </a:p>
          <a:p>
            <a:r>
              <a:t>- Gamma, Helm, Johnson, Vlissides. Design Patterns: Elements of Reusable Object-Oriented Software. Addison-Wesley, 1994.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设计验证（5 分钟）：回到开场的六个需求，逐项检查修改范围。强调这里的‘主流程不改’建立在当前抽象边界仍然成立的前提上。</a:t>
            </a:r>
          </a:p>
          <a:p/>
          <a:p>
            <a:r>
              <a:t>[Sources]</a:t>
            </a:r>
          </a:p>
          <a:p>
            <a:r>
              <a:t>- Gamma, Helm, Johnson, Vlissides. Design Patterns: Elements of Reusable Object-Oriented Software. Addison-Wesley, 1994.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收束（3 分钟）：回到开场的 run()。让学生用三个问题替代模式背诵：变化在哪里、谁拥有、修改半径多大。不要以‘谢谢’结束，把问题留给下一次设计决策。</a:t>
            </a:r>
          </a:p>
          <a:p/>
          <a:p>
            <a:r>
              <a:t>[Sources]</a:t>
            </a:r>
          </a:p>
          <a:p>
            <a:r>
              <a:t>- Gamma, Helm, Johnson, Vlissides. Design Patterns: Elements of Reusable Object-Oriented Software. Addison-Wesley, 1994.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cover-eyebrow"/>
          <p:cNvSpPr>
            <a:spLocks noGrp="1"/>
          </p:cNvSpPr>
          <p:nvPr/>
        </p:nvSpPr>
        <p:spPr>
          <a:xfrm>
            <a:off x="400050" y="4000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软件工程专题</a:t>
            </a:r>
            <a:endParaRPr sz="165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cover-rail"/>
          <p:cNvSpPr>
            <a:spLocks noGrp="1"/>
          </p:cNvSpPr>
          <p:nvPr/>
        </p:nvSpPr>
        <p:spPr>
          <a:xfrm>
            <a:off x="400050" y="1657350"/>
            <a:ext cx="85725" cy="20002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" name="cover-title"/>
          <p:cNvSpPr>
            <a:spLocks noGrp="1"/>
          </p:cNvSpPr>
          <p:nvPr/>
        </p:nvSpPr>
        <p:spPr>
          <a:xfrm>
            <a:off x="723900" y="1581150"/>
            <a:ext cx="8191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5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5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设计模式</a:t>
            </a:r>
            <a:endParaRPr sz="55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cover-title-2"/>
          <p:cNvSpPr>
            <a:spLocks noGrp="1"/>
          </p:cNvSpPr>
          <p:nvPr/>
        </p:nvSpPr>
        <p:spPr>
          <a:xfrm>
            <a:off x="723900" y="2533650"/>
            <a:ext cx="10477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54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54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管理变化的工程语言</a:t>
            </a:r>
            <a:endParaRPr sz="54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cover-subtitle"/>
          <p:cNvSpPr>
            <a:spLocks noGrp="1"/>
          </p:cNvSpPr>
          <p:nvPr/>
        </p:nvSpPr>
        <p:spPr>
          <a:xfrm>
            <a:off x="723900" y="4276725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4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以科研实验平台的演化为例</a:t>
            </a:r>
            <a:endParaRPr sz="24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cover-rule"/>
          <p:cNvSpPr>
            <a:spLocks noGrp="1"/>
          </p:cNvSpPr>
          <p:nvPr/>
        </p:nvSpPr>
        <p:spPr>
          <a:xfrm>
            <a:off x="723900" y="5095875"/>
            <a:ext cx="1106805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7" name="cover-path"/>
          <p:cNvSpPr>
            <a:spLocks noGrp="1"/>
          </p:cNvSpPr>
          <p:nvPr/>
        </p:nvSpPr>
        <p:spPr>
          <a:xfrm>
            <a:off x="723900" y="542925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创建  ·  连接  ·  行动  ·  协作</a:t>
            </a:r>
            <a:endParaRPr sz="18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problem-title"/>
          <p:cNvSpPr>
            <a:spLocks noGrp="1"/>
          </p:cNvSpPr>
          <p:nvPr/>
        </p:nvSpPr>
        <p:spPr>
          <a:xfrm>
            <a:off x="400050" y="3238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这个系统能运行，但每种变化都挤进同一个方法</a:t>
            </a:r>
            <a:endParaRPr sz="36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problem-subtitle"/>
          <p:cNvSpPr>
            <a:spLocks noGrp="1"/>
          </p:cNvSpPr>
          <p:nvPr/>
        </p:nvSpPr>
        <p:spPr>
          <a:xfrm>
            <a:off x="400050" y="1066800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最初只有一个 run()，创建、接入、能力、算法、状态和通知都从这里进入。</a:t>
            </a:r>
            <a:endParaRPr sz="172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pressure-eyebrow"/>
          <p:cNvSpPr>
            <a:spLocks noGrp="1"/>
          </p:cNvSpPr>
          <p:nvPr/>
        </p:nvSpPr>
        <p:spPr>
          <a:xfrm>
            <a:off x="7524750" y="1771650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变化进入同一入口</a:t>
            </a:r>
            <a:endParaRPr sz="15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pressure-statement"/>
          <p:cNvSpPr>
            <a:spLocks noGrp="1"/>
          </p:cNvSpPr>
          <p:nvPr/>
        </p:nvSpPr>
        <p:spPr>
          <a:xfrm>
            <a:off x="7524750" y="2152650"/>
            <a:ext cx="42672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个方法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承担 6 类变化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pressure-rule"/>
          <p:cNvSpPr>
            <a:spLocks noGrp="1"/>
          </p:cNvSpPr>
          <p:nvPr/>
        </p:nvSpPr>
        <p:spPr>
          <a:xfrm>
            <a:off x="7524750" y="3476625"/>
            <a:ext cx="42672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1" name="pressure-1-dot"/>
          <p:cNvSpPr>
            <a:spLocks noGrp="1"/>
          </p:cNvSpPr>
          <p:nvPr/>
        </p:nvSpPr>
        <p:spPr>
          <a:xfrm>
            <a:off x="7543800" y="37719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2" name="pressure-1-text"/>
          <p:cNvSpPr>
            <a:spLocks noGrp="1"/>
          </p:cNvSpPr>
          <p:nvPr/>
        </p:nvSpPr>
        <p:spPr>
          <a:xfrm>
            <a:off x="7772400" y="36861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创建运行器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pressure-2-dot"/>
          <p:cNvSpPr>
            <a:spLocks noGrp="1"/>
          </p:cNvSpPr>
          <p:nvPr/>
        </p:nvSpPr>
        <p:spPr>
          <a:xfrm>
            <a:off x="7543800" y="40386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4" name="pressure-2-text"/>
          <p:cNvSpPr>
            <a:spLocks noGrp="1"/>
          </p:cNvSpPr>
          <p:nvPr/>
        </p:nvSpPr>
        <p:spPr>
          <a:xfrm>
            <a:off x="7772400" y="39528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接入数据源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pressure-3-dot"/>
          <p:cNvSpPr>
            <a:spLocks noGrp="1"/>
          </p:cNvSpPr>
          <p:nvPr/>
        </p:nvSpPr>
        <p:spPr>
          <a:xfrm>
            <a:off x="7543800" y="43053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pressure-3-text"/>
          <p:cNvSpPr>
            <a:spLocks noGrp="1"/>
          </p:cNvSpPr>
          <p:nvPr/>
        </p:nvSpPr>
        <p:spPr>
          <a:xfrm>
            <a:off x="7772400" y="42195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切换训练算法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pressure-4-dot"/>
          <p:cNvSpPr>
            <a:spLocks noGrp="1"/>
          </p:cNvSpPr>
          <p:nvPr/>
        </p:nvSpPr>
        <p:spPr>
          <a:xfrm>
            <a:off x="7543800" y="45720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8" name="pressure-4-text"/>
          <p:cNvSpPr>
            <a:spLocks noGrp="1"/>
          </p:cNvSpPr>
          <p:nvPr/>
        </p:nvSpPr>
        <p:spPr>
          <a:xfrm>
            <a:off x="7772400" y="44862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叠加缓存与重试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pressure-5-dot"/>
          <p:cNvSpPr>
            <a:spLocks noGrp="1"/>
          </p:cNvSpPr>
          <p:nvPr/>
        </p:nvSpPr>
        <p:spPr>
          <a:xfrm>
            <a:off x="7543800" y="48387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0" name="pressure-5-text"/>
          <p:cNvSpPr>
            <a:spLocks noGrp="1"/>
          </p:cNvSpPr>
          <p:nvPr/>
        </p:nvSpPr>
        <p:spPr>
          <a:xfrm>
            <a:off x="7772400" y="47529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管理实验状态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pressure-6-dot"/>
          <p:cNvSpPr>
            <a:spLocks noGrp="1"/>
          </p:cNvSpPr>
          <p:nvPr/>
        </p:nvSpPr>
        <p:spPr>
          <a:xfrm>
            <a:off x="7543800" y="51054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2" name="pressure-6-text"/>
          <p:cNvSpPr>
            <a:spLocks noGrp="1"/>
          </p:cNvSpPr>
          <p:nvPr/>
        </p:nvSpPr>
        <p:spPr>
          <a:xfrm>
            <a:off x="7772400" y="50196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触发保存与通知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problem-callout-background"/>
          <p:cNvSpPr>
            <a:spLocks noGrp="1"/>
          </p:cNvSpPr>
          <p:nvPr/>
        </p:nvSpPr>
        <p:spPr>
          <a:xfrm>
            <a:off x="400050" y="567690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34" name="problem-callout-rail"/>
          <p:cNvSpPr>
            <a:spLocks noGrp="1"/>
          </p:cNvSpPr>
          <p:nvPr/>
        </p:nvSpPr>
        <p:spPr>
          <a:xfrm>
            <a:off x="400050" y="567690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5" name="problem-callout-text"/>
          <p:cNvSpPr>
            <a:spLocks noGrp="1"/>
          </p:cNvSpPr>
          <p:nvPr/>
        </p:nvSpPr>
        <p:spPr>
          <a:xfrm>
            <a:off x="666750" y="581025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设计模式要解决的，不是代码能不能跑，而是变化能否停留在局部。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problem-page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code-block-container-2"/>
          <p:cNvSpPr>
            <a:spLocks noGrp="1"/>
          </p:cNvSpPr>
          <p:nvPr/>
        </p:nvSpPr>
        <p:spPr>
          <a:xfrm>
            <a:off x="400050" y="1676400"/>
            <a:ext cx="6610350" cy="3638550"/>
          </a:xfrm>
          <a:prstGeom prst="roundRect">
            <a:avLst>
              <a:gd name="adj" fmla="val 2618"/>
            </a:avLst>
          </a:prstGeom>
          <a:solidFill>
            <a:srgbClr val="FCFC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code-block-header-2"/>
          <p:cNvSpPr>
            <a:spLocks noGrp="1"/>
          </p:cNvSpPr>
          <p:nvPr/>
        </p:nvSpPr>
        <p:spPr>
          <a:xfrm>
            <a:off x="400050" y="1676400"/>
            <a:ext cx="6610350" cy="304800"/>
          </a:xfrm>
          <a:prstGeom prst="rect">
            <a:avLst/>
          </a:prstGeom>
          <a:noFill/>
        </p:spPr>
        <p:txBody>
          <a:bodyPr wrap="none" lIns="190500" tIns="0" rIns="190500" bIns="0" anchor="ctr"/>
          <a:lstStyle/>
          <a:p>
            <a:pPr>
              <a:defRPr sz="1050">
                <a:solidFill>
                  <a:srgbClr val="0D0D0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ExperimentRunner.java</a:t>
            </a:r>
            <a:endParaRPr sz="112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40" name="code-block-text-2"/>
          <p:cNvSpPr>
            <a:spLocks noGrp="1"/>
          </p:cNvSpPr>
          <p:nvPr/>
        </p:nvSpPr>
        <p:spPr>
          <a:xfrm>
            <a:off x="400050" y="1981200"/>
            <a:ext cx="6610350" cy="3333750"/>
          </a:xfrm>
          <a:prstGeom prst="rect">
            <a:avLst/>
          </a:prstGeom>
          <a:noFill/>
        </p:spPr>
        <p:txBody>
          <a:bodyPr wrap="none" lIns="171450" tIns="76200" rIns="171450" bIns="76200" anchor="t">
            <a:noAutofit/>
          </a:bodyPr>
          <a:lstStyle/>
          <a:p>
            <a:pPr>
              <a:lnSpc>
                <a:spcPct val="102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Result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run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(Config c)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2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Runner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runner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=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c.cloud</a:t>
            </a:r>
            <a:r>
              <a:rPr lang="en-US"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?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CloudRunner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()</a:t>
            </a:r>
            <a:r>
              <a:rPr lang="en-US"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: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LocalRunner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2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Dataset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data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=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c.csv ? readCsv() : queryDb();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2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status = RUNNING;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2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Result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out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=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c.retry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2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  ? retry(() -&gt; runner.run(data, c.svm))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2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  : runner.run(data, c.svm);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2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save(out);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2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sendMail(out);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2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return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out;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2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section-3"/>
          <p:cNvSpPr>
            <a:spLocks noGrp="1"/>
          </p:cNvSpPr>
          <p:nvPr/>
        </p:nvSpPr>
        <p:spPr>
          <a:xfrm>
            <a:off x="400050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课程脉络</a:t>
            </a:r>
            <a:endParaRPr sz="142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itle-3"/>
          <p:cNvSpPr>
            <a:spLocks noGrp="1"/>
          </p:cNvSpPr>
          <p:nvPr/>
        </p:nvSpPr>
        <p:spPr>
          <a:xfrm>
            <a:off x="400050" y="5143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六个模式，不是六个孤立答案</a:t>
            </a:r>
            <a:endParaRPr sz="35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header-rule-3"/>
          <p:cNvSpPr>
            <a:spLocks noGrp="1"/>
          </p:cNvSpPr>
          <p:nvPr/>
        </p:nvSpPr>
        <p:spPr>
          <a:xfrm>
            <a:off x="400050" y="1304925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4" name="page-3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58" name="roadmap-line"/>
          <p:cNvCxnSpPr/>
          <p:nvPr/>
        </p:nvCxnSpPr>
        <p:spPr>
          <a:xfrm>
            <a:off x="1524000" y="2971800"/>
            <a:ext cx="9048750" cy="953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</a:ln>
        </p:spPr>
      </p:cxnSp>
      <p:sp>
        <p:nvSpPr>
          <p:cNvPr id="6" name="roadmap-dot-1"/>
          <p:cNvSpPr>
            <a:spLocks noGrp="1"/>
          </p:cNvSpPr>
          <p:nvPr/>
        </p:nvSpPr>
        <p:spPr>
          <a:xfrm>
            <a:off x="1638300" y="2895600"/>
            <a:ext cx="152400" cy="1524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7" name="roadmap-dot-2"/>
          <p:cNvSpPr>
            <a:spLocks noGrp="1"/>
          </p:cNvSpPr>
          <p:nvPr/>
        </p:nvSpPr>
        <p:spPr>
          <a:xfrm>
            <a:off x="5829300" y="2895600"/>
            <a:ext cx="152400" cy="1524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8" name="roadmap-dot-3"/>
          <p:cNvSpPr>
            <a:spLocks noGrp="1"/>
          </p:cNvSpPr>
          <p:nvPr/>
        </p:nvSpPr>
        <p:spPr>
          <a:xfrm>
            <a:off x="9925050" y="2895600"/>
            <a:ext cx="152400" cy="1524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9" name="roadmap-no-0"/>
          <p:cNvSpPr>
            <a:spLocks noGrp="1"/>
          </p:cNvSpPr>
          <p:nvPr/>
        </p:nvSpPr>
        <p:spPr>
          <a:xfrm>
            <a:off x="666750" y="180975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345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roadmap-verb-0"/>
          <p:cNvSpPr>
            <a:spLocks noGrp="1"/>
          </p:cNvSpPr>
          <p:nvPr/>
        </p:nvSpPr>
        <p:spPr>
          <a:xfrm>
            <a:off x="666750" y="3286125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对象如何产生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admap-family-0"/>
          <p:cNvSpPr>
            <a:spLocks noGrp="1"/>
          </p:cNvSpPr>
          <p:nvPr/>
        </p:nvSpPr>
        <p:spPr>
          <a:xfrm>
            <a:off x="666750" y="38481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创建型</a:t>
            </a:r>
            <a:endParaRPr sz="18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admap-patterns-0"/>
          <p:cNvSpPr>
            <a:spLocks noGrp="1"/>
          </p:cNvSpPr>
          <p:nvPr/>
        </p:nvSpPr>
        <p:spPr>
          <a:xfrm>
            <a:off x="666750" y="4305300"/>
            <a:ext cx="323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Factory</a:t>
            </a:r>
            <a:endParaRPr sz="18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admap-no-1"/>
          <p:cNvSpPr>
            <a:spLocks noGrp="1"/>
          </p:cNvSpPr>
          <p:nvPr/>
        </p:nvSpPr>
        <p:spPr>
          <a:xfrm>
            <a:off x="4572000" y="180975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admap-verb-1"/>
          <p:cNvSpPr>
            <a:spLocks noGrp="1"/>
          </p:cNvSpPr>
          <p:nvPr/>
        </p:nvSpPr>
        <p:spPr>
          <a:xfrm>
            <a:off x="4572000" y="3286125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对象如何连接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admap-family-1"/>
          <p:cNvSpPr>
            <a:spLocks noGrp="1"/>
          </p:cNvSpPr>
          <p:nvPr/>
        </p:nvSpPr>
        <p:spPr>
          <a:xfrm>
            <a:off x="4572000" y="38481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结构型</a:t>
            </a:r>
            <a:endParaRPr sz="18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admap-patterns-1"/>
          <p:cNvSpPr>
            <a:spLocks noGrp="1"/>
          </p:cNvSpPr>
          <p:nvPr/>
        </p:nvSpPr>
        <p:spPr>
          <a:xfrm>
            <a:off x="4572000" y="4305300"/>
            <a:ext cx="323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Adapter · Decorator</a:t>
            </a:r>
            <a:endParaRPr sz="18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admap-no-2"/>
          <p:cNvSpPr>
            <a:spLocks noGrp="1"/>
          </p:cNvSpPr>
          <p:nvPr/>
        </p:nvSpPr>
        <p:spPr>
          <a:xfrm>
            <a:off x="8477250" y="180975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admap-verb-2"/>
          <p:cNvSpPr>
            <a:spLocks noGrp="1"/>
          </p:cNvSpPr>
          <p:nvPr/>
        </p:nvSpPr>
        <p:spPr>
          <a:xfrm>
            <a:off x="8477250" y="3286125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对象如何行动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admap-family-2"/>
          <p:cNvSpPr>
            <a:spLocks noGrp="1"/>
          </p:cNvSpPr>
          <p:nvPr/>
        </p:nvSpPr>
        <p:spPr>
          <a:xfrm>
            <a:off x="8477250" y="38481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行为型</a:t>
            </a:r>
            <a:endParaRPr sz="18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admap-patterns-2"/>
          <p:cNvSpPr>
            <a:spLocks noGrp="1"/>
          </p:cNvSpPr>
          <p:nvPr/>
        </p:nvSpPr>
        <p:spPr>
          <a:xfrm>
            <a:off x="8477250" y="4305300"/>
            <a:ext cx="323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Strategy · State · Observer</a:t>
            </a:r>
            <a:endParaRPr sz="18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admap-callout-background"/>
          <p:cNvSpPr>
            <a:spLocks noGrp="1"/>
          </p:cNvSpPr>
          <p:nvPr/>
        </p:nvSpPr>
        <p:spPr>
          <a:xfrm>
            <a:off x="400050" y="565785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22" name="roadmap-callout-rail"/>
          <p:cNvSpPr>
            <a:spLocks noGrp="1"/>
          </p:cNvSpPr>
          <p:nvPr/>
        </p:nvSpPr>
        <p:spPr>
          <a:xfrm>
            <a:off x="400050" y="565785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3" name="roadmap-callout-text"/>
          <p:cNvSpPr>
            <a:spLocks noGrp="1"/>
          </p:cNvSpPr>
          <p:nvPr/>
        </p:nvSpPr>
        <p:spPr>
          <a:xfrm>
            <a:off x="666750" y="579120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实验平台的需求演化提供讲述脉络。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section-4"/>
          <p:cNvSpPr>
            <a:spLocks noGrp="1"/>
          </p:cNvSpPr>
          <p:nvPr/>
        </p:nvSpPr>
        <p:spPr>
          <a:xfrm>
            <a:off x="400050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创建型 · FACTORY</a:t>
            </a:r>
            <a:endParaRPr sz="142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itle-4"/>
          <p:cNvSpPr>
            <a:spLocks noGrp="1"/>
          </p:cNvSpPr>
          <p:nvPr/>
        </p:nvSpPr>
        <p:spPr>
          <a:xfrm>
            <a:off x="400050" y="5143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Factory 把创建决策从业务流程中拿走</a:t>
            </a:r>
            <a:endParaRPr sz="35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header-rule-4"/>
          <p:cNvSpPr>
            <a:spLocks noGrp="1"/>
          </p:cNvSpPr>
          <p:nvPr/>
        </p:nvSpPr>
        <p:spPr>
          <a:xfrm>
            <a:off x="400050" y="1304925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4" name="page-4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factory-before-panel"/>
          <p:cNvSpPr>
            <a:spLocks noGrp="1"/>
          </p:cNvSpPr>
          <p:nvPr/>
        </p:nvSpPr>
        <p:spPr>
          <a:xfrm>
            <a:off x="400050" y="1743075"/>
            <a:ext cx="4953000" cy="29527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factory-before-rail"/>
          <p:cNvSpPr>
            <a:spLocks noGrp="1"/>
          </p:cNvSpPr>
          <p:nvPr/>
        </p:nvSpPr>
        <p:spPr>
          <a:xfrm>
            <a:off x="400050" y="1743075"/>
            <a:ext cx="66675" cy="29527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7" name="factory-before-label"/>
          <p:cNvSpPr>
            <a:spLocks noGrp="1"/>
          </p:cNvSpPr>
          <p:nvPr/>
        </p:nvSpPr>
        <p:spPr>
          <a:xfrm>
            <a:off x="647700" y="1895475"/>
            <a:ext cx="445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B7280"/>
                </a:solidFill>
                <a:latin typeface="SFMono-Regular"/>
                <a:ea typeface="SFMono-Regular"/>
                <a:cs typeface="SFMono-Regular"/>
              </a:defRPr>
            </a:pPr>
            <a:r>
              <a:rPr sz="1275" b="0">
                <a:solidFill>
                  <a:srgbClr val="6B7280"/>
                </a:solidFill>
                <a:latin typeface="SFMono-Regular"/>
                <a:ea typeface="SFMono-Regular"/>
                <a:cs typeface="SFMono-Regular"/>
              </a:rPr>
              <a:t>创建逻辑散落在流程里</a:t>
            </a:r>
            <a:endParaRPr sz="1275" b="0">
              <a:solidFill>
                <a:srgbClr val="6B7280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8" name="factory-before-line-1"/>
          <p:cNvSpPr>
            <a:spLocks noGrp="1"/>
          </p:cNvSpPr>
          <p:nvPr/>
        </p:nvSpPr>
        <p:spPr>
          <a:xfrm>
            <a:off x="666750" y="2257425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11111"/>
                </a:solidFill>
                <a:latin typeface="SFMono-Regular"/>
                <a:ea typeface="SFMono-Regular"/>
                <a:cs typeface="SFMono-Regular"/>
              </a:defRPr>
            </a:pPr>
            <a:r>
              <a:rPr sz="1650" b="1">
                <a:solidFill>
                  <a:srgbClr val="111111"/>
                </a:solidFill>
                <a:latin typeface="SFMono-Regular"/>
                <a:ea typeface="SFMono-Regular"/>
                <a:cs typeface="SFMono-Regular"/>
              </a:rPr>
              <a:t>Runner runner;</a:t>
            </a:r>
            <a:endParaRPr sz="1650" b="1">
              <a:solidFill>
                <a:srgbClr val="111111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9" name="factory-before-line-2"/>
          <p:cNvSpPr>
            <a:spLocks noGrp="1"/>
          </p:cNvSpPr>
          <p:nvPr/>
        </p:nvSpPr>
        <p:spPr>
          <a:xfrm>
            <a:off x="666750" y="2562225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defRPr>
            </a:pPr>
            <a:r>
              <a:rPr sz="1650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rPr>
              <a:t>if (config.cloud) {</a:t>
            </a:r>
            <a:endParaRPr sz="1650" b="0">
              <a:solidFill>
                <a:srgbClr val="111111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10" name="factory-before-line-3"/>
          <p:cNvSpPr>
            <a:spLocks noGrp="1"/>
          </p:cNvSpPr>
          <p:nvPr/>
        </p:nvSpPr>
        <p:spPr>
          <a:xfrm>
            <a:off x="666750" y="2867025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F97316"/>
                </a:solidFill>
                <a:latin typeface="SFMono-Regular"/>
                <a:ea typeface="SFMono-Regular"/>
                <a:cs typeface="SFMono-Regular"/>
              </a:defRPr>
            </a:pPr>
            <a:r>
              <a:rPr sz="1650" b="0">
                <a:solidFill>
                  <a:srgbClr val="F97316"/>
                </a:solidFill>
                <a:latin typeface="SFMono-Regular"/>
                <a:ea typeface="SFMono-Regular"/>
                <a:cs typeface="SFMono-Regular"/>
              </a:rPr>
              <a:t>  runner = new CloudRunner();</a:t>
            </a:r>
            <a:endParaRPr sz="1650" b="0">
              <a:solidFill>
                <a:srgbClr val="F97316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11" name="factory-before-line-4"/>
          <p:cNvSpPr>
            <a:spLocks noGrp="1"/>
          </p:cNvSpPr>
          <p:nvPr/>
        </p:nvSpPr>
        <p:spPr>
          <a:xfrm>
            <a:off x="666750" y="3171825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defRPr>
            </a:pPr>
            <a:r>
              <a:rPr sz="1650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rPr>
              <a:t>} else {</a:t>
            </a:r>
            <a:endParaRPr sz="1650" b="0">
              <a:solidFill>
                <a:srgbClr val="111111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12" name="factory-before-line-5"/>
          <p:cNvSpPr>
            <a:spLocks noGrp="1"/>
          </p:cNvSpPr>
          <p:nvPr/>
        </p:nvSpPr>
        <p:spPr>
          <a:xfrm>
            <a:off x="666750" y="3476625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F97316"/>
                </a:solidFill>
                <a:latin typeface="SFMono-Regular"/>
                <a:ea typeface="SFMono-Regular"/>
                <a:cs typeface="SFMono-Regular"/>
              </a:defRPr>
            </a:pPr>
            <a:r>
              <a:rPr sz="1650" b="0">
                <a:solidFill>
                  <a:srgbClr val="F97316"/>
                </a:solidFill>
                <a:latin typeface="SFMono-Regular"/>
                <a:ea typeface="SFMono-Regular"/>
                <a:cs typeface="SFMono-Regular"/>
              </a:rPr>
              <a:t>  runner = new LocalRunner();</a:t>
            </a:r>
            <a:endParaRPr sz="1650" b="0">
              <a:solidFill>
                <a:srgbClr val="F97316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13" name="factory-before-line-6"/>
          <p:cNvSpPr>
            <a:spLocks noGrp="1"/>
          </p:cNvSpPr>
          <p:nvPr/>
        </p:nvSpPr>
        <p:spPr>
          <a:xfrm>
            <a:off x="666750" y="3781425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defRPr>
            </a:pPr>
            <a:r>
              <a:rPr sz="1650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650" b="0">
              <a:solidFill>
                <a:srgbClr val="111111"/>
              </a:solidFill>
              <a:latin typeface="SFMono-Regular"/>
              <a:ea typeface="SFMono-Regular"/>
              <a:cs typeface="SFMono-Regular"/>
            </a:endParaRPr>
          </a:p>
        </p:txBody>
      </p:sp>
      <p:cxnSp>
        <p:nvCxnSpPr>
          <p:cNvPr id="158" name="factory-line-service"/>
          <p:cNvCxnSpPr/>
          <p:nvPr/>
        </p:nvCxnSpPr>
        <p:spPr>
          <a:xfrm>
            <a:off x="7524750" y="3190875"/>
            <a:ext cx="285750" cy="953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</a:ln>
        </p:spPr>
      </p:cxnSp>
      <p:cxnSp>
        <p:nvCxnSpPr>
          <p:cNvPr id="159" name="factory-line-out"/>
          <p:cNvCxnSpPr/>
          <p:nvPr/>
        </p:nvCxnSpPr>
        <p:spPr>
          <a:xfrm>
            <a:off x="9906000" y="3190875"/>
            <a:ext cx="142875" cy="953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</a:ln>
        </p:spPr>
      </p:cxnSp>
      <p:cxnSp>
        <p:nvCxnSpPr>
          <p:cNvPr id="160" name="factory-line-bus"/>
          <p:cNvCxnSpPr/>
          <p:nvPr/>
        </p:nvCxnSpPr>
        <p:spPr>
          <a:xfrm>
            <a:off x="10048875" y="2200275"/>
            <a:ext cx="953" cy="2000250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</a:ln>
        </p:spPr>
      </p:cxnSp>
      <p:cxnSp>
        <p:nvCxnSpPr>
          <p:cNvPr id="161" name="factory-line-local"/>
          <p:cNvCxnSpPr/>
          <p:nvPr/>
        </p:nvCxnSpPr>
        <p:spPr>
          <a:xfrm>
            <a:off x="10048875" y="2200275"/>
            <a:ext cx="95250" cy="953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</a:ln>
        </p:spPr>
      </p:cxnSp>
      <p:cxnSp>
        <p:nvCxnSpPr>
          <p:cNvPr id="162" name="factory-line-cloud"/>
          <p:cNvCxnSpPr/>
          <p:nvPr/>
        </p:nvCxnSpPr>
        <p:spPr>
          <a:xfrm>
            <a:off x="10048875" y="4200525"/>
            <a:ext cx="95250" cy="953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</a:ln>
        </p:spPr>
      </p:cxnSp>
      <p:sp>
        <p:nvSpPr>
          <p:cNvPr id="19" name="factory-arrow-1"/>
          <p:cNvSpPr>
            <a:spLocks noGrp="1"/>
          </p:cNvSpPr>
          <p:nvPr/>
        </p:nvSpPr>
        <p:spPr>
          <a:xfrm>
            <a:off x="6934200" y="28765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25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factory-service-box"/>
          <p:cNvSpPr>
            <a:spLocks noGrp="1"/>
          </p:cNvSpPr>
          <p:nvPr/>
        </p:nvSpPr>
        <p:spPr>
          <a:xfrm>
            <a:off x="5810250" y="2714625"/>
            <a:ext cx="1714500" cy="9525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factory-service-title"/>
          <p:cNvSpPr>
            <a:spLocks noGrp="1"/>
          </p:cNvSpPr>
          <p:nvPr/>
        </p:nvSpPr>
        <p:spPr>
          <a:xfrm>
            <a:off x="6019800" y="2838450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业务流程</a:t>
            </a:r>
            <a:endParaRPr sz="21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factory-service-subtitle"/>
          <p:cNvSpPr>
            <a:spLocks noGrp="1"/>
          </p:cNvSpPr>
          <p:nvPr/>
        </p:nvSpPr>
        <p:spPr>
          <a:xfrm>
            <a:off x="6019800" y="3200400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run()</a:t>
            </a:r>
            <a:endParaRPr sz="157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factory-node-box"/>
          <p:cNvSpPr>
            <a:spLocks noGrp="1"/>
          </p:cNvSpPr>
          <p:nvPr/>
        </p:nvSpPr>
        <p:spPr>
          <a:xfrm>
            <a:off x="7810500" y="2571750"/>
            <a:ext cx="2095500" cy="1238250"/>
          </a:xfrm>
          <a:prstGeom prst="rect">
            <a:avLst/>
          </a:prstGeom>
          <a:solidFill>
            <a:srgbClr val="FFF4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factory-node-accent"/>
          <p:cNvSpPr>
            <a:spLocks noGrp="1"/>
          </p:cNvSpPr>
          <p:nvPr/>
        </p:nvSpPr>
        <p:spPr>
          <a:xfrm>
            <a:off x="7810500" y="2571750"/>
            <a:ext cx="66675" cy="12382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5" name="factory-node-title"/>
          <p:cNvSpPr>
            <a:spLocks noGrp="1"/>
          </p:cNvSpPr>
          <p:nvPr/>
        </p:nvSpPr>
        <p:spPr>
          <a:xfrm>
            <a:off x="8020050" y="2695575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Factory</a:t>
            </a:r>
            <a:endParaRPr sz="21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factory-node-subtitle"/>
          <p:cNvSpPr>
            <a:spLocks noGrp="1"/>
          </p:cNvSpPr>
          <p:nvPr/>
        </p:nvSpPr>
        <p:spPr>
          <a:xfrm>
            <a:off x="8020050" y="3057525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创建 Runner</a:t>
            </a:r>
            <a:endParaRPr sz="157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factory-local-box"/>
          <p:cNvSpPr>
            <a:spLocks noGrp="1"/>
          </p:cNvSpPr>
          <p:nvPr/>
        </p:nvSpPr>
        <p:spPr>
          <a:xfrm>
            <a:off x="10144125" y="1762125"/>
            <a:ext cx="1647825" cy="8763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8" name="factory-local-title"/>
          <p:cNvSpPr>
            <a:spLocks noGrp="1"/>
          </p:cNvSpPr>
          <p:nvPr/>
        </p:nvSpPr>
        <p:spPr>
          <a:xfrm>
            <a:off x="10353675" y="1885950"/>
            <a:ext cx="12668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Local</a:t>
            </a:r>
            <a:endParaRPr sz="18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factory-local-subtitle"/>
          <p:cNvSpPr>
            <a:spLocks noGrp="1"/>
          </p:cNvSpPr>
          <p:nvPr/>
        </p:nvSpPr>
        <p:spPr>
          <a:xfrm>
            <a:off x="10353675" y="2247900"/>
            <a:ext cx="12668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Runner</a:t>
            </a:r>
            <a:endParaRPr sz="157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factory-cloud-box"/>
          <p:cNvSpPr>
            <a:spLocks noGrp="1"/>
          </p:cNvSpPr>
          <p:nvPr/>
        </p:nvSpPr>
        <p:spPr>
          <a:xfrm>
            <a:off x="10144125" y="3762375"/>
            <a:ext cx="1647825" cy="8763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1" name="factory-cloud-title"/>
          <p:cNvSpPr>
            <a:spLocks noGrp="1"/>
          </p:cNvSpPr>
          <p:nvPr/>
        </p:nvSpPr>
        <p:spPr>
          <a:xfrm>
            <a:off x="10353675" y="3886200"/>
            <a:ext cx="12668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Cloud</a:t>
            </a:r>
            <a:endParaRPr sz="18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factory-cloud-subtitle"/>
          <p:cNvSpPr>
            <a:spLocks noGrp="1"/>
          </p:cNvSpPr>
          <p:nvPr/>
        </p:nvSpPr>
        <p:spPr>
          <a:xfrm>
            <a:off x="10353675" y="4248150"/>
            <a:ext cx="12668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Runner</a:t>
            </a:r>
            <a:endParaRPr sz="157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factory-axis"/>
          <p:cNvSpPr>
            <a:spLocks noGrp="1"/>
          </p:cNvSpPr>
          <p:nvPr/>
        </p:nvSpPr>
        <p:spPr>
          <a:xfrm>
            <a:off x="7620000" y="4953000"/>
            <a:ext cx="417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8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变化轴：运行环境</a:t>
            </a:r>
            <a:endParaRPr sz="187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factory-callout-background"/>
          <p:cNvSpPr>
            <a:spLocks noGrp="1"/>
          </p:cNvSpPr>
          <p:nvPr/>
        </p:nvSpPr>
        <p:spPr>
          <a:xfrm>
            <a:off x="400050" y="565785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35" name="factory-callout-rail"/>
          <p:cNvSpPr>
            <a:spLocks noGrp="1"/>
          </p:cNvSpPr>
          <p:nvPr/>
        </p:nvSpPr>
        <p:spPr>
          <a:xfrm>
            <a:off x="400050" y="565785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6" name="factory-callout-text"/>
          <p:cNvSpPr>
            <a:spLocks noGrp="1"/>
          </p:cNvSpPr>
          <p:nvPr/>
        </p:nvSpPr>
        <p:spPr>
          <a:xfrm>
            <a:off x="666750" y="579120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新增 Runner 时，扩展创建端；ExperimentRunner 的主流程保持稳定。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problem-title"/>
          <p:cNvSpPr>
            <a:spLocks noGrp="1"/>
          </p:cNvSpPr>
          <p:nvPr/>
        </p:nvSpPr>
        <p:spPr>
          <a:xfrm>
            <a:off x="400050" y="3238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Factory：把对象创建集中到工厂</a:t>
            </a:r>
            <a:endParaRPr sz="36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problem-subtitle"/>
          <p:cNvSpPr>
            <a:spLocks noGrp="1"/>
          </p:cNvSpPr>
          <p:nvPr/>
        </p:nvSpPr>
        <p:spPr>
          <a:xfrm>
            <a:off x="400050" y="1066800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Java 代码示例：新增 Runner 只扩展创建端，业务流程不变。</a:t>
            </a:r>
            <a:endParaRPr sz="172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pressure-eyebrow"/>
          <p:cNvSpPr>
            <a:spLocks noGrp="1"/>
          </p:cNvSpPr>
          <p:nvPr/>
        </p:nvSpPr>
        <p:spPr>
          <a:xfrm>
            <a:off x="7524750" y="1771650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创建决策集中</a:t>
            </a:r>
            <a:endParaRPr sz="15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pressure-statement"/>
          <p:cNvSpPr>
            <a:spLocks noGrp="1"/>
          </p:cNvSpPr>
          <p:nvPr/>
        </p:nvSpPr>
        <p:spPr>
          <a:xfrm>
            <a:off x="7524750" y="2152650"/>
            <a:ext cx="42672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创建集中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调用稳定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pressure-rule"/>
          <p:cNvSpPr>
            <a:spLocks noGrp="1"/>
          </p:cNvSpPr>
          <p:nvPr/>
        </p:nvSpPr>
        <p:spPr>
          <a:xfrm>
            <a:off x="7524750" y="3476625"/>
            <a:ext cx="42672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1" name="pressure-1-dot"/>
          <p:cNvSpPr>
            <a:spLocks noGrp="1"/>
          </p:cNvSpPr>
          <p:nvPr/>
        </p:nvSpPr>
        <p:spPr>
          <a:xfrm>
            <a:off x="7543800" y="37719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2" name="pressure-1-text"/>
          <p:cNvSpPr>
            <a:spLocks noGrp="1"/>
          </p:cNvSpPr>
          <p:nvPr/>
        </p:nvSpPr>
        <p:spPr>
          <a:xfrm>
            <a:off x="7772400" y="36861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业务流程只依赖 Runner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pressure-2-dot"/>
          <p:cNvSpPr>
            <a:spLocks noGrp="1"/>
          </p:cNvSpPr>
          <p:nvPr/>
        </p:nvSpPr>
        <p:spPr>
          <a:xfrm>
            <a:off x="7543800" y="40386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4" name="pressure-2-text"/>
          <p:cNvSpPr>
            <a:spLocks noGrp="1"/>
          </p:cNvSpPr>
          <p:nvPr/>
        </p:nvSpPr>
        <p:spPr>
          <a:xfrm>
            <a:off x="7772400" y="39528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工厂读取配置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pressure-3-dot"/>
          <p:cNvSpPr>
            <a:spLocks noGrp="1"/>
          </p:cNvSpPr>
          <p:nvPr/>
        </p:nvSpPr>
        <p:spPr>
          <a:xfrm>
            <a:off x="7543800" y="43053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pressure-3-text"/>
          <p:cNvSpPr>
            <a:spLocks noGrp="1"/>
          </p:cNvSpPr>
          <p:nvPr/>
        </p:nvSpPr>
        <p:spPr>
          <a:xfrm>
            <a:off x="7772400" y="42195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返回具体实现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pressure-4-dot"/>
          <p:cNvSpPr>
            <a:spLocks noGrp="1"/>
          </p:cNvSpPr>
          <p:nvPr/>
        </p:nvSpPr>
        <p:spPr>
          <a:xfrm>
            <a:off x="7543800" y="45720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8" name="pressure-4-text"/>
          <p:cNvSpPr>
            <a:spLocks noGrp="1"/>
          </p:cNvSpPr>
          <p:nvPr/>
        </p:nvSpPr>
        <p:spPr>
          <a:xfrm>
            <a:off x="7772400" y="44862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新增实现不改 run()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pressure-5-dot"/>
          <p:cNvSpPr>
            <a:spLocks noGrp="1"/>
          </p:cNvSpPr>
          <p:nvPr/>
        </p:nvSpPr>
        <p:spPr>
          <a:xfrm>
            <a:off x="7543800" y="48387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0" name="pressure-5-text"/>
          <p:cNvSpPr>
            <a:spLocks noGrp="1"/>
          </p:cNvSpPr>
          <p:nvPr/>
        </p:nvSpPr>
        <p:spPr>
          <a:xfrm>
            <a:off x="7772400" y="47529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便于集中测试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pressure-6-dot"/>
          <p:cNvSpPr>
            <a:spLocks noGrp="1"/>
          </p:cNvSpPr>
          <p:nvPr/>
        </p:nvSpPr>
        <p:spPr>
          <a:xfrm>
            <a:off x="7543800" y="51054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2" name="pressure-6-text"/>
          <p:cNvSpPr>
            <a:spLocks noGrp="1"/>
          </p:cNvSpPr>
          <p:nvPr/>
        </p:nvSpPr>
        <p:spPr>
          <a:xfrm>
            <a:off x="7772400" y="50196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代价：工厂会变大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problem-callout-background"/>
          <p:cNvSpPr>
            <a:spLocks noGrp="1"/>
          </p:cNvSpPr>
          <p:nvPr/>
        </p:nvSpPr>
        <p:spPr>
          <a:xfrm>
            <a:off x="400050" y="567690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34" name="problem-callout-rail"/>
          <p:cNvSpPr>
            <a:spLocks noGrp="1"/>
          </p:cNvSpPr>
          <p:nvPr/>
        </p:nvSpPr>
        <p:spPr>
          <a:xfrm>
            <a:off x="400050" y="567690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5" name="problem-callout-text"/>
          <p:cNvSpPr>
            <a:spLocks noGrp="1"/>
          </p:cNvSpPr>
          <p:nvPr/>
        </p:nvSpPr>
        <p:spPr>
          <a:xfrm>
            <a:off x="666750" y="581025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判断点只存在于 Factory；主流程拿到 Runner 后直接调用。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problem-page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code-block-container-5"/>
          <p:cNvSpPr>
            <a:spLocks noGrp="1"/>
          </p:cNvSpPr>
          <p:nvPr/>
        </p:nvSpPr>
        <p:spPr>
          <a:xfrm>
            <a:off x="400050" y="1676400"/>
            <a:ext cx="6610350" cy="3638550"/>
          </a:xfrm>
          <a:prstGeom prst="roundRect">
            <a:avLst>
              <a:gd name="adj" fmla="val 2618"/>
            </a:avLst>
          </a:prstGeom>
          <a:solidFill>
            <a:srgbClr val="FCFC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code-block-header-5"/>
          <p:cNvSpPr>
            <a:spLocks noGrp="1"/>
          </p:cNvSpPr>
          <p:nvPr/>
        </p:nvSpPr>
        <p:spPr>
          <a:xfrm>
            <a:off x="400050" y="1676400"/>
            <a:ext cx="6610350" cy="304800"/>
          </a:xfrm>
          <a:prstGeom prst="rect">
            <a:avLst/>
          </a:prstGeom>
          <a:noFill/>
        </p:spPr>
        <p:txBody>
          <a:bodyPr wrap="none" lIns="190500" tIns="0" rIns="190500" bIns="0" anchor="ctr"/>
          <a:lstStyle/>
          <a:p>
            <a:pPr>
              <a:buNone/>
              <a:defRPr sz="1050">
                <a:solidFill>
                  <a:srgbClr val="0D0D0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RunnerFactory.java</a:t>
            </a:r>
            <a:endParaRPr sz="112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40" name="code-block-text-5"/>
          <p:cNvSpPr>
            <a:spLocks noGrp="1"/>
          </p:cNvSpPr>
          <p:nvPr/>
        </p:nvSpPr>
        <p:spPr>
          <a:xfrm>
            <a:off x="400050" y="1981200"/>
            <a:ext cx="6610350" cy="3333750"/>
          </a:xfrm>
          <a:prstGeom prst="rect">
            <a:avLst/>
          </a:prstGeom>
          <a:noFill/>
        </p:spPr>
        <p:txBody>
          <a:bodyPr wrap="none" lIns="171450" tIns="95250" rIns="171450" bIns="95250" anchor="t">
            <a:noAutofit/>
          </a:bodyPr>
          <a:lstStyle/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interface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Runner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Result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run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()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;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final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class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RunnerFactory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static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Runner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create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(Config config)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if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(config.cloud()) {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 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return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CloudRunner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();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}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return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LocalRunner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();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}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Runner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runner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=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RunnerFactory.create(config);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section-5"/>
          <p:cNvSpPr>
            <a:spLocks noGrp="1"/>
          </p:cNvSpPr>
          <p:nvPr/>
        </p:nvSpPr>
        <p:spPr>
          <a:xfrm>
            <a:off x="400050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结构型 · ADAPTER</a:t>
            </a:r>
            <a:endParaRPr sz="142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itle-5"/>
          <p:cNvSpPr>
            <a:spLocks noGrp="1"/>
          </p:cNvSpPr>
          <p:nvPr/>
        </p:nvSpPr>
        <p:spPr>
          <a:xfrm>
            <a:off x="400050" y="5143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Adapter 让外部接口服从内部语言</a:t>
            </a:r>
            <a:endParaRPr sz="35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subtitle-5"/>
          <p:cNvSpPr>
            <a:spLocks noGrp="1"/>
          </p:cNvSpPr>
          <p:nvPr/>
        </p:nvSpPr>
        <p:spPr>
          <a:xfrm>
            <a:off x="400050" y="1171575"/>
            <a:ext cx="11391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平台只认一个接口：DatasetSource.load()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header-rule-5"/>
          <p:cNvSpPr>
            <a:spLocks noGrp="1"/>
          </p:cNvSpPr>
          <p:nvPr/>
        </p:nvSpPr>
        <p:spPr>
          <a:xfrm>
            <a:off x="400050" y="156210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5" name="page-5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125" name="adapter-line-a-0"/>
          <p:cNvCxnSpPr/>
          <p:nvPr/>
        </p:nvCxnSpPr>
        <p:spPr>
          <a:xfrm>
            <a:off x="2762250" y="2543175"/>
            <a:ext cx="1333500" cy="953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26" name="adapter-line-b-0"/>
          <p:cNvCxnSpPr/>
          <p:nvPr/>
        </p:nvCxnSpPr>
        <p:spPr>
          <a:xfrm>
            <a:off x="6191250" y="2543175"/>
            <a:ext cx="1047750" cy="953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27" name="adapter-line-a-1"/>
          <p:cNvCxnSpPr/>
          <p:nvPr/>
        </p:nvCxnSpPr>
        <p:spPr>
          <a:xfrm>
            <a:off x="2762250" y="3686175"/>
            <a:ext cx="1333500" cy="953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28" name="adapter-line-b-1"/>
          <p:cNvCxnSpPr/>
          <p:nvPr/>
        </p:nvCxnSpPr>
        <p:spPr>
          <a:xfrm>
            <a:off x="6191250" y="3686175"/>
            <a:ext cx="1047750" cy="953"/>
          </a:xfrm>
          <a:prstGeom prst="straightConnector1">
            <a:avLst/>
          </a:prstGeom>
          <a:ln w="28575">
            <a:solidFill>
              <a:srgbClr val="F97316"/>
            </a:solidFill>
            <a:prstDash val="solid"/>
          </a:ln>
        </p:spPr>
      </p:cxnSp>
      <p:cxnSp>
        <p:nvCxnSpPr>
          <p:cNvPr id="129" name="adapter-line-a-2"/>
          <p:cNvCxnSpPr/>
          <p:nvPr/>
        </p:nvCxnSpPr>
        <p:spPr>
          <a:xfrm>
            <a:off x="2762250" y="4829175"/>
            <a:ext cx="1333500" cy="953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30" name="adapter-line-b-2"/>
          <p:cNvCxnSpPr/>
          <p:nvPr/>
        </p:nvCxnSpPr>
        <p:spPr>
          <a:xfrm>
            <a:off x="6191250" y="4829175"/>
            <a:ext cx="1047750" cy="953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31" name="adapter-bus"/>
          <p:cNvCxnSpPr/>
          <p:nvPr/>
        </p:nvCxnSpPr>
        <p:spPr>
          <a:xfrm>
            <a:off x="7239000" y="2543175"/>
            <a:ext cx="953" cy="2286000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32" name="adapter-interface-line"/>
          <p:cNvCxnSpPr/>
          <p:nvPr/>
        </p:nvCxnSpPr>
        <p:spPr>
          <a:xfrm>
            <a:off x="7239000" y="3686175"/>
            <a:ext cx="619125" cy="953"/>
          </a:xfrm>
          <a:prstGeom prst="straightConnector1">
            <a:avLst/>
          </a:prstGeom>
          <a:ln w="28575">
            <a:solidFill>
              <a:srgbClr val="F97316"/>
            </a:solidFill>
            <a:prstDash val="solid"/>
          </a:ln>
        </p:spPr>
      </p:cxnSp>
      <p:sp>
        <p:nvSpPr>
          <p:cNvPr id="14" name="source-csv-box"/>
          <p:cNvSpPr>
            <a:spLocks noGrp="1"/>
          </p:cNvSpPr>
          <p:nvPr/>
        </p:nvSpPr>
        <p:spPr>
          <a:xfrm>
            <a:off x="400050" y="2143125"/>
            <a:ext cx="2362200" cy="8001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source-csv-title"/>
          <p:cNvSpPr>
            <a:spLocks noGrp="1"/>
          </p:cNvSpPr>
          <p:nvPr/>
        </p:nvSpPr>
        <p:spPr>
          <a:xfrm>
            <a:off x="609600" y="226695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CSV Reader</a:t>
            </a:r>
            <a:endParaRPr sz="19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source-csv-subtitle"/>
          <p:cNvSpPr>
            <a:spLocks noGrp="1"/>
          </p:cNvSpPr>
          <p:nvPr/>
        </p:nvSpPr>
        <p:spPr>
          <a:xfrm>
            <a:off x="609600" y="2628900"/>
            <a:ext cx="198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readRows()</a:t>
            </a:r>
            <a:endParaRPr sz="157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source-db-box"/>
          <p:cNvSpPr>
            <a:spLocks noGrp="1"/>
          </p:cNvSpPr>
          <p:nvPr/>
        </p:nvSpPr>
        <p:spPr>
          <a:xfrm>
            <a:off x="400050" y="3286125"/>
            <a:ext cx="2362200" cy="8001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source-db-title"/>
          <p:cNvSpPr>
            <a:spLocks noGrp="1"/>
          </p:cNvSpPr>
          <p:nvPr/>
        </p:nvSpPr>
        <p:spPr>
          <a:xfrm>
            <a:off x="609600" y="340995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DB Client</a:t>
            </a:r>
            <a:endParaRPr sz="19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source-db-subtitle"/>
          <p:cNvSpPr>
            <a:spLocks noGrp="1"/>
          </p:cNvSpPr>
          <p:nvPr/>
        </p:nvSpPr>
        <p:spPr>
          <a:xfrm>
            <a:off x="609600" y="3771900"/>
            <a:ext cx="198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query()</a:t>
            </a:r>
            <a:endParaRPr sz="157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source-cloud-box"/>
          <p:cNvSpPr>
            <a:spLocks noGrp="1"/>
          </p:cNvSpPr>
          <p:nvPr/>
        </p:nvSpPr>
        <p:spPr>
          <a:xfrm>
            <a:off x="400050" y="4429125"/>
            <a:ext cx="2362200" cy="8001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source-cloud-title"/>
          <p:cNvSpPr>
            <a:spLocks noGrp="1"/>
          </p:cNvSpPr>
          <p:nvPr/>
        </p:nvSpPr>
        <p:spPr>
          <a:xfrm>
            <a:off x="609600" y="455295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Cloud SDK</a:t>
            </a:r>
            <a:endParaRPr sz="19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source-cloud-subtitle"/>
          <p:cNvSpPr>
            <a:spLocks noGrp="1"/>
          </p:cNvSpPr>
          <p:nvPr/>
        </p:nvSpPr>
        <p:spPr>
          <a:xfrm>
            <a:off x="609600" y="4914900"/>
            <a:ext cx="198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download()</a:t>
            </a:r>
            <a:endParaRPr sz="157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adapter-csv-box"/>
          <p:cNvSpPr>
            <a:spLocks noGrp="1"/>
          </p:cNvSpPr>
          <p:nvPr/>
        </p:nvSpPr>
        <p:spPr>
          <a:xfrm>
            <a:off x="4095750" y="2143125"/>
            <a:ext cx="2095500" cy="800100"/>
          </a:xfrm>
          <a:prstGeom prst="rect">
            <a:avLst/>
          </a:prstGeom>
          <a:solidFill>
            <a:srgbClr val="FFF4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adapter-csv-accent"/>
          <p:cNvSpPr>
            <a:spLocks noGrp="1"/>
          </p:cNvSpPr>
          <p:nvPr/>
        </p:nvSpPr>
        <p:spPr>
          <a:xfrm>
            <a:off x="4095750" y="2143125"/>
            <a:ext cx="66675" cy="800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5" name="adapter-csv-title"/>
          <p:cNvSpPr>
            <a:spLocks noGrp="1"/>
          </p:cNvSpPr>
          <p:nvPr/>
        </p:nvSpPr>
        <p:spPr>
          <a:xfrm>
            <a:off x="4305300" y="22669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CSV Adapter</a:t>
            </a:r>
            <a:endParaRPr sz="17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adapter-csv-subtitle"/>
          <p:cNvSpPr>
            <a:spLocks noGrp="1"/>
          </p:cNvSpPr>
          <p:nvPr/>
        </p:nvSpPr>
        <p:spPr>
          <a:xfrm>
            <a:off x="4305300" y="26289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load()</a:t>
            </a:r>
            <a:endParaRPr sz="157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adapter-db-box"/>
          <p:cNvSpPr>
            <a:spLocks noGrp="1"/>
          </p:cNvSpPr>
          <p:nvPr/>
        </p:nvSpPr>
        <p:spPr>
          <a:xfrm>
            <a:off x="4095750" y="3286125"/>
            <a:ext cx="2095500" cy="800100"/>
          </a:xfrm>
          <a:prstGeom prst="rect">
            <a:avLst/>
          </a:prstGeom>
          <a:solidFill>
            <a:srgbClr val="FFF4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8" name="adapter-db-accent"/>
          <p:cNvSpPr>
            <a:spLocks noGrp="1"/>
          </p:cNvSpPr>
          <p:nvPr/>
        </p:nvSpPr>
        <p:spPr>
          <a:xfrm>
            <a:off x="4095750" y="3286125"/>
            <a:ext cx="66675" cy="800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9" name="adapter-db-title"/>
          <p:cNvSpPr>
            <a:spLocks noGrp="1"/>
          </p:cNvSpPr>
          <p:nvPr/>
        </p:nvSpPr>
        <p:spPr>
          <a:xfrm>
            <a:off x="4305300" y="34099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DB Adapter</a:t>
            </a:r>
            <a:endParaRPr sz="17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adapter-db-subtitle"/>
          <p:cNvSpPr>
            <a:spLocks noGrp="1"/>
          </p:cNvSpPr>
          <p:nvPr/>
        </p:nvSpPr>
        <p:spPr>
          <a:xfrm>
            <a:off x="4305300" y="37719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load()</a:t>
            </a:r>
            <a:endParaRPr sz="157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adapter-cloud-box"/>
          <p:cNvSpPr>
            <a:spLocks noGrp="1"/>
          </p:cNvSpPr>
          <p:nvPr/>
        </p:nvSpPr>
        <p:spPr>
          <a:xfrm>
            <a:off x="4095750" y="4429125"/>
            <a:ext cx="2095500" cy="800100"/>
          </a:xfrm>
          <a:prstGeom prst="rect">
            <a:avLst/>
          </a:prstGeom>
          <a:solidFill>
            <a:srgbClr val="FFF4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2" name="adapter-cloud-accent"/>
          <p:cNvSpPr>
            <a:spLocks noGrp="1"/>
          </p:cNvSpPr>
          <p:nvPr/>
        </p:nvSpPr>
        <p:spPr>
          <a:xfrm>
            <a:off x="4095750" y="4429125"/>
            <a:ext cx="66675" cy="8001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3" name="adapter-cloud-title"/>
          <p:cNvSpPr>
            <a:spLocks noGrp="1"/>
          </p:cNvSpPr>
          <p:nvPr/>
        </p:nvSpPr>
        <p:spPr>
          <a:xfrm>
            <a:off x="4305300" y="45529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Cloud Adapter</a:t>
            </a:r>
            <a:endParaRPr sz="16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adapter-cloud-subtitle"/>
          <p:cNvSpPr>
            <a:spLocks noGrp="1"/>
          </p:cNvSpPr>
          <p:nvPr/>
        </p:nvSpPr>
        <p:spPr>
          <a:xfrm>
            <a:off x="4305300" y="49149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load()</a:t>
            </a:r>
            <a:endParaRPr sz="157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dataset-source-box"/>
          <p:cNvSpPr>
            <a:spLocks noGrp="1"/>
          </p:cNvSpPr>
          <p:nvPr/>
        </p:nvSpPr>
        <p:spPr>
          <a:xfrm>
            <a:off x="7858125" y="2781300"/>
            <a:ext cx="3619500" cy="14287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6" name="dataset-source-title"/>
          <p:cNvSpPr>
            <a:spLocks noGrp="1"/>
          </p:cNvSpPr>
          <p:nvPr/>
        </p:nvSpPr>
        <p:spPr>
          <a:xfrm>
            <a:off x="8067675" y="2905125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DatasetSource</a:t>
            </a:r>
            <a:endParaRPr sz="25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dataset-source-subtitle"/>
          <p:cNvSpPr>
            <a:spLocks noGrp="1"/>
          </p:cNvSpPr>
          <p:nvPr/>
        </p:nvSpPr>
        <p:spPr>
          <a:xfrm>
            <a:off x="8067675" y="3267075"/>
            <a:ext cx="323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E5E7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E5E7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Dataset load()</a:t>
            </a:r>
            <a:endParaRPr sz="1575" b="0">
              <a:solidFill>
                <a:srgbClr val="E5E7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adapter-caption"/>
          <p:cNvSpPr>
            <a:spLocks noGrp="1"/>
          </p:cNvSpPr>
          <p:nvPr/>
        </p:nvSpPr>
        <p:spPr>
          <a:xfrm>
            <a:off x="7858125" y="436245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内部稳定接口</a:t>
            </a:r>
            <a:endParaRPr sz="18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adapter-callout-background"/>
          <p:cNvSpPr>
            <a:spLocks noGrp="1"/>
          </p:cNvSpPr>
          <p:nvPr/>
        </p:nvSpPr>
        <p:spPr>
          <a:xfrm>
            <a:off x="400050" y="565785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40" name="adapter-callout-rail"/>
          <p:cNvSpPr>
            <a:spLocks noGrp="1"/>
          </p:cNvSpPr>
          <p:nvPr/>
        </p:nvSpPr>
        <p:spPr>
          <a:xfrm>
            <a:off x="400050" y="565785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1" name="adapter-callout-text"/>
          <p:cNvSpPr>
            <a:spLocks noGrp="1"/>
          </p:cNvSpPr>
          <p:nvPr/>
        </p:nvSpPr>
        <p:spPr>
          <a:xfrm>
            <a:off x="666750" y="579120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Adapter 改变接口，让外部变化停在系统边界。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problem-title"/>
          <p:cNvSpPr>
            <a:spLocks noGrp="1"/>
          </p:cNvSpPr>
          <p:nvPr/>
        </p:nvSpPr>
        <p:spPr>
          <a:xfrm>
            <a:off x="400050" y="3238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Adapter：把 CSV Reader 翻译成统一接口</a:t>
            </a:r>
            <a:endParaRPr sz="36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problem-subtitle"/>
          <p:cNvSpPr>
            <a:spLocks noGrp="1"/>
          </p:cNvSpPr>
          <p:nvPr/>
        </p:nvSpPr>
        <p:spPr>
          <a:xfrm>
            <a:off x="400050" y="1066800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Java 代码示例：外部 readRows() 被转换为内部 load()。</a:t>
            </a:r>
            <a:endParaRPr sz="172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pressure-eyebrow"/>
          <p:cNvSpPr>
            <a:spLocks noGrp="1"/>
          </p:cNvSpPr>
          <p:nvPr/>
        </p:nvSpPr>
        <p:spPr>
          <a:xfrm>
            <a:off x="7524750" y="1771650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接口被翻译</a:t>
            </a:r>
            <a:endParaRPr sz="15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pressure-statement"/>
          <p:cNvSpPr>
            <a:spLocks noGrp="1"/>
          </p:cNvSpPr>
          <p:nvPr/>
        </p:nvSpPr>
        <p:spPr>
          <a:xfrm>
            <a:off x="7524750" y="2152650"/>
            <a:ext cx="42672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外部 API</a:t>
            </a:r>
            <a:r>
              <a:rPr sz="3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sz="32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 统一接口</a:t>
            </a:r>
            <a:endParaRPr sz="32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pressure-rule"/>
          <p:cNvSpPr>
            <a:spLocks noGrp="1"/>
          </p:cNvSpPr>
          <p:nvPr/>
        </p:nvSpPr>
        <p:spPr>
          <a:xfrm>
            <a:off x="7524750" y="3476625"/>
            <a:ext cx="42672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1" name="pressure-1-dot"/>
          <p:cNvSpPr>
            <a:spLocks noGrp="1"/>
          </p:cNvSpPr>
          <p:nvPr/>
        </p:nvSpPr>
        <p:spPr>
          <a:xfrm>
            <a:off x="7543800" y="37719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2" name="pressure-1-text"/>
          <p:cNvSpPr>
            <a:spLocks noGrp="1"/>
          </p:cNvSpPr>
          <p:nvPr/>
        </p:nvSpPr>
        <p:spPr>
          <a:xfrm>
            <a:off x="7772400" y="36861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输入是 CsvReader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pressure-2-dot"/>
          <p:cNvSpPr>
            <a:spLocks noGrp="1"/>
          </p:cNvSpPr>
          <p:nvPr/>
        </p:nvSpPr>
        <p:spPr>
          <a:xfrm>
            <a:off x="7543800" y="40386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4" name="pressure-2-text"/>
          <p:cNvSpPr>
            <a:spLocks noGrp="1"/>
          </p:cNvSpPr>
          <p:nvPr/>
        </p:nvSpPr>
        <p:spPr>
          <a:xfrm>
            <a:off x="7772400" y="39528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输出是 DatasetSource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pressure-3-dot"/>
          <p:cNvSpPr>
            <a:spLocks noGrp="1"/>
          </p:cNvSpPr>
          <p:nvPr/>
        </p:nvSpPr>
        <p:spPr>
          <a:xfrm>
            <a:off x="7543800" y="43053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pressure-3-text"/>
          <p:cNvSpPr>
            <a:spLocks noGrp="1"/>
          </p:cNvSpPr>
          <p:nvPr/>
        </p:nvSpPr>
        <p:spPr>
          <a:xfrm>
            <a:off x="7772400" y="42195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转换方法名与数据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pressure-4-dot"/>
          <p:cNvSpPr>
            <a:spLocks noGrp="1"/>
          </p:cNvSpPr>
          <p:nvPr/>
        </p:nvSpPr>
        <p:spPr>
          <a:xfrm>
            <a:off x="7543800" y="45720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8" name="pressure-4-text"/>
          <p:cNvSpPr>
            <a:spLocks noGrp="1"/>
          </p:cNvSpPr>
          <p:nvPr/>
        </p:nvSpPr>
        <p:spPr>
          <a:xfrm>
            <a:off x="7772400" y="44862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调用方只见 load()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pressure-5-dot"/>
          <p:cNvSpPr>
            <a:spLocks noGrp="1"/>
          </p:cNvSpPr>
          <p:nvPr/>
        </p:nvSpPr>
        <p:spPr>
          <a:xfrm>
            <a:off x="7543800" y="48387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0" name="pressure-5-text"/>
          <p:cNvSpPr>
            <a:spLocks noGrp="1"/>
          </p:cNvSpPr>
          <p:nvPr/>
        </p:nvSpPr>
        <p:spPr>
          <a:xfrm>
            <a:off x="7772400" y="47529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外部变化停在边界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pressure-6-dot"/>
          <p:cNvSpPr>
            <a:spLocks noGrp="1"/>
          </p:cNvSpPr>
          <p:nvPr/>
        </p:nvSpPr>
        <p:spPr>
          <a:xfrm>
            <a:off x="7543800" y="51054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2" name="pressure-6-text"/>
          <p:cNvSpPr>
            <a:spLocks noGrp="1"/>
          </p:cNvSpPr>
          <p:nvPr/>
        </p:nvSpPr>
        <p:spPr>
          <a:xfrm>
            <a:off x="7772400" y="50196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可替换其他适配器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problem-callout-background"/>
          <p:cNvSpPr>
            <a:spLocks noGrp="1"/>
          </p:cNvSpPr>
          <p:nvPr/>
        </p:nvSpPr>
        <p:spPr>
          <a:xfrm>
            <a:off x="400050" y="5676900"/>
            <a:ext cx="897509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34" name="problem-callout-rail"/>
          <p:cNvSpPr>
            <a:spLocks noGrp="1"/>
          </p:cNvSpPr>
          <p:nvPr/>
        </p:nvSpPr>
        <p:spPr>
          <a:xfrm>
            <a:off x="400050" y="567690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5" name="problem-callout-text"/>
          <p:cNvSpPr>
            <a:spLocks noGrp="1"/>
          </p:cNvSpPr>
          <p:nvPr/>
        </p:nvSpPr>
        <p:spPr>
          <a:xfrm>
            <a:off x="666750" y="581025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Adapter 把不兼容接口翻译为系统内部约定，调用方无需感知来源。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problem-page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code-block-container-7"/>
          <p:cNvSpPr>
            <a:spLocks noGrp="1"/>
          </p:cNvSpPr>
          <p:nvPr/>
        </p:nvSpPr>
        <p:spPr>
          <a:xfrm>
            <a:off x="400050" y="1676400"/>
            <a:ext cx="6610350" cy="3638550"/>
          </a:xfrm>
          <a:prstGeom prst="roundRect">
            <a:avLst>
              <a:gd name="adj" fmla="val 2618"/>
            </a:avLst>
          </a:prstGeom>
          <a:solidFill>
            <a:srgbClr val="FCFC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code-block-header-7"/>
          <p:cNvSpPr>
            <a:spLocks noGrp="1"/>
          </p:cNvSpPr>
          <p:nvPr/>
        </p:nvSpPr>
        <p:spPr>
          <a:xfrm>
            <a:off x="400050" y="1676400"/>
            <a:ext cx="6610350" cy="304800"/>
          </a:xfrm>
          <a:prstGeom prst="rect">
            <a:avLst/>
          </a:prstGeom>
          <a:noFill/>
        </p:spPr>
        <p:txBody>
          <a:bodyPr wrap="none" lIns="190500" tIns="0" rIns="190500" bIns="0" anchor="ctr"/>
          <a:lstStyle/>
          <a:p>
            <a:pPr>
              <a:buNone/>
              <a:defRPr sz="1050">
                <a:solidFill>
                  <a:srgbClr val="0D0D0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CsvAdapter.java</a:t>
            </a:r>
            <a:endParaRPr sz="112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40" name="code-block-text-7"/>
          <p:cNvSpPr>
            <a:spLocks noGrp="1"/>
          </p:cNvSpPr>
          <p:nvPr/>
        </p:nvSpPr>
        <p:spPr>
          <a:xfrm>
            <a:off x="400050" y="1981200"/>
            <a:ext cx="6610350" cy="3333750"/>
          </a:xfrm>
          <a:prstGeom prst="rect">
            <a:avLst/>
          </a:prstGeom>
          <a:noFill/>
        </p:spPr>
        <p:txBody>
          <a:bodyPr wrap="none" lIns="171450" tIns="95250" rIns="171450" bIns="95250" anchor="t">
            <a:noAutofit/>
          </a:bodyPr>
          <a:lstStyle/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interface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DatasetSource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Dataset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load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()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;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final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class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CsvAdapter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implements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DatasetSource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private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final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CsvReader reader;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CsvAdapter(CsvReader reader) {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</a:t>
            </a:r>
            <a:r>
              <a:rPr sz="1315">
                <a:solidFill>
                  <a:srgbClr val="B9480D"/>
                </a:solidFill>
                <a:latin typeface="SFMono-Regular"/>
                <a:ea typeface="SFMono-Regular"/>
                <a:cs typeface="SFMono-Regular"/>
              </a:rPr>
              <a:t>this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.reader = reader;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}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public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Dataset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load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()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return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Dataset.from(reader.readRows());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}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9408160" y="5858510"/>
            <a:ext cx="27292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微软雅黑"/>
                <a:ea typeface="微软雅黑"/>
                <a:cs typeface="微软雅黑"/>
              </a:rPr>
              <a:t>如何初始化</a:t>
            </a:r>
            <a:r>
              <a:rPr sz="1600">
                <a:latin typeface="微软雅黑"/>
                <a:ea typeface="微软雅黑"/>
                <a:cs typeface="微软雅黑"/>
              </a:rPr>
              <a:t>DatasetSource？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section-6"/>
          <p:cNvSpPr>
            <a:spLocks noGrp="1"/>
          </p:cNvSpPr>
          <p:nvPr/>
        </p:nvSpPr>
        <p:spPr>
          <a:xfrm>
            <a:off x="400050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结构型 · DECORATOR</a:t>
            </a:r>
            <a:endParaRPr sz="142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itle-6"/>
          <p:cNvSpPr>
            <a:spLocks noGrp="1"/>
          </p:cNvSpPr>
          <p:nvPr/>
        </p:nvSpPr>
        <p:spPr>
          <a:xfrm>
            <a:off x="400050" y="5143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Decorator 让能力像管道一样逐层叠加</a:t>
            </a:r>
            <a:endParaRPr sz="35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header-rule-6"/>
          <p:cNvSpPr>
            <a:spLocks noGrp="1"/>
          </p:cNvSpPr>
          <p:nvPr/>
        </p:nvSpPr>
        <p:spPr>
          <a:xfrm>
            <a:off x="400050" y="1304925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4" name="page-6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decorator-left-label"/>
          <p:cNvSpPr>
            <a:spLocks noGrp="1"/>
          </p:cNvSpPr>
          <p:nvPr/>
        </p:nvSpPr>
        <p:spPr>
          <a:xfrm>
            <a:off x="400050" y="17907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继承组合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decorator-left-sub"/>
          <p:cNvSpPr>
            <a:spLocks noGrp="1"/>
          </p:cNvSpPr>
          <p:nvPr/>
        </p:nvSpPr>
        <p:spPr>
          <a:xfrm>
            <a:off x="400050" y="22669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每增加一种能力，组合类继续增长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combo-0"/>
          <p:cNvSpPr>
            <a:spLocks noGrp="1"/>
          </p:cNvSpPr>
          <p:nvPr/>
        </p:nvSpPr>
        <p:spPr>
          <a:xfrm>
            <a:off x="666750" y="28575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defRPr>
            </a:pPr>
            <a:r>
              <a:rPr sz="1725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rPr>
              <a:t>CachedDatabaseSource</a:t>
            </a:r>
            <a:endParaRPr sz="1725" b="0">
              <a:solidFill>
                <a:srgbClr val="111111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8" name="combo-dot-0"/>
          <p:cNvSpPr>
            <a:spLocks noGrp="1"/>
          </p:cNvSpPr>
          <p:nvPr/>
        </p:nvSpPr>
        <p:spPr>
          <a:xfrm>
            <a:off x="419100" y="2971800"/>
            <a:ext cx="85725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9" name="combo-1"/>
          <p:cNvSpPr>
            <a:spLocks noGrp="1"/>
          </p:cNvSpPr>
          <p:nvPr/>
        </p:nvSpPr>
        <p:spPr>
          <a:xfrm>
            <a:off x="666750" y="33718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defRPr>
            </a:pPr>
            <a:r>
              <a:rPr sz="1725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rPr>
              <a:t>RetryableDatabaseSource</a:t>
            </a:r>
            <a:endParaRPr sz="1725" b="0">
              <a:solidFill>
                <a:srgbClr val="111111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10" name="combo-dot-1"/>
          <p:cNvSpPr>
            <a:spLocks noGrp="1"/>
          </p:cNvSpPr>
          <p:nvPr/>
        </p:nvSpPr>
        <p:spPr>
          <a:xfrm>
            <a:off x="419100" y="3486150"/>
            <a:ext cx="85725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1" name="combo-2"/>
          <p:cNvSpPr>
            <a:spLocks noGrp="1"/>
          </p:cNvSpPr>
          <p:nvPr/>
        </p:nvSpPr>
        <p:spPr>
          <a:xfrm>
            <a:off x="666750" y="38862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defRPr>
            </a:pPr>
            <a:r>
              <a:rPr sz="1725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rPr>
              <a:t>CachedRetryableSource</a:t>
            </a:r>
            <a:endParaRPr sz="1725" b="0">
              <a:solidFill>
                <a:srgbClr val="111111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12" name="combo-dot-2"/>
          <p:cNvSpPr>
            <a:spLocks noGrp="1"/>
          </p:cNvSpPr>
          <p:nvPr/>
        </p:nvSpPr>
        <p:spPr>
          <a:xfrm>
            <a:off x="419100" y="4000500"/>
            <a:ext cx="85725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3" name="combo-3"/>
          <p:cNvSpPr>
            <a:spLocks noGrp="1"/>
          </p:cNvSpPr>
          <p:nvPr/>
        </p:nvSpPr>
        <p:spPr>
          <a:xfrm>
            <a:off x="666750" y="440055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F97316"/>
                </a:solidFill>
                <a:latin typeface="SFMono-Regular"/>
                <a:ea typeface="SFMono-Regular"/>
                <a:cs typeface="SFMono-Regular"/>
              </a:defRPr>
            </a:pPr>
            <a:r>
              <a:rPr sz="1725" b="0">
                <a:solidFill>
                  <a:srgbClr val="F97316"/>
                </a:solidFill>
                <a:latin typeface="SFMono-Regular"/>
                <a:ea typeface="SFMono-Regular"/>
                <a:cs typeface="SFMono-Regular"/>
              </a:rPr>
              <a:t>LoggedCachedRetryableSource</a:t>
            </a:r>
            <a:endParaRPr sz="1725" b="0">
              <a:solidFill>
                <a:srgbClr val="F97316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14" name="combo-dot-3"/>
          <p:cNvSpPr>
            <a:spLocks noGrp="1"/>
          </p:cNvSpPr>
          <p:nvPr/>
        </p:nvSpPr>
        <p:spPr>
          <a:xfrm>
            <a:off x="419100" y="4514850"/>
            <a:ext cx="85725" cy="8572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5" name="decorator-growth"/>
          <p:cNvSpPr>
            <a:spLocks noGrp="1"/>
          </p:cNvSpPr>
          <p:nvPr/>
        </p:nvSpPr>
        <p:spPr>
          <a:xfrm>
            <a:off x="400050" y="49911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9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组合数持续增长</a:t>
            </a:r>
            <a:endParaRPr sz="195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decorator-right-label"/>
          <p:cNvSpPr>
            <a:spLocks noGrp="1"/>
          </p:cNvSpPr>
          <p:nvPr/>
        </p:nvSpPr>
        <p:spPr>
          <a:xfrm>
            <a:off x="6477000" y="17907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对象包装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decorator-right-sub"/>
          <p:cNvSpPr>
            <a:spLocks noGrp="1"/>
          </p:cNvSpPr>
          <p:nvPr/>
        </p:nvSpPr>
        <p:spPr>
          <a:xfrm>
            <a:off x="6477000" y="22669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每层只负责一种附加能力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decorator-stack-0-box"/>
          <p:cNvSpPr>
            <a:spLocks noGrp="1"/>
          </p:cNvSpPr>
          <p:nvPr/>
        </p:nvSpPr>
        <p:spPr>
          <a:xfrm>
            <a:off x="6477000" y="2781300"/>
            <a:ext cx="4933950" cy="514350"/>
          </a:xfrm>
          <a:prstGeom prst="rect">
            <a:avLst/>
          </a:prstGeom>
          <a:solidFill>
            <a:srgbClr val="FFF4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decorator-stack-0-accent"/>
          <p:cNvSpPr>
            <a:spLocks noGrp="1"/>
          </p:cNvSpPr>
          <p:nvPr/>
        </p:nvSpPr>
        <p:spPr>
          <a:xfrm>
            <a:off x="6477000" y="2781300"/>
            <a:ext cx="66675" cy="5143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0" name="decorator-stack-0-title"/>
          <p:cNvSpPr>
            <a:spLocks noGrp="1"/>
          </p:cNvSpPr>
          <p:nvPr/>
        </p:nvSpPr>
        <p:spPr>
          <a:xfrm>
            <a:off x="6686550" y="2857500"/>
            <a:ext cx="455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LoggingDecorator</a:t>
            </a:r>
            <a:endParaRPr sz="18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decorator-stack-1-box"/>
          <p:cNvSpPr>
            <a:spLocks noGrp="1"/>
          </p:cNvSpPr>
          <p:nvPr/>
        </p:nvSpPr>
        <p:spPr>
          <a:xfrm>
            <a:off x="6858000" y="3371850"/>
            <a:ext cx="4171950" cy="5143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decorator-stack-1-title"/>
          <p:cNvSpPr>
            <a:spLocks noGrp="1"/>
          </p:cNvSpPr>
          <p:nvPr/>
        </p:nvSpPr>
        <p:spPr>
          <a:xfrm>
            <a:off x="7067550" y="344805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RetryDecorator</a:t>
            </a:r>
            <a:endParaRPr sz="18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decorator-stack-2-box"/>
          <p:cNvSpPr>
            <a:spLocks noGrp="1"/>
          </p:cNvSpPr>
          <p:nvPr/>
        </p:nvSpPr>
        <p:spPr>
          <a:xfrm>
            <a:off x="7239000" y="3962400"/>
            <a:ext cx="3409950" cy="514350"/>
          </a:xfrm>
          <a:prstGeom prst="rect">
            <a:avLst/>
          </a:prstGeom>
          <a:solidFill>
            <a:srgbClr val="E8E8E8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decorator-stack-2-title"/>
          <p:cNvSpPr>
            <a:spLocks noGrp="1"/>
          </p:cNvSpPr>
          <p:nvPr/>
        </p:nvSpPr>
        <p:spPr>
          <a:xfrm>
            <a:off x="7448550" y="4038600"/>
            <a:ext cx="3028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CacheDecorator</a:t>
            </a:r>
            <a:endParaRPr sz="18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decorator-stack-3-box"/>
          <p:cNvSpPr>
            <a:spLocks noGrp="1"/>
          </p:cNvSpPr>
          <p:nvPr/>
        </p:nvSpPr>
        <p:spPr>
          <a:xfrm>
            <a:off x="7620000" y="4552950"/>
            <a:ext cx="2647950" cy="5143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6" name="decorator-stack-3-title"/>
          <p:cNvSpPr>
            <a:spLocks noGrp="1"/>
          </p:cNvSpPr>
          <p:nvPr/>
        </p:nvSpPr>
        <p:spPr>
          <a:xfrm>
            <a:off x="7829550" y="462915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DatabaseAdapter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decorator-callout-background"/>
          <p:cNvSpPr>
            <a:spLocks noGrp="1"/>
          </p:cNvSpPr>
          <p:nvPr/>
        </p:nvSpPr>
        <p:spPr>
          <a:xfrm>
            <a:off x="400050" y="565785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28" name="decorator-callout-rail"/>
          <p:cNvSpPr>
            <a:spLocks noGrp="1"/>
          </p:cNvSpPr>
          <p:nvPr/>
        </p:nvSpPr>
        <p:spPr>
          <a:xfrm>
            <a:off x="400050" y="565785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9" name="decorator-callout-text"/>
          <p:cNvSpPr>
            <a:spLocks noGrp="1"/>
          </p:cNvSpPr>
          <p:nvPr/>
        </p:nvSpPr>
        <p:spPr>
          <a:xfrm>
            <a:off x="666750" y="579120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Decorator 增加能力，但对调用方保持同一个 DatasetSource 接口。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problem-title"/>
          <p:cNvSpPr>
            <a:spLocks noGrp="1"/>
          </p:cNvSpPr>
          <p:nvPr/>
        </p:nvSpPr>
        <p:spPr>
          <a:xfrm>
            <a:off x="400050" y="3238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Decorator：用包装层叠加失败重试</a:t>
            </a:r>
            <a:endParaRPr sz="36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problem-subtitle"/>
          <p:cNvSpPr>
            <a:spLocks noGrp="1"/>
          </p:cNvSpPr>
          <p:nvPr/>
        </p:nvSpPr>
        <p:spPr>
          <a:xfrm>
            <a:off x="400050" y="1066800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Java 代码示例：包装对象仍保持 DatasetSource 接口。</a:t>
            </a:r>
            <a:endParaRPr sz="172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pressure-eyebrow"/>
          <p:cNvSpPr>
            <a:spLocks noGrp="1"/>
          </p:cNvSpPr>
          <p:nvPr/>
        </p:nvSpPr>
        <p:spPr>
          <a:xfrm>
            <a:off x="7524750" y="1771650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接口保持不变</a:t>
            </a:r>
            <a:endParaRPr sz="15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pressure-statement"/>
          <p:cNvSpPr>
            <a:spLocks noGrp="1"/>
          </p:cNvSpPr>
          <p:nvPr/>
        </p:nvSpPr>
        <p:spPr>
          <a:xfrm>
            <a:off x="7524750" y="2152650"/>
            <a:ext cx="42672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包装一层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增加一项能力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pressure-rule"/>
          <p:cNvSpPr>
            <a:spLocks noGrp="1"/>
          </p:cNvSpPr>
          <p:nvPr/>
        </p:nvSpPr>
        <p:spPr>
          <a:xfrm>
            <a:off x="7524750" y="3476625"/>
            <a:ext cx="42672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1" name="pressure-1-dot"/>
          <p:cNvSpPr>
            <a:spLocks noGrp="1"/>
          </p:cNvSpPr>
          <p:nvPr/>
        </p:nvSpPr>
        <p:spPr>
          <a:xfrm>
            <a:off x="7543800" y="37719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2" name="pressure-1-text"/>
          <p:cNvSpPr>
            <a:spLocks noGrp="1"/>
          </p:cNvSpPr>
          <p:nvPr/>
        </p:nvSpPr>
        <p:spPr>
          <a:xfrm>
            <a:off x="7772400" y="36861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输入是 DatasetSource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pressure-2-dot"/>
          <p:cNvSpPr>
            <a:spLocks noGrp="1"/>
          </p:cNvSpPr>
          <p:nvPr/>
        </p:nvSpPr>
        <p:spPr>
          <a:xfrm>
            <a:off x="7543800" y="40386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4" name="pressure-2-text"/>
          <p:cNvSpPr>
            <a:spLocks noGrp="1"/>
          </p:cNvSpPr>
          <p:nvPr/>
        </p:nvSpPr>
        <p:spPr>
          <a:xfrm>
            <a:off x="7772400" y="39528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输出仍是同一接口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pressure-3-dot"/>
          <p:cNvSpPr>
            <a:spLocks noGrp="1"/>
          </p:cNvSpPr>
          <p:nvPr/>
        </p:nvSpPr>
        <p:spPr>
          <a:xfrm>
            <a:off x="7543800" y="43053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pressure-3-text"/>
          <p:cNvSpPr>
            <a:spLocks noGrp="1"/>
          </p:cNvSpPr>
          <p:nvPr/>
        </p:nvSpPr>
        <p:spPr>
          <a:xfrm>
            <a:off x="7772400" y="42195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重试职责独立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pressure-4-dot"/>
          <p:cNvSpPr>
            <a:spLocks noGrp="1"/>
          </p:cNvSpPr>
          <p:nvPr/>
        </p:nvSpPr>
        <p:spPr>
          <a:xfrm>
            <a:off x="7543800" y="45720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8" name="pressure-4-text"/>
          <p:cNvSpPr>
            <a:spLocks noGrp="1"/>
          </p:cNvSpPr>
          <p:nvPr/>
        </p:nvSpPr>
        <p:spPr>
          <a:xfrm>
            <a:off x="7772400" y="44862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可继续包装缓存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pressure-5-dot"/>
          <p:cNvSpPr>
            <a:spLocks noGrp="1"/>
          </p:cNvSpPr>
          <p:nvPr/>
        </p:nvSpPr>
        <p:spPr>
          <a:xfrm>
            <a:off x="7543800" y="48387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0" name="pressure-5-text"/>
          <p:cNvSpPr>
            <a:spLocks noGrp="1"/>
          </p:cNvSpPr>
          <p:nvPr/>
        </p:nvSpPr>
        <p:spPr>
          <a:xfrm>
            <a:off x="7772400" y="47529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调用方式不变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pressure-6-dot"/>
          <p:cNvSpPr>
            <a:spLocks noGrp="1"/>
          </p:cNvSpPr>
          <p:nvPr/>
        </p:nvSpPr>
        <p:spPr>
          <a:xfrm>
            <a:off x="7543800" y="51054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2" name="pressure-6-text"/>
          <p:cNvSpPr>
            <a:spLocks noGrp="1"/>
          </p:cNvSpPr>
          <p:nvPr/>
        </p:nvSpPr>
        <p:spPr>
          <a:xfrm>
            <a:off x="7772400" y="50196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注意包装顺序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problem-callout-background"/>
          <p:cNvSpPr>
            <a:spLocks noGrp="1"/>
          </p:cNvSpPr>
          <p:nvPr/>
        </p:nvSpPr>
        <p:spPr>
          <a:xfrm>
            <a:off x="400050" y="567690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34" name="problem-callout-rail"/>
          <p:cNvSpPr>
            <a:spLocks noGrp="1"/>
          </p:cNvSpPr>
          <p:nvPr/>
        </p:nvSpPr>
        <p:spPr>
          <a:xfrm>
            <a:off x="400050" y="567690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5" name="problem-callout-text"/>
          <p:cNvSpPr>
            <a:spLocks noGrp="1"/>
          </p:cNvSpPr>
          <p:nvPr/>
        </p:nvSpPr>
        <p:spPr>
          <a:xfrm>
            <a:off x="666750" y="581025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RetrySource 只负责重试；真实数据读取仍委托给被包装对象。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problem-page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code-block-container-9"/>
          <p:cNvSpPr>
            <a:spLocks noGrp="1"/>
          </p:cNvSpPr>
          <p:nvPr/>
        </p:nvSpPr>
        <p:spPr>
          <a:xfrm>
            <a:off x="400050" y="1676400"/>
            <a:ext cx="6610350" cy="3638550"/>
          </a:xfrm>
          <a:prstGeom prst="roundRect">
            <a:avLst>
              <a:gd name="adj" fmla="val 2618"/>
            </a:avLst>
          </a:prstGeom>
          <a:solidFill>
            <a:srgbClr val="FCFC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code-block-header-9"/>
          <p:cNvSpPr>
            <a:spLocks noGrp="1"/>
          </p:cNvSpPr>
          <p:nvPr/>
        </p:nvSpPr>
        <p:spPr>
          <a:xfrm>
            <a:off x="400050" y="1676400"/>
            <a:ext cx="6610350" cy="304800"/>
          </a:xfrm>
          <a:prstGeom prst="rect">
            <a:avLst/>
          </a:prstGeom>
          <a:noFill/>
        </p:spPr>
        <p:txBody>
          <a:bodyPr wrap="none" lIns="190500" tIns="0" rIns="190500" bIns="0" anchor="ctr"/>
          <a:lstStyle/>
          <a:p>
            <a:pPr>
              <a:buNone/>
              <a:defRPr sz="1050">
                <a:solidFill>
                  <a:srgbClr val="0D0D0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RetrySource.java</a:t>
            </a:r>
            <a:endParaRPr sz="112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40" name="code-block-text-9"/>
          <p:cNvSpPr>
            <a:spLocks noGrp="1"/>
          </p:cNvSpPr>
          <p:nvPr/>
        </p:nvSpPr>
        <p:spPr>
          <a:xfrm>
            <a:off x="400050" y="1981200"/>
            <a:ext cx="6610350" cy="3333750"/>
          </a:xfrm>
          <a:prstGeom prst="rect">
            <a:avLst/>
          </a:prstGeom>
          <a:noFill/>
        </p:spPr>
        <p:txBody>
          <a:bodyPr wrap="none" lIns="171450" tIns="95250" rIns="171450" bIns="95250" anchor="t">
            <a:noAutofit/>
          </a:bodyPr>
          <a:lstStyle/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final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class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RetrySource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implements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DatasetSource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private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final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DatasetSource next;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RetrySource(DatasetSource next) {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</a:t>
            </a:r>
            <a:r>
              <a:rPr sz="1240">
                <a:solidFill>
                  <a:srgbClr val="B9480D"/>
                </a:solidFill>
                <a:latin typeface="SFMono-Regular"/>
                <a:ea typeface="SFMono-Regular"/>
                <a:cs typeface="SFMono-Regular"/>
              </a:rPr>
              <a:t>this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.next = next;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public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Dataset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load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()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for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(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int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attempt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=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B9480D"/>
                </a:solidFill>
                <a:latin typeface="SFMono-Regular"/>
                <a:ea typeface="SFMono-Regular"/>
                <a:cs typeface="SFMono-Regular"/>
              </a:rPr>
              <a:t>1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; attempt &lt;= </a:t>
            </a:r>
            <a:r>
              <a:rPr sz="1240">
                <a:solidFill>
                  <a:srgbClr val="B9480D"/>
                </a:solidFill>
                <a:latin typeface="SFMono-Regular"/>
                <a:ea typeface="SFMono-Regular"/>
                <a:cs typeface="SFMono-Regular"/>
              </a:rPr>
              <a:t>3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; attempt++) {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try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  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return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next.load();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  }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catch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(IOException ignored) { 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throw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LoadFailed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section-7"/>
          <p:cNvSpPr>
            <a:spLocks noGrp="1"/>
          </p:cNvSpPr>
          <p:nvPr/>
        </p:nvSpPr>
        <p:spPr>
          <a:xfrm>
            <a:off x="400050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结构型 · 对比</a:t>
            </a:r>
            <a:endParaRPr sz="142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itle-7"/>
          <p:cNvSpPr>
            <a:spLocks noGrp="1"/>
          </p:cNvSpPr>
          <p:nvPr/>
        </p:nvSpPr>
        <p:spPr>
          <a:xfrm>
            <a:off x="400050" y="5143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Adapter 与 Decorator 的结构相似，意图不同</a:t>
            </a:r>
            <a:endParaRPr sz="35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header-rule-7"/>
          <p:cNvSpPr>
            <a:spLocks noGrp="1"/>
          </p:cNvSpPr>
          <p:nvPr/>
        </p:nvSpPr>
        <p:spPr>
          <a:xfrm>
            <a:off x="400050" y="1304925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4" name="page-7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adapter-compare-panel"/>
          <p:cNvSpPr>
            <a:spLocks noGrp="1"/>
          </p:cNvSpPr>
          <p:nvPr/>
        </p:nvSpPr>
        <p:spPr>
          <a:xfrm>
            <a:off x="400050" y="1809750"/>
            <a:ext cx="5381625" cy="32385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6" name="decorator-compare-panel"/>
          <p:cNvSpPr>
            <a:spLocks noGrp="1"/>
          </p:cNvSpPr>
          <p:nvPr/>
        </p:nvSpPr>
        <p:spPr>
          <a:xfrm>
            <a:off x="6010275" y="1809750"/>
            <a:ext cx="5781675" cy="32385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7" name="adapter-compare-rail"/>
          <p:cNvSpPr>
            <a:spLocks noGrp="1"/>
          </p:cNvSpPr>
          <p:nvPr/>
        </p:nvSpPr>
        <p:spPr>
          <a:xfrm>
            <a:off x="400050" y="1809750"/>
            <a:ext cx="66675" cy="32385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8" name="adapter-compare-title"/>
          <p:cNvSpPr>
            <a:spLocks noGrp="1"/>
          </p:cNvSpPr>
          <p:nvPr/>
        </p:nvSpPr>
        <p:spPr>
          <a:xfrm>
            <a:off x="723900" y="20955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Adapter</a:t>
            </a:r>
            <a:endParaRPr sz="25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adapter-compare-problem"/>
          <p:cNvSpPr>
            <a:spLocks noGrp="1"/>
          </p:cNvSpPr>
          <p:nvPr/>
        </p:nvSpPr>
        <p:spPr>
          <a:xfrm>
            <a:off x="723900" y="2876550"/>
            <a:ext cx="457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外部接口  ≠  内部接口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adapter-compare-action"/>
          <p:cNvSpPr>
            <a:spLocks noGrp="1"/>
          </p:cNvSpPr>
          <p:nvPr/>
        </p:nvSpPr>
        <p:spPr>
          <a:xfrm>
            <a:off x="723900" y="36385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关键动作：转换</a:t>
            </a:r>
            <a:endParaRPr sz="187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adapter-compare-stable"/>
          <p:cNvSpPr>
            <a:spLocks noGrp="1"/>
          </p:cNvSpPr>
          <p:nvPr/>
        </p:nvSpPr>
        <p:spPr>
          <a:xfrm>
            <a:off x="723900" y="4238625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保护系统边界</a:t>
            </a:r>
            <a:endParaRPr sz="172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decorator-compare-rail"/>
          <p:cNvSpPr>
            <a:spLocks noGrp="1"/>
          </p:cNvSpPr>
          <p:nvPr/>
        </p:nvSpPr>
        <p:spPr>
          <a:xfrm>
            <a:off x="6010275" y="1809750"/>
            <a:ext cx="66675" cy="32385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3" name="decorator-compare-title"/>
          <p:cNvSpPr>
            <a:spLocks noGrp="1"/>
          </p:cNvSpPr>
          <p:nvPr/>
        </p:nvSpPr>
        <p:spPr>
          <a:xfrm>
            <a:off x="6343650" y="20955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Decorator</a:t>
            </a:r>
            <a:endParaRPr sz="25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decorator-compare-problem"/>
          <p:cNvSpPr>
            <a:spLocks noGrp="1"/>
          </p:cNvSpPr>
          <p:nvPr/>
        </p:nvSpPr>
        <p:spPr>
          <a:xfrm>
            <a:off x="6343650" y="28765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已有接口  +  新能力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decorator-compare-action"/>
          <p:cNvSpPr>
            <a:spLocks noGrp="1"/>
          </p:cNvSpPr>
          <p:nvPr/>
        </p:nvSpPr>
        <p:spPr>
          <a:xfrm>
            <a:off x="6343650" y="363855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关键动作：包装</a:t>
            </a:r>
            <a:endParaRPr sz="187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decorator-compare-stable"/>
          <p:cNvSpPr>
            <a:spLocks noGrp="1"/>
          </p:cNvSpPr>
          <p:nvPr/>
        </p:nvSpPr>
        <p:spPr>
          <a:xfrm>
            <a:off x="6343650" y="4238625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保护调用关系</a:t>
            </a:r>
            <a:endParaRPr sz="172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structure-compare-callout-background"/>
          <p:cNvSpPr>
            <a:spLocks noGrp="1"/>
          </p:cNvSpPr>
          <p:nvPr/>
        </p:nvSpPr>
        <p:spPr>
          <a:xfrm>
            <a:off x="400050" y="565785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18" name="structure-compare-callout-rail"/>
          <p:cNvSpPr>
            <a:spLocks noGrp="1"/>
          </p:cNvSpPr>
          <p:nvPr/>
        </p:nvSpPr>
        <p:spPr>
          <a:xfrm>
            <a:off x="400050" y="565785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9" name="structure-compare-callout-text"/>
          <p:cNvSpPr>
            <a:spLocks noGrp="1"/>
          </p:cNvSpPr>
          <p:nvPr/>
        </p:nvSpPr>
        <p:spPr>
          <a:xfrm>
            <a:off x="666750" y="579120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判断模式不能只看类图，要问：它在保护哪一种变化？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problem-title"/>
          <p:cNvSpPr>
            <a:spLocks noGrp="1"/>
          </p:cNvSpPr>
          <p:nvPr/>
        </p:nvSpPr>
        <p:spPr>
          <a:xfrm>
            <a:off x="400050" y="3238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Adapter 与 Decorator：看类型是否发生变化</a:t>
            </a:r>
            <a:endParaRPr sz="36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problem-subtitle"/>
          <p:cNvSpPr>
            <a:spLocks noGrp="1"/>
          </p:cNvSpPr>
          <p:nvPr/>
        </p:nvSpPr>
        <p:spPr>
          <a:xfrm>
            <a:off x="400050" y="1066800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Java 代码示例：先适配外部对象，再用装饰器叠加能力。</a:t>
            </a:r>
            <a:endParaRPr sz="172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pressure-eyebrow"/>
          <p:cNvSpPr>
            <a:spLocks noGrp="1"/>
          </p:cNvSpPr>
          <p:nvPr/>
        </p:nvSpPr>
        <p:spPr>
          <a:xfrm>
            <a:off x="7524750" y="1771650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同样是包装</a:t>
            </a:r>
            <a:endParaRPr sz="15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pressure-statement"/>
          <p:cNvSpPr>
            <a:spLocks noGrp="1"/>
          </p:cNvSpPr>
          <p:nvPr/>
        </p:nvSpPr>
        <p:spPr>
          <a:xfrm>
            <a:off x="7524750" y="2152650"/>
            <a:ext cx="42672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关键差异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在输入与输出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pressure-rule"/>
          <p:cNvSpPr>
            <a:spLocks noGrp="1"/>
          </p:cNvSpPr>
          <p:nvPr/>
        </p:nvSpPr>
        <p:spPr>
          <a:xfrm>
            <a:off x="7524750" y="3476625"/>
            <a:ext cx="42672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1" name="pressure-1-dot"/>
          <p:cNvSpPr>
            <a:spLocks noGrp="1"/>
          </p:cNvSpPr>
          <p:nvPr/>
        </p:nvSpPr>
        <p:spPr>
          <a:xfrm>
            <a:off x="7543800" y="37719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2" name="pressure-1-text"/>
          <p:cNvSpPr>
            <a:spLocks noGrp="1"/>
          </p:cNvSpPr>
          <p:nvPr/>
        </p:nvSpPr>
        <p:spPr>
          <a:xfrm>
            <a:off x="7772400" y="36861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Adapter 输入外部类型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pressure-2-dot"/>
          <p:cNvSpPr>
            <a:spLocks noGrp="1"/>
          </p:cNvSpPr>
          <p:nvPr/>
        </p:nvSpPr>
        <p:spPr>
          <a:xfrm>
            <a:off x="7543800" y="40386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4" name="pressure-2-text"/>
          <p:cNvSpPr>
            <a:spLocks noGrp="1"/>
          </p:cNvSpPr>
          <p:nvPr/>
        </p:nvSpPr>
        <p:spPr>
          <a:xfrm>
            <a:off x="7772400" y="39528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Adapter 输出内部接口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pressure-3-dot"/>
          <p:cNvSpPr>
            <a:spLocks noGrp="1"/>
          </p:cNvSpPr>
          <p:nvPr/>
        </p:nvSpPr>
        <p:spPr>
          <a:xfrm>
            <a:off x="7543800" y="43053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pressure-3-text"/>
          <p:cNvSpPr>
            <a:spLocks noGrp="1"/>
          </p:cNvSpPr>
          <p:nvPr/>
        </p:nvSpPr>
        <p:spPr>
          <a:xfrm>
            <a:off x="7772400" y="42195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Decorator 输入内部接口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pressure-4-dot"/>
          <p:cNvSpPr>
            <a:spLocks noGrp="1"/>
          </p:cNvSpPr>
          <p:nvPr/>
        </p:nvSpPr>
        <p:spPr>
          <a:xfrm>
            <a:off x="7543800" y="45720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8" name="pressure-4-text"/>
          <p:cNvSpPr>
            <a:spLocks noGrp="1"/>
          </p:cNvSpPr>
          <p:nvPr/>
        </p:nvSpPr>
        <p:spPr>
          <a:xfrm>
            <a:off x="7772400" y="44862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Decorator 输出同一接口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pressure-5-dot"/>
          <p:cNvSpPr>
            <a:spLocks noGrp="1"/>
          </p:cNvSpPr>
          <p:nvPr/>
        </p:nvSpPr>
        <p:spPr>
          <a:xfrm>
            <a:off x="7543800" y="48387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0" name="pressure-5-text"/>
          <p:cNvSpPr>
            <a:spLocks noGrp="1"/>
          </p:cNvSpPr>
          <p:nvPr/>
        </p:nvSpPr>
        <p:spPr>
          <a:xfrm>
            <a:off x="7772400" y="47529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前者保护系统边界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pressure-6-dot"/>
          <p:cNvSpPr>
            <a:spLocks noGrp="1"/>
          </p:cNvSpPr>
          <p:nvPr/>
        </p:nvSpPr>
        <p:spPr>
          <a:xfrm>
            <a:off x="7543800" y="51054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2" name="pressure-6-text"/>
          <p:cNvSpPr>
            <a:spLocks noGrp="1"/>
          </p:cNvSpPr>
          <p:nvPr/>
        </p:nvSpPr>
        <p:spPr>
          <a:xfrm>
            <a:off x="7772400" y="50196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后者保护调用关系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problem-callout-background"/>
          <p:cNvSpPr>
            <a:spLocks noGrp="1"/>
          </p:cNvSpPr>
          <p:nvPr/>
        </p:nvSpPr>
        <p:spPr>
          <a:xfrm>
            <a:off x="400050" y="567690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34" name="problem-callout-rail"/>
          <p:cNvSpPr>
            <a:spLocks noGrp="1"/>
          </p:cNvSpPr>
          <p:nvPr/>
        </p:nvSpPr>
        <p:spPr>
          <a:xfrm>
            <a:off x="400050" y="567690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5" name="problem-callout-text"/>
          <p:cNvSpPr>
            <a:spLocks noGrp="1"/>
          </p:cNvSpPr>
          <p:nvPr/>
        </p:nvSpPr>
        <p:spPr>
          <a:xfrm>
            <a:off x="666750" y="581025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看类型变化：Adapter 改接口，Decorator 保持接口并叠加能力。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problem-page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code-block-container-11"/>
          <p:cNvSpPr>
            <a:spLocks noGrp="1"/>
          </p:cNvSpPr>
          <p:nvPr/>
        </p:nvSpPr>
        <p:spPr>
          <a:xfrm>
            <a:off x="400050" y="1676400"/>
            <a:ext cx="6610350" cy="3638550"/>
          </a:xfrm>
          <a:prstGeom prst="roundRect">
            <a:avLst>
              <a:gd name="adj" fmla="val 2618"/>
            </a:avLst>
          </a:prstGeom>
          <a:solidFill>
            <a:srgbClr val="FCFC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code-block-header-11"/>
          <p:cNvSpPr>
            <a:spLocks noGrp="1"/>
          </p:cNvSpPr>
          <p:nvPr/>
        </p:nvSpPr>
        <p:spPr>
          <a:xfrm>
            <a:off x="400050" y="1676400"/>
            <a:ext cx="6610350" cy="304800"/>
          </a:xfrm>
          <a:prstGeom prst="rect">
            <a:avLst/>
          </a:prstGeom>
          <a:noFill/>
        </p:spPr>
        <p:txBody>
          <a:bodyPr wrap="none" lIns="190500" tIns="0" rIns="190500" bIns="0" anchor="ctr"/>
          <a:lstStyle/>
          <a:p>
            <a:pPr>
              <a:buNone/>
              <a:defRPr sz="1050">
                <a:solidFill>
                  <a:srgbClr val="0D0D0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DatasetPipeline.java</a:t>
            </a:r>
            <a:endParaRPr sz="112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40" name="code-block-text-11"/>
          <p:cNvSpPr>
            <a:spLocks noGrp="1"/>
          </p:cNvSpPr>
          <p:nvPr/>
        </p:nvSpPr>
        <p:spPr>
          <a:xfrm>
            <a:off x="400050" y="1981200"/>
            <a:ext cx="6610350" cy="3333750"/>
          </a:xfrm>
          <a:prstGeom prst="rect">
            <a:avLst/>
          </a:prstGeom>
          <a:noFill/>
        </p:spPr>
        <p:txBody>
          <a:bodyPr wrap="none" lIns="171450" tIns="95250" rIns="171450" bIns="95250" anchor="t">
            <a:noAutofit/>
          </a:bodyPr>
          <a:lstStyle/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DatasetSource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source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=</a:t>
            </a:r>
            <a:endParaRPr sz="1315">
              <a:solidFill>
                <a:srgbClr val="BA437A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CsvAdapter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(csvReader);       </a:t>
            </a:r>
            <a:r>
              <a:rPr sz="1315" i="1">
                <a:solidFill>
                  <a:srgbClr val="4F4F4F"/>
                </a:solidFill>
                <a:latin typeface="SFMono-Regular"/>
                <a:ea typeface="SFMono-Regular"/>
                <a:cs typeface="SFMono-Regular"/>
              </a:rPr>
              <a:t>// Adapter</a:t>
            </a:r>
            <a:endParaRPr sz="1315" i="1">
              <a:solidFill>
                <a:srgbClr val="4F4F4F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DatasetSource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reliable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=</a:t>
            </a:r>
            <a:endParaRPr sz="1315">
              <a:solidFill>
                <a:srgbClr val="BA437A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RetrySource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(source);         </a:t>
            </a:r>
            <a:r>
              <a:rPr sz="1315" i="1">
                <a:solidFill>
                  <a:srgbClr val="4F4F4F"/>
                </a:solidFill>
                <a:latin typeface="SFMono-Regular"/>
                <a:ea typeface="SFMono-Regular"/>
                <a:cs typeface="SFMono-Regular"/>
              </a:rPr>
              <a:t>// Decorator</a:t>
            </a:r>
            <a:endParaRPr sz="1315" i="1">
              <a:solidFill>
                <a:srgbClr val="4F4F4F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DatasetSource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observable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=</a:t>
            </a:r>
            <a:endParaRPr sz="1315">
              <a:solidFill>
                <a:srgbClr val="BA437A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LoggingSource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(reliable);     </a:t>
            </a:r>
            <a:r>
              <a:rPr sz="1315" i="1">
                <a:solidFill>
                  <a:srgbClr val="4F4F4F"/>
                </a:solidFill>
                <a:latin typeface="SFMono-Regular"/>
                <a:ea typeface="SFMono-Regular"/>
                <a:cs typeface="SFMono-Regular"/>
              </a:rPr>
              <a:t>// Decorator</a:t>
            </a:r>
            <a:endParaRPr sz="1315" i="1">
              <a:solidFill>
                <a:srgbClr val="4F4F4F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Dataset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data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315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=</a:t>
            </a:r>
            <a:r>
              <a:rPr sz="131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observable.load();</a:t>
            </a:r>
            <a:endParaRPr sz="131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 i="1">
                <a:solidFill>
                  <a:srgbClr val="4F4F4F"/>
                </a:solidFill>
                <a:latin typeface="SFMono-Regular"/>
                <a:ea typeface="SFMono-Regular"/>
                <a:cs typeface="SFMono-Regular"/>
              </a:rPr>
              <a:t>// Adapter:   CsvReader -&gt; DatasetSource</a:t>
            </a:r>
            <a:endParaRPr sz="1315" i="1">
              <a:solidFill>
                <a:srgbClr val="4F4F4F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315" i="1">
                <a:solidFill>
                  <a:srgbClr val="4F4F4F"/>
                </a:solidFill>
                <a:latin typeface="SFMono-Regular"/>
                <a:ea typeface="SFMono-Regular"/>
                <a:cs typeface="SFMono-Regular"/>
              </a:rPr>
              <a:t>// Decorator: DatasetSource -&gt; DatasetSource</a:t>
            </a:r>
            <a:endParaRPr sz="1315" i="1">
              <a:solidFill>
                <a:srgbClr val="4F4F4F"/>
              </a:solidFill>
              <a:latin typeface="SFMono-Regular"/>
              <a:ea typeface="SFMono-Regular"/>
              <a:cs typeface="SFMono-Regula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section-8"/>
          <p:cNvSpPr>
            <a:spLocks noGrp="1"/>
          </p:cNvSpPr>
          <p:nvPr/>
        </p:nvSpPr>
        <p:spPr>
          <a:xfrm>
            <a:off x="400050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行为型 · STRATEGY</a:t>
            </a:r>
            <a:endParaRPr sz="142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itle-8"/>
          <p:cNvSpPr>
            <a:spLocks noGrp="1"/>
          </p:cNvSpPr>
          <p:nvPr/>
        </p:nvSpPr>
        <p:spPr>
          <a:xfrm>
            <a:off x="400050" y="5143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Strategy 把算法变化变成一个可替换的插槽</a:t>
            </a:r>
            <a:endParaRPr sz="35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header-rule-8"/>
          <p:cNvSpPr>
            <a:spLocks noGrp="1"/>
          </p:cNvSpPr>
          <p:nvPr/>
        </p:nvSpPr>
        <p:spPr>
          <a:xfrm>
            <a:off x="400050" y="1304925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4" name="page-8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strategy-code-panel"/>
          <p:cNvSpPr>
            <a:spLocks noGrp="1"/>
          </p:cNvSpPr>
          <p:nvPr/>
        </p:nvSpPr>
        <p:spPr>
          <a:xfrm>
            <a:off x="400050" y="1790700"/>
            <a:ext cx="4953000" cy="31432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strategy-code-rail"/>
          <p:cNvSpPr>
            <a:spLocks noGrp="1"/>
          </p:cNvSpPr>
          <p:nvPr/>
        </p:nvSpPr>
        <p:spPr>
          <a:xfrm>
            <a:off x="400050" y="1790700"/>
            <a:ext cx="66675" cy="31432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7" name="strategy-code-label"/>
          <p:cNvSpPr>
            <a:spLocks noGrp="1"/>
          </p:cNvSpPr>
          <p:nvPr/>
        </p:nvSpPr>
        <p:spPr>
          <a:xfrm>
            <a:off x="647700" y="1943100"/>
            <a:ext cx="4457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6B7280"/>
                </a:solidFill>
                <a:latin typeface="SFMono-Regular"/>
                <a:ea typeface="SFMono-Regular"/>
                <a:cs typeface="SFMono-Regular"/>
              </a:defRPr>
            </a:pPr>
            <a:r>
              <a:rPr sz="1275" b="0">
                <a:solidFill>
                  <a:srgbClr val="6B7280"/>
                </a:solidFill>
                <a:latin typeface="SFMono-Regular"/>
                <a:ea typeface="SFMono-Regular"/>
                <a:cs typeface="SFMono-Regular"/>
              </a:rPr>
              <a:t>稳定的算法接口</a:t>
            </a:r>
            <a:endParaRPr sz="1275" b="0">
              <a:solidFill>
                <a:srgbClr val="6B7280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8" name="strategy-code-line-1"/>
          <p:cNvSpPr>
            <a:spLocks noGrp="1"/>
          </p:cNvSpPr>
          <p:nvPr/>
        </p:nvSpPr>
        <p:spPr>
          <a:xfrm>
            <a:off x="666750" y="23050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11111"/>
                </a:solidFill>
                <a:latin typeface="SFMono-Regular"/>
                <a:ea typeface="SFMono-Regular"/>
                <a:cs typeface="SFMono-Regular"/>
              </a:defRPr>
            </a:pPr>
            <a:r>
              <a:rPr sz="1650" b="1">
                <a:solidFill>
                  <a:srgbClr val="111111"/>
                </a:solidFill>
                <a:latin typeface="SFMono-Regular"/>
                <a:ea typeface="SFMono-Regular"/>
                <a:cs typeface="SFMono-Regular"/>
              </a:rPr>
              <a:t>interface TrainingStrategy {</a:t>
            </a:r>
            <a:endParaRPr sz="1650" b="1">
              <a:solidFill>
                <a:srgbClr val="111111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9" name="strategy-code-line-2"/>
          <p:cNvSpPr>
            <a:spLocks noGrp="1"/>
          </p:cNvSpPr>
          <p:nvPr/>
        </p:nvSpPr>
        <p:spPr>
          <a:xfrm>
            <a:off x="666750" y="26289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defRPr>
            </a:pPr>
            <a:r>
              <a:rPr sz="1650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rPr>
              <a:t>  Result train(</a:t>
            </a:r>
            <a:endParaRPr sz="1650" b="0">
              <a:solidFill>
                <a:srgbClr val="111111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10" name="strategy-code-line-3"/>
          <p:cNvSpPr>
            <a:spLocks noGrp="1"/>
          </p:cNvSpPr>
          <p:nvPr/>
        </p:nvSpPr>
        <p:spPr>
          <a:xfrm>
            <a:off x="666750" y="29527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F97316"/>
                </a:solidFill>
                <a:latin typeface="SFMono-Regular"/>
                <a:ea typeface="SFMono-Regular"/>
                <a:cs typeface="SFMono-Regular"/>
              </a:defRPr>
            </a:pPr>
            <a:r>
              <a:rPr sz="1650" b="0">
                <a:solidFill>
                  <a:srgbClr val="F97316"/>
                </a:solidFill>
                <a:latin typeface="SFMono-Regular"/>
                <a:ea typeface="SFMono-Regular"/>
                <a:cs typeface="SFMono-Regular"/>
              </a:rPr>
              <a:t>      Dataset dataset);</a:t>
            </a:r>
            <a:endParaRPr sz="1650" b="0">
              <a:solidFill>
                <a:srgbClr val="F97316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11" name="strategy-code-line-4"/>
          <p:cNvSpPr>
            <a:spLocks noGrp="1"/>
          </p:cNvSpPr>
          <p:nvPr/>
        </p:nvSpPr>
        <p:spPr>
          <a:xfrm>
            <a:off x="666750" y="32766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111111"/>
                </a:solidFill>
                <a:latin typeface="SFMono-Regular"/>
                <a:ea typeface="SFMono-Regular"/>
                <a:cs typeface="SFMono-Regular"/>
              </a:defRPr>
            </a:pPr>
            <a:r>
              <a:rPr sz="1650" b="1">
                <a:solidFill>
                  <a:srgbClr val="111111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650" b="1">
              <a:solidFill>
                <a:srgbClr val="111111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12" name="strategy-code-line-5"/>
          <p:cNvSpPr>
            <a:spLocks noGrp="1"/>
          </p:cNvSpPr>
          <p:nvPr/>
        </p:nvSpPr>
        <p:spPr>
          <a:xfrm>
            <a:off x="666750" y="36004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/>
        </p:txBody>
      </p:sp>
      <p:sp>
        <p:nvSpPr>
          <p:cNvPr id="13" name="strategy-code-line-6"/>
          <p:cNvSpPr>
            <a:spLocks noGrp="1"/>
          </p:cNvSpPr>
          <p:nvPr/>
        </p:nvSpPr>
        <p:spPr>
          <a:xfrm>
            <a:off x="666750" y="39243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F97316"/>
                </a:solidFill>
                <a:latin typeface="SFMono-Regular"/>
                <a:ea typeface="SFMono-Regular"/>
                <a:cs typeface="SFMono-Regular"/>
              </a:defRPr>
            </a:pPr>
            <a:r>
              <a:rPr sz="1650" b="1">
                <a:solidFill>
                  <a:srgbClr val="F97316"/>
                </a:solidFill>
                <a:latin typeface="SFMono-Regular"/>
                <a:ea typeface="SFMono-Regular"/>
                <a:cs typeface="SFMono-Regular"/>
              </a:rPr>
              <a:t>runner.use(strategy);</a:t>
            </a:r>
            <a:endParaRPr sz="1650" b="1">
              <a:solidFill>
                <a:srgbClr val="F97316"/>
              </a:solidFill>
              <a:latin typeface="SFMono-Regular"/>
              <a:ea typeface="SFMono-Regular"/>
              <a:cs typeface="SFMono-Regular"/>
            </a:endParaRPr>
          </a:p>
        </p:txBody>
      </p:sp>
      <p:cxnSp>
        <p:nvCxnSpPr>
          <p:cNvPr id="153" name="strategy-line-0"/>
          <p:cNvCxnSpPr/>
          <p:nvPr/>
        </p:nvCxnSpPr>
        <p:spPr>
          <a:xfrm>
            <a:off x="8382000" y="2294255"/>
            <a:ext cx="476250" cy="953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54" name="strategy-line-1"/>
          <p:cNvCxnSpPr/>
          <p:nvPr/>
        </p:nvCxnSpPr>
        <p:spPr>
          <a:xfrm>
            <a:off x="8382000" y="3389630"/>
            <a:ext cx="476250" cy="953"/>
          </a:xfrm>
          <a:prstGeom prst="straightConnector1">
            <a:avLst/>
          </a:prstGeom>
          <a:ln w="28575">
            <a:solidFill>
              <a:srgbClr val="F97316"/>
            </a:solidFill>
            <a:prstDash val="solid"/>
          </a:ln>
        </p:spPr>
      </p:cxnSp>
      <p:cxnSp>
        <p:nvCxnSpPr>
          <p:cNvPr id="155" name="strategy-line-2"/>
          <p:cNvCxnSpPr/>
          <p:nvPr/>
        </p:nvCxnSpPr>
        <p:spPr>
          <a:xfrm>
            <a:off x="8382000" y="4485005"/>
            <a:ext cx="476250" cy="953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56" name="strategy-bus"/>
          <p:cNvCxnSpPr/>
          <p:nvPr/>
        </p:nvCxnSpPr>
        <p:spPr>
          <a:xfrm>
            <a:off x="8858250" y="2294255"/>
            <a:ext cx="953" cy="2190750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57" name="strategy-slot-line"/>
          <p:cNvCxnSpPr/>
          <p:nvPr/>
        </p:nvCxnSpPr>
        <p:spPr>
          <a:xfrm>
            <a:off x="8858250" y="3389630"/>
            <a:ext cx="428625" cy="953"/>
          </a:xfrm>
          <a:prstGeom prst="straightConnector1">
            <a:avLst/>
          </a:prstGeom>
          <a:ln w="28575">
            <a:solidFill>
              <a:srgbClr val="F97316"/>
            </a:solidFill>
            <a:prstDash val="solid"/>
          </a:ln>
        </p:spPr>
      </p:cxnSp>
      <p:sp>
        <p:nvSpPr>
          <p:cNvPr id="19" name="strategy-svm-box"/>
          <p:cNvSpPr>
            <a:spLocks noGrp="1"/>
          </p:cNvSpPr>
          <p:nvPr/>
        </p:nvSpPr>
        <p:spPr>
          <a:xfrm>
            <a:off x="6000750" y="1951355"/>
            <a:ext cx="238125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strategy-svm-title"/>
          <p:cNvSpPr>
            <a:spLocks noGrp="1"/>
          </p:cNvSpPr>
          <p:nvPr/>
        </p:nvSpPr>
        <p:spPr>
          <a:xfrm>
            <a:off x="6210300" y="2027555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SvmStrategy</a:t>
            </a:r>
            <a:endParaRPr sz="18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strategy-rf-box"/>
          <p:cNvSpPr>
            <a:spLocks noGrp="1"/>
          </p:cNvSpPr>
          <p:nvPr/>
        </p:nvSpPr>
        <p:spPr>
          <a:xfrm>
            <a:off x="6000750" y="3046730"/>
            <a:ext cx="238125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strategy-rf-title"/>
          <p:cNvSpPr>
            <a:spLocks noGrp="1"/>
          </p:cNvSpPr>
          <p:nvPr/>
        </p:nvSpPr>
        <p:spPr>
          <a:xfrm>
            <a:off x="6210300" y="312293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RandomForest</a:t>
            </a:r>
            <a:endParaRPr sz="18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strategy-tf-box"/>
          <p:cNvSpPr>
            <a:spLocks noGrp="1"/>
          </p:cNvSpPr>
          <p:nvPr/>
        </p:nvSpPr>
        <p:spPr>
          <a:xfrm>
            <a:off x="6000750" y="4142105"/>
            <a:ext cx="238125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strategy-tf-title"/>
          <p:cNvSpPr>
            <a:spLocks noGrp="1"/>
          </p:cNvSpPr>
          <p:nvPr/>
        </p:nvSpPr>
        <p:spPr>
          <a:xfrm>
            <a:off x="6210300" y="4218305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Transformer</a:t>
            </a:r>
            <a:endParaRPr sz="18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strategy-slot-box"/>
          <p:cNvSpPr>
            <a:spLocks noGrp="1"/>
          </p:cNvSpPr>
          <p:nvPr/>
        </p:nvSpPr>
        <p:spPr>
          <a:xfrm>
            <a:off x="9286875" y="2475230"/>
            <a:ext cx="2505075" cy="12382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6" name="strategy-slot-title"/>
          <p:cNvSpPr>
            <a:spLocks noGrp="1"/>
          </p:cNvSpPr>
          <p:nvPr/>
        </p:nvSpPr>
        <p:spPr>
          <a:xfrm>
            <a:off x="9496425" y="2599055"/>
            <a:ext cx="21240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策略接口</a:t>
            </a:r>
            <a:endParaRPr sz="23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strategy-slot-subtitle"/>
          <p:cNvSpPr>
            <a:spLocks noGrp="1"/>
          </p:cNvSpPr>
          <p:nvPr/>
        </p:nvSpPr>
        <p:spPr>
          <a:xfrm>
            <a:off x="9496425" y="2961005"/>
            <a:ext cx="21240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E5E7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E5E7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TrainingStrategy</a:t>
            </a:r>
            <a:endParaRPr sz="1575" b="0">
              <a:solidFill>
                <a:srgbClr val="E5E7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strategy-choice"/>
          <p:cNvSpPr>
            <a:spLocks noGrp="1"/>
          </p:cNvSpPr>
          <p:nvPr/>
        </p:nvSpPr>
        <p:spPr>
          <a:xfrm>
            <a:off x="9264015" y="4037330"/>
            <a:ext cx="243649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8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由配置或调用方选择</a:t>
            </a:r>
            <a:endParaRPr sz="18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strategy-callout-background"/>
          <p:cNvSpPr>
            <a:spLocks noGrp="1"/>
          </p:cNvSpPr>
          <p:nvPr/>
        </p:nvSpPr>
        <p:spPr>
          <a:xfrm>
            <a:off x="400050" y="565785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30" name="strategy-callout-rail"/>
          <p:cNvSpPr>
            <a:spLocks noGrp="1"/>
          </p:cNvSpPr>
          <p:nvPr/>
        </p:nvSpPr>
        <p:spPr>
          <a:xfrm>
            <a:off x="400050" y="565785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1" name="strategy-callout-text"/>
          <p:cNvSpPr>
            <a:spLocks noGrp="1"/>
          </p:cNvSpPr>
          <p:nvPr/>
        </p:nvSpPr>
        <p:spPr>
          <a:xfrm>
            <a:off x="666750" y="579120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新增算法时增加 Strategy；实验准备、评估和保存流程不变。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problem-title"/>
          <p:cNvSpPr>
            <a:spLocks noGrp="1"/>
          </p:cNvSpPr>
          <p:nvPr/>
        </p:nvSpPr>
        <p:spPr>
          <a:xfrm>
            <a:off x="400050" y="3238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Strategy：运行时替换训练算法</a:t>
            </a:r>
            <a:endParaRPr sz="36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problem-subtitle"/>
          <p:cNvSpPr>
            <a:spLocks noGrp="1"/>
          </p:cNvSpPr>
          <p:nvPr/>
        </p:nvSpPr>
        <p:spPr>
          <a:xfrm>
            <a:off x="400050" y="1066800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Java 代码示例：Trainer 只依赖稳定的 TrainingStrategy。</a:t>
            </a:r>
            <a:endParaRPr sz="172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pressure-eyebrow"/>
          <p:cNvSpPr>
            <a:spLocks noGrp="1"/>
          </p:cNvSpPr>
          <p:nvPr/>
        </p:nvSpPr>
        <p:spPr>
          <a:xfrm>
            <a:off x="7524750" y="1771650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算法可被替换</a:t>
            </a:r>
            <a:endParaRPr sz="15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pressure-statement"/>
          <p:cNvSpPr>
            <a:spLocks noGrp="1"/>
          </p:cNvSpPr>
          <p:nvPr/>
        </p:nvSpPr>
        <p:spPr>
          <a:xfrm>
            <a:off x="7524750" y="2152650"/>
            <a:ext cx="42672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同一流程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选择不同算法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pressure-rule"/>
          <p:cNvSpPr>
            <a:spLocks noGrp="1"/>
          </p:cNvSpPr>
          <p:nvPr/>
        </p:nvSpPr>
        <p:spPr>
          <a:xfrm>
            <a:off x="7524750" y="3476625"/>
            <a:ext cx="42672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1" name="pressure-1-dot"/>
          <p:cNvSpPr>
            <a:spLocks noGrp="1"/>
          </p:cNvSpPr>
          <p:nvPr/>
        </p:nvSpPr>
        <p:spPr>
          <a:xfrm>
            <a:off x="7543800" y="37719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2" name="pressure-1-text"/>
          <p:cNvSpPr>
            <a:spLocks noGrp="1"/>
          </p:cNvSpPr>
          <p:nvPr/>
        </p:nvSpPr>
        <p:spPr>
          <a:xfrm>
            <a:off x="7772400" y="36861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接口定义算法插槽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pressure-2-dot"/>
          <p:cNvSpPr>
            <a:spLocks noGrp="1"/>
          </p:cNvSpPr>
          <p:nvPr/>
        </p:nvSpPr>
        <p:spPr>
          <a:xfrm>
            <a:off x="7543800" y="40386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4" name="pressure-2-text"/>
          <p:cNvSpPr>
            <a:spLocks noGrp="1"/>
          </p:cNvSpPr>
          <p:nvPr/>
        </p:nvSpPr>
        <p:spPr>
          <a:xfrm>
            <a:off x="7772400" y="39528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实现类封装算法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pressure-3-dot"/>
          <p:cNvSpPr>
            <a:spLocks noGrp="1"/>
          </p:cNvSpPr>
          <p:nvPr/>
        </p:nvSpPr>
        <p:spPr>
          <a:xfrm>
            <a:off x="7543800" y="43053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pressure-3-text"/>
          <p:cNvSpPr>
            <a:spLocks noGrp="1"/>
          </p:cNvSpPr>
          <p:nvPr/>
        </p:nvSpPr>
        <p:spPr>
          <a:xfrm>
            <a:off x="7772400" y="42195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调用方选择策略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pressure-4-dot"/>
          <p:cNvSpPr>
            <a:spLocks noGrp="1"/>
          </p:cNvSpPr>
          <p:nvPr/>
        </p:nvSpPr>
        <p:spPr>
          <a:xfrm>
            <a:off x="7543800" y="45720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8" name="pressure-4-text"/>
          <p:cNvSpPr>
            <a:spLocks noGrp="1"/>
          </p:cNvSpPr>
          <p:nvPr/>
        </p:nvSpPr>
        <p:spPr>
          <a:xfrm>
            <a:off x="7772400" y="44862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Trainer 不写分支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pressure-5-dot"/>
          <p:cNvSpPr>
            <a:spLocks noGrp="1"/>
          </p:cNvSpPr>
          <p:nvPr/>
        </p:nvSpPr>
        <p:spPr>
          <a:xfrm>
            <a:off x="7543800" y="48387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0" name="pressure-5-text"/>
          <p:cNvSpPr>
            <a:spLocks noGrp="1"/>
          </p:cNvSpPr>
          <p:nvPr/>
        </p:nvSpPr>
        <p:spPr>
          <a:xfrm>
            <a:off x="7772400" y="47529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便于单测与对比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pressure-6-dot"/>
          <p:cNvSpPr>
            <a:spLocks noGrp="1"/>
          </p:cNvSpPr>
          <p:nvPr/>
        </p:nvSpPr>
        <p:spPr>
          <a:xfrm>
            <a:off x="7543800" y="51054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2" name="pressure-6-text"/>
          <p:cNvSpPr>
            <a:spLocks noGrp="1"/>
          </p:cNvSpPr>
          <p:nvPr/>
        </p:nvSpPr>
        <p:spPr>
          <a:xfrm>
            <a:off x="7772400" y="50196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适合配置驱动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problem-callout-background"/>
          <p:cNvSpPr>
            <a:spLocks noGrp="1"/>
          </p:cNvSpPr>
          <p:nvPr/>
        </p:nvSpPr>
        <p:spPr>
          <a:xfrm>
            <a:off x="400050" y="567690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34" name="problem-callout-rail"/>
          <p:cNvSpPr>
            <a:spLocks noGrp="1"/>
          </p:cNvSpPr>
          <p:nvPr/>
        </p:nvSpPr>
        <p:spPr>
          <a:xfrm>
            <a:off x="400050" y="567690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5" name="problem-callout-text"/>
          <p:cNvSpPr>
            <a:spLocks noGrp="1"/>
          </p:cNvSpPr>
          <p:nvPr/>
        </p:nvSpPr>
        <p:spPr>
          <a:xfrm>
            <a:off x="666750" y="581025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新增算法只实现 TrainingStrategy；训练前后的流程无需修改。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problem-page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code-block-container-13"/>
          <p:cNvSpPr>
            <a:spLocks noGrp="1"/>
          </p:cNvSpPr>
          <p:nvPr/>
        </p:nvSpPr>
        <p:spPr>
          <a:xfrm>
            <a:off x="400050" y="1676400"/>
            <a:ext cx="6610350" cy="3638550"/>
          </a:xfrm>
          <a:prstGeom prst="roundRect">
            <a:avLst>
              <a:gd name="adj" fmla="val 2618"/>
            </a:avLst>
          </a:prstGeom>
          <a:solidFill>
            <a:srgbClr val="FCFC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code-block-header-13"/>
          <p:cNvSpPr>
            <a:spLocks noGrp="1"/>
          </p:cNvSpPr>
          <p:nvPr/>
        </p:nvSpPr>
        <p:spPr>
          <a:xfrm>
            <a:off x="400050" y="1676400"/>
            <a:ext cx="6610350" cy="304800"/>
          </a:xfrm>
          <a:prstGeom prst="rect">
            <a:avLst/>
          </a:prstGeom>
          <a:noFill/>
        </p:spPr>
        <p:txBody>
          <a:bodyPr wrap="none" lIns="190500" tIns="0" rIns="190500" bIns="0" anchor="ctr"/>
          <a:lstStyle/>
          <a:p>
            <a:pPr>
              <a:buNone/>
              <a:defRPr sz="1050">
                <a:solidFill>
                  <a:srgbClr val="0D0D0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Trainer.java</a:t>
            </a:r>
            <a:endParaRPr sz="112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40" name="code-block-text-13"/>
          <p:cNvSpPr>
            <a:spLocks noGrp="1"/>
          </p:cNvSpPr>
          <p:nvPr/>
        </p:nvSpPr>
        <p:spPr>
          <a:xfrm>
            <a:off x="400050" y="1981200"/>
            <a:ext cx="6610350" cy="3333750"/>
          </a:xfrm>
          <a:prstGeom prst="rect">
            <a:avLst/>
          </a:prstGeom>
          <a:noFill/>
        </p:spPr>
        <p:txBody>
          <a:bodyPr wrap="none" lIns="171450" tIns="95250" rIns="171450" bIns="95250" anchor="t">
            <a:noAutofit/>
          </a:bodyPr>
          <a:lstStyle/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interface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TrainingStrategy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Result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train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(Dataset data)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final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class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Trainer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private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TrainingStrategy strategy;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void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use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(TrainingStrategy strategy)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</a:t>
            </a:r>
            <a:r>
              <a:rPr sz="1240">
                <a:solidFill>
                  <a:srgbClr val="B9480D"/>
                </a:solidFill>
                <a:latin typeface="SFMono-Regular"/>
                <a:ea typeface="SFMono-Regular"/>
                <a:cs typeface="SFMono-Regular"/>
              </a:rPr>
              <a:t>this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.strategy = strategy;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Result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run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(Dataset data)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return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strategy.train(data);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trainer.use(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SvmStrategy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());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section-9"/>
          <p:cNvSpPr>
            <a:spLocks noGrp="1"/>
          </p:cNvSpPr>
          <p:nvPr/>
        </p:nvSpPr>
        <p:spPr>
          <a:xfrm>
            <a:off x="400050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行为型 · STATE</a:t>
            </a:r>
            <a:endParaRPr sz="142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itle-9"/>
          <p:cNvSpPr>
            <a:spLocks noGrp="1"/>
          </p:cNvSpPr>
          <p:nvPr/>
        </p:nvSpPr>
        <p:spPr>
          <a:xfrm>
            <a:off x="400050" y="5143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State 把生命周期规则放回状态对象</a:t>
            </a:r>
            <a:endParaRPr sz="35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header-rule-9"/>
          <p:cNvSpPr>
            <a:spLocks noGrp="1"/>
          </p:cNvSpPr>
          <p:nvPr/>
        </p:nvSpPr>
        <p:spPr>
          <a:xfrm>
            <a:off x="400050" y="1304925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4" name="page-9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83" name="state-created-queued"/>
          <p:cNvCxnSpPr/>
          <p:nvPr/>
        </p:nvCxnSpPr>
        <p:spPr>
          <a:xfrm>
            <a:off x="2190750" y="2714625"/>
            <a:ext cx="1047750" cy="953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</a:ln>
        </p:spPr>
      </p:cxnSp>
      <p:cxnSp>
        <p:nvCxnSpPr>
          <p:cNvPr id="84" name="state-queued-running"/>
          <p:cNvCxnSpPr/>
          <p:nvPr/>
        </p:nvCxnSpPr>
        <p:spPr>
          <a:xfrm>
            <a:off x="4857750" y="2714625"/>
            <a:ext cx="1047750" cy="953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</a:ln>
        </p:spPr>
      </p:cxnSp>
      <p:cxnSp>
        <p:nvCxnSpPr>
          <p:cNvPr id="85" name="state-running-success"/>
          <p:cNvCxnSpPr/>
          <p:nvPr/>
        </p:nvCxnSpPr>
        <p:spPr>
          <a:xfrm>
            <a:off x="7620000" y="2714625"/>
            <a:ext cx="1238250" cy="953"/>
          </a:xfrm>
          <a:prstGeom prst="straightConnector1">
            <a:avLst/>
          </a:prstGeom>
          <a:ln w="28575">
            <a:solidFill>
              <a:srgbClr val="F97316"/>
            </a:solidFill>
            <a:prstDash val="solid"/>
          </a:ln>
        </p:spPr>
      </p:cxnSp>
      <p:cxnSp>
        <p:nvCxnSpPr>
          <p:cNvPr id="86" name="state-running-failed"/>
          <p:cNvCxnSpPr/>
          <p:nvPr/>
        </p:nvCxnSpPr>
        <p:spPr>
          <a:xfrm>
            <a:off x="7620000" y="2952750"/>
            <a:ext cx="1238250" cy="1285875"/>
          </a:xfrm>
          <a:prstGeom prst="straightConnector1">
            <a:avLst/>
          </a:prstGeom>
          <a:ln w="19050">
            <a:solidFill>
              <a:srgbClr val="111111"/>
            </a:solidFill>
            <a:prstDash val="solid"/>
          </a:ln>
        </p:spPr>
      </p:cxnSp>
      <p:sp>
        <p:nvSpPr>
          <p:cNvPr id="9" name="state-arrow-1"/>
          <p:cNvSpPr>
            <a:spLocks noGrp="1"/>
          </p:cNvSpPr>
          <p:nvPr/>
        </p:nvSpPr>
        <p:spPr>
          <a:xfrm>
            <a:off x="2505075" y="24003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22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state-arrow-2"/>
          <p:cNvSpPr>
            <a:spLocks noGrp="1"/>
          </p:cNvSpPr>
          <p:nvPr/>
        </p:nvSpPr>
        <p:spPr>
          <a:xfrm>
            <a:off x="5172075" y="24003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22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state-arrow-3"/>
          <p:cNvSpPr>
            <a:spLocks noGrp="1"/>
          </p:cNvSpPr>
          <p:nvPr/>
        </p:nvSpPr>
        <p:spPr>
          <a:xfrm>
            <a:off x="8077200" y="24003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0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0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2250" b="0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state-created-box"/>
          <p:cNvSpPr>
            <a:spLocks noGrp="1"/>
          </p:cNvSpPr>
          <p:nvPr/>
        </p:nvSpPr>
        <p:spPr>
          <a:xfrm>
            <a:off x="400050" y="2333625"/>
            <a:ext cx="1790700" cy="7620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tate-created-title"/>
          <p:cNvSpPr>
            <a:spLocks noGrp="1"/>
          </p:cNvSpPr>
          <p:nvPr/>
        </p:nvSpPr>
        <p:spPr>
          <a:xfrm>
            <a:off x="609600" y="2409825"/>
            <a:ext cx="1409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CREATED</a:t>
            </a:r>
            <a:endParaRPr sz="18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state-queued-box"/>
          <p:cNvSpPr>
            <a:spLocks noGrp="1"/>
          </p:cNvSpPr>
          <p:nvPr/>
        </p:nvSpPr>
        <p:spPr>
          <a:xfrm>
            <a:off x="3238500" y="2333625"/>
            <a:ext cx="1619250" cy="7620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state-queued-title"/>
          <p:cNvSpPr>
            <a:spLocks noGrp="1"/>
          </p:cNvSpPr>
          <p:nvPr/>
        </p:nvSpPr>
        <p:spPr>
          <a:xfrm>
            <a:off x="3448050" y="2409825"/>
            <a:ext cx="1238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QUEUED</a:t>
            </a:r>
            <a:endParaRPr sz="18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state-running-box"/>
          <p:cNvSpPr>
            <a:spLocks noGrp="1"/>
          </p:cNvSpPr>
          <p:nvPr/>
        </p:nvSpPr>
        <p:spPr>
          <a:xfrm>
            <a:off x="5905500" y="2333625"/>
            <a:ext cx="1714500" cy="762000"/>
          </a:xfrm>
          <a:prstGeom prst="rect">
            <a:avLst/>
          </a:prstGeom>
          <a:solidFill>
            <a:srgbClr val="FFF4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state-running-accent"/>
          <p:cNvSpPr>
            <a:spLocks noGrp="1"/>
          </p:cNvSpPr>
          <p:nvPr/>
        </p:nvSpPr>
        <p:spPr>
          <a:xfrm>
            <a:off x="5905500" y="2333625"/>
            <a:ext cx="66675" cy="7620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8" name="state-running-title"/>
          <p:cNvSpPr>
            <a:spLocks noGrp="1"/>
          </p:cNvSpPr>
          <p:nvPr/>
        </p:nvSpPr>
        <p:spPr>
          <a:xfrm>
            <a:off x="6115050" y="2409825"/>
            <a:ext cx="1333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RUNNING</a:t>
            </a:r>
            <a:endParaRPr sz="18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state-success-box"/>
          <p:cNvSpPr>
            <a:spLocks noGrp="1"/>
          </p:cNvSpPr>
          <p:nvPr/>
        </p:nvSpPr>
        <p:spPr>
          <a:xfrm>
            <a:off x="8858250" y="2333625"/>
            <a:ext cx="2381250" cy="76200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0" name="state-success-title"/>
          <p:cNvSpPr>
            <a:spLocks noGrp="1"/>
          </p:cNvSpPr>
          <p:nvPr/>
        </p:nvSpPr>
        <p:spPr>
          <a:xfrm>
            <a:off x="9067800" y="2409825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SUCCEEDED</a:t>
            </a:r>
            <a:endParaRPr sz="18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state-failed-box"/>
          <p:cNvSpPr>
            <a:spLocks noGrp="1"/>
          </p:cNvSpPr>
          <p:nvPr/>
        </p:nvSpPr>
        <p:spPr>
          <a:xfrm>
            <a:off x="8858250" y="3857625"/>
            <a:ext cx="2381250" cy="7620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state-failed-title"/>
          <p:cNvSpPr>
            <a:spLocks noGrp="1"/>
          </p:cNvSpPr>
          <p:nvPr/>
        </p:nvSpPr>
        <p:spPr>
          <a:xfrm>
            <a:off x="9067800" y="3933825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FAILED</a:t>
            </a:r>
            <a:endParaRPr sz="18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state-label-submit"/>
          <p:cNvSpPr>
            <a:spLocks noGrp="1"/>
          </p:cNvSpPr>
          <p:nvPr/>
        </p:nvSpPr>
        <p:spPr>
          <a:xfrm>
            <a:off x="2381250" y="20002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提交</a:t>
            </a:r>
            <a:endParaRPr sz="15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state-label-start"/>
          <p:cNvSpPr>
            <a:spLocks noGrp="1"/>
          </p:cNvSpPr>
          <p:nvPr/>
        </p:nvSpPr>
        <p:spPr>
          <a:xfrm>
            <a:off x="5095875" y="20002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启动</a:t>
            </a:r>
            <a:endParaRPr sz="15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state-label-finish"/>
          <p:cNvSpPr>
            <a:spLocks noGrp="1"/>
          </p:cNvSpPr>
          <p:nvPr/>
        </p:nvSpPr>
        <p:spPr>
          <a:xfrm>
            <a:off x="8001000" y="20002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0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</a:t>
            </a:r>
            <a:endParaRPr sz="1500" b="0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state-created-rule"/>
          <p:cNvSpPr>
            <a:spLocks noGrp="1"/>
          </p:cNvSpPr>
          <p:nvPr/>
        </p:nvSpPr>
        <p:spPr>
          <a:xfrm>
            <a:off x="400050" y="4905375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CREATED：可以提交，不能取消</a:t>
            </a:r>
            <a:endParaRPr sz="18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state-running-rule"/>
          <p:cNvSpPr>
            <a:spLocks noGrp="1"/>
          </p:cNvSpPr>
          <p:nvPr/>
        </p:nvSpPr>
        <p:spPr>
          <a:xfrm>
            <a:off x="6096000" y="4905375"/>
            <a:ext cx="569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RUNNING：可以取消，不能再次启动</a:t>
            </a:r>
            <a:endParaRPr sz="18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state-callout-background"/>
          <p:cNvSpPr>
            <a:spLocks noGrp="1"/>
          </p:cNvSpPr>
          <p:nvPr/>
        </p:nvSpPr>
        <p:spPr>
          <a:xfrm>
            <a:off x="400050" y="565785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29" name="state-callout-rail"/>
          <p:cNvSpPr>
            <a:spLocks noGrp="1"/>
          </p:cNvSpPr>
          <p:nvPr/>
        </p:nvSpPr>
        <p:spPr>
          <a:xfrm>
            <a:off x="400050" y="565785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0" name="state-callout-text"/>
          <p:cNvSpPr>
            <a:spLocks noGrp="1"/>
          </p:cNvSpPr>
          <p:nvPr/>
        </p:nvSpPr>
        <p:spPr>
          <a:xfrm>
            <a:off x="666750" y="579120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Strategy 由外部选择算法；State 由对象内部状态决定行为。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problem-title"/>
          <p:cNvSpPr>
            <a:spLocks noGrp="1"/>
          </p:cNvSpPr>
          <p:nvPr/>
        </p:nvSpPr>
        <p:spPr>
          <a:xfrm>
            <a:off x="400050" y="3238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State：把启动规则交给当前状态</a:t>
            </a:r>
            <a:endParaRPr sz="36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problem-subtitle"/>
          <p:cNvSpPr>
            <a:spLocks noGrp="1"/>
          </p:cNvSpPr>
          <p:nvPr/>
        </p:nvSpPr>
        <p:spPr>
          <a:xfrm>
            <a:off x="400050" y="1066800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Java 代码示例：Experiment 将行为委托给 RunState。</a:t>
            </a:r>
            <a:endParaRPr sz="172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pressure-eyebrow"/>
          <p:cNvSpPr>
            <a:spLocks noGrp="1"/>
          </p:cNvSpPr>
          <p:nvPr/>
        </p:nvSpPr>
        <p:spPr>
          <a:xfrm>
            <a:off x="7524750" y="1771650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行为取决于状态</a:t>
            </a:r>
            <a:endParaRPr sz="15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pressure-statement"/>
          <p:cNvSpPr>
            <a:spLocks noGrp="1"/>
          </p:cNvSpPr>
          <p:nvPr/>
        </p:nvSpPr>
        <p:spPr>
          <a:xfrm>
            <a:off x="7524750" y="2152650"/>
            <a:ext cx="42672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状态迁移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与规则在一起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pressure-rule"/>
          <p:cNvSpPr>
            <a:spLocks noGrp="1"/>
          </p:cNvSpPr>
          <p:nvPr/>
        </p:nvSpPr>
        <p:spPr>
          <a:xfrm>
            <a:off x="7524750" y="3476625"/>
            <a:ext cx="42672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1" name="pressure-1-dot"/>
          <p:cNvSpPr>
            <a:spLocks noGrp="1"/>
          </p:cNvSpPr>
          <p:nvPr/>
        </p:nvSpPr>
        <p:spPr>
          <a:xfrm>
            <a:off x="7543800" y="37719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2" name="pressure-1-text"/>
          <p:cNvSpPr>
            <a:spLocks noGrp="1"/>
          </p:cNvSpPr>
          <p:nvPr/>
        </p:nvSpPr>
        <p:spPr>
          <a:xfrm>
            <a:off x="7772400" y="36861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Experiment 保留状态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pressure-2-dot"/>
          <p:cNvSpPr>
            <a:spLocks noGrp="1"/>
          </p:cNvSpPr>
          <p:nvPr/>
        </p:nvSpPr>
        <p:spPr>
          <a:xfrm>
            <a:off x="7543800" y="40386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4" name="pressure-2-text"/>
          <p:cNvSpPr>
            <a:spLocks noGrp="1"/>
          </p:cNvSpPr>
          <p:nvPr/>
        </p:nvSpPr>
        <p:spPr>
          <a:xfrm>
            <a:off x="7772400" y="39528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行为委托给状态对象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pressure-3-dot"/>
          <p:cNvSpPr>
            <a:spLocks noGrp="1"/>
          </p:cNvSpPr>
          <p:nvPr/>
        </p:nvSpPr>
        <p:spPr>
          <a:xfrm>
            <a:off x="7543800" y="43053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pressure-3-text"/>
          <p:cNvSpPr>
            <a:spLocks noGrp="1"/>
          </p:cNvSpPr>
          <p:nvPr/>
        </p:nvSpPr>
        <p:spPr>
          <a:xfrm>
            <a:off x="7772400" y="42195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Created 允许启动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pressure-4-dot"/>
          <p:cNvSpPr>
            <a:spLocks noGrp="1"/>
          </p:cNvSpPr>
          <p:nvPr/>
        </p:nvSpPr>
        <p:spPr>
          <a:xfrm>
            <a:off x="7543800" y="45720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8" name="pressure-4-text"/>
          <p:cNvSpPr>
            <a:spLocks noGrp="1"/>
          </p:cNvSpPr>
          <p:nvPr/>
        </p:nvSpPr>
        <p:spPr>
          <a:xfrm>
            <a:off x="7772400" y="44862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启动后进入 Running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pressure-5-dot"/>
          <p:cNvSpPr>
            <a:spLocks noGrp="1"/>
          </p:cNvSpPr>
          <p:nvPr/>
        </p:nvSpPr>
        <p:spPr>
          <a:xfrm>
            <a:off x="7543800" y="48387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0" name="pressure-5-text"/>
          <p:cNvSpPr>
            <a:spLocks noGrp="1"/>
          </p:cNvSpPr>
          <p:nvPr/>
        </p:nvSpPr>
        <p:spPr>
          <a:xfrm>
            <a:off x="7772400" y="47529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非法动作由状态拒绝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pressure-6-dot"/>
          <p:cNvSpPr>
            <a:spLocks noGrp="1"/>
          </p:cNvSpPr>
          <p:nvPr/>
        </p:nvSpPr>
        <p:spPr>
          <a:xfrm>
            <a:off x="7543800" y="51054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2" name="pressure-6-text"/>
          <p:cNvSpPr>
            <a:spLocks noGrp="1"/>
          </p:cNvSpPr>
          <p:nvPr/>
        </p:nvSpPr>
        <p:spPr>
          <a:xfrm>
            <a:off x="7772400" y="50196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避免大型状态分支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problem-callout-background"/>
          <p:cNvSpPr>
            <a:spLocks noGrp="1"/>
          </p:cNvSpPr>
          <p:nvPr/>
        </p:nvSpPr>
        <p:spPr>
          <a:xfrm>
            <a:off x="400050" y="567690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34" name="problem-callout-rail"/>
          <p:cNvSpPr>
            <a:spLocks noGrp="1"/>
          </p:cNvSpPr>
          <p:nvPr/>
        </p:nvSpPr>
        <p:spPr>
          <a:xfrm>
            <a:off x="400050" y="567690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5" name="problem-callout-text"/>
          <p:cNvSpPr>
            <a:spLocks noGrp="1"/>
          </p:cNvSpPr>
          <p:nvPr/>
        </p:nvSpPr>
        <p:spPr>
          <a:xfrm>
            <a:off x="666750" y="581025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Experiment 不再集中判断所有状态；每个状态只管理自己允许的行为。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problem-page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code-block-container-15"/>
          <p:cNvSpPr>
            <a:spLocks noGrp="1"/>
          </p:cNvSpPr>
          <p:nvPr/>
        </p:nvSpPr>
        <p:spPr>
          <a:xfrm>
            <a:off x="400050" y="1676400"/>
            <a:ext cx="6610350" cy="3792855"/>
          </a:xfrm>
          <a:prstGeom prst="roundRect">
            <a:avLst>
              <a:gd name="adj" fmla="val 2618"/>
            </a:avLst>
          </a:prstGeom>
          <a:solidFill>
            <a:srgbClr val="FCFC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code-block-header-15"/>
          <p:cNvSpPr>
            <a:spLocks noGrp="1"/>
          </p:cNvSpPr>
          <p:nvPr/>
        </p:nvSpPr>
        <p:spPr>
          <a:xfrm>
            <a:off x="400050" y="1676400"/>
            <a:ext cx="6610350" cy="304800"/>
          </a:xfrm>
          <a:prstGeom prst="rect">
            <a:avLst/>
          </a:prstGeom>
          <a:noFill/>
        </p:spPr>
        <p:txBody>
          <a:bodyPr wrap="none" lIns="190500" tIns="0" rIns="190500" bIns="0" anchor="ctr"/>
          <a:lstStyle/>
          <a:p>
            <a:pPr>
              <a:buNone/>
              <a:defRPr sz="1050">
                <a:solidFill>
                  <a:srgbClr val="0D0D0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ExperimentState.java</a:t>
            </a:r>
            <a:endParaRPr sz="112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40" name="code-block-text-15"/>
          <p:cNvSpPr>
            <a:spLocks noGrp="1"/>
          </p:cNvSpPr>
          <p:nvPr/>
        </p:nvSpPr>
        <p:spPr>
          <a:xfrm>
            <a:off x="400050" y="1981200"/>
            <a:ext cx="6610350" cy="3333750"/>
          </a:xfrm>
          <a:prstGeom prst="rect">
            <a:avLst/>
          </a:prstGeom>
          <a:noFill/>
        </p:spPr>
        <p:txBody>
          <a:bodyPr wrap="none" lIns="171450" tIns="95250" rIns="171450" bIns="95250" anchor="t">
            <a:noAutofit/>
          </a:bodyPr>
          <a:lstStyle/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interface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RunState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void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start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(Experiment experiment)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;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final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class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Created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implements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RunState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public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void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start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(Experiment experiment)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experiment.setState(</a:t>
            </a: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Running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());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experiment.launchJob();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}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final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class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Experiment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private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RunState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state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=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Created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();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0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void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start</a:t>
            </a:r>
            <a:r>
              <a:rPr sz="120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()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state.start(</a:t>
            </a:r>
            <a:r>
              <a:rPr sz="1200">
                <a:solidFill>
                  <a:srgbClr val="B9480D"/>
                </a:solidFill>
                <a:latin typeface="SFMono-Regular"/>
                <a:ea typeface="SFMono-Regular"/>
                <a:cs typeface="SFMono-Regular"/>
              </a:rPr>
              <a:t>this</a:t>
            </a: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);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}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0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20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section-10"/>
          <p:cNvSpPr>
            <a:spLocks noGrp="1"/>
          </p:cNvSpPr>
          <p:nvPr/>
        </p:nvSpPr>
        <p:spPr>
          <a:xfrm>
            <a:off x="400050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行为型 · OBSERVER</a:t>
            </a:r>
            <a:endParaRPr sz="142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itle-10"/>
          <p:cNvSpPr>
            <a:spLocks noGrp="1"/>
          </p:cNvSpPr>
          <p:nvPr/>
        </p:nvSpPr>
        <p:spPr>
          <a:xfrm>
            <a:off x="400050" y="5143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Observer 让完成事件不再绑死后续动作</a:t>
            </a:r>
            <a:endParaRPr sz="35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header-rule-10"/>
          <p:cNvSpPr>
            <a:spLocks noGrp="1"/>
          </p:cNvSpPr>
          <p:nvPr/>
        </p:nvSpPr>
        <p:spPr>
          <a:xfrm>
            <a:off x="400050" y="1304925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4" name="page-10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86" name="observer-publish-line"/>
          <p:cNvCxnSpPr/>
          <p:nvPr/>
        </p:nvCxnSpPr>
        <p:spPr>
          <a:xfrm>
            <a:off x="4095750" y="3381375"/>
            <a:ext cx="2095500" cy="953"/>
          </a:xfrm>
          <a:prstGeom prst="straightConnector1">
            <a:avLst/>
          </a:prstGeom>
          <a:ln w="28575">
            <a:solidFill>
              <a:srgbClr val="F97316"/>
            </a:solidFill>
            <a:prstDash val="solid"/>
          </a:ln>
        </p:spPr>
      </p:cxnSp>
      <p:cxnSp>
        <p:nvCxnSpPr>
          <p:cNvPr id="87" name="observer-bus"/>
          <p:cNvCxnSpPr/>
          <p:nvPr>
            <p:custDataLst>
              <p:tags r:id="rId1"/>
            </p:custDataLst>
          </p:nvPr>
        </p:nvCxnSpPr>
        <p:spPr>
          <a:xfrm flipH="1">
            <a:off x="6167755" y="2457450"/>
            <a:ext cx="23495" cy="1979930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88" name="observer-line-0"/>
          <p:cNvCxnSpPr/>
          <p:nvPr>
            <p:custDataLst>
              <p:tags r:id="rId2"/>
            </p:custDataLst>
          </p:nvPr>
        </p:nvCxnSpPr>
        <p:spPr>
          <a:xfrm>
            <a:off x="6191250" y="2457450"/>
            <a:ext cx="1333500" cy="953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89" name="observer-line-1"/>
          <p:cNvCxnSpPr/>
          <p:nvPr>
            <p:custDataLst>
              <p:tags r:id="rId3"/>
            </p:custDataLst>
          </p:nvPr>
        </p:nvCxnSpPr>
        <p:spPr>
          <a:xfrm>
            <a:off x="6191250" y="3384550"/>
            <a:ext cx="1333500" cy="953"/>
          </a:xfrm>
          <a:prstGeom prst="straightConnector1">
            <a:avLst/>
          </a:prstGeom>
          <a:ln w="28575">
            <a:solidFill>
              <a:srgbClr val="F97316"/>
            </a:solidFill>
            <a:prstDash val="solid"/>
          </a:ln>
        </p:spPr>
      </p:cxnSp>
      <p:cxnSp>
        <p:nvCxnSpPr>
          <p:cNvPr id="90" name="observer-line-2"/>
          <p:cNvCxnSpPr/>
          <p:nvPr>
            <p:custDataLst>
              <p:tags r:id="rId4"/>
            </p:custDataLst>
          </p:nvPr>
        </p:nvCxnSpPr>
        <p:spPr>
          <a:xfrm>
            <a:off x="6191250" y="4435475"/>
            <a:ext cx="1333500" cy="953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sp>
        <p:nvSpPr>
          <p:cNvPr id="10" name="observer-event-box"/>
          <p:cNvSpPr>
            <a:spLocks noGrp="1"/>
          </p:cNvSpPr>
          <p:nvPr/>
        </p:nvSpPr>
        <p:spPr>
          <a:xfrm>
            <a:off x="762000" y="2781300"/>
            <a:ext cx="3333750" cy="12001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1" name="observer-event-title"/>
          <p:cNvSpPr>
            <a:spLocks noGrp="1"/>
          </p:cNvSpPr>
          <p:nvPr/>
        </p:nvSpPr>
        <p:spPr>
          <a:xfrm>
            <a:off x="971550" y="2905125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完成事件</a:t>
            </a:r>
            <a:endParaRPr sz="23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observer-event-subtitle"/>
          <p:cNvSpPr>
            <a:spLocks noGrp="1"/>
          </p:cNvSpPr>
          <p:nvPr/>
        </p:nvSpPr>
        <p:spPr>
          <a:xfrm>
            <a:off x="971550" y="3267075"/>
            <a:ext cx="2952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E5E7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E5E7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ExperimentCompleted</a:t>
            </a:r>
            <a:endParaRPr sz="1575" b="0">
              <a:solidFill>
                <a:srgbClr val="E5E7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observer-save-box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524750" y="2095500"/>
            <a:ext cx="3714750" cy="7239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observer-save-title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734300" y="22193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ResultSaver</a:t>
            </a:r>
            <a:endParaRPr sz="16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observer-save-subtitle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734300" y="2581275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保存实验结果</a:t>
            </a:r>
            <a:endParaRPr sz="10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observer-metric-box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524750" y="3022600"/>
            <a:ext cx="3714750" cy="723900"/>
          </a:xfrm>
          <a:prstGeom prst="rect">
            <a:avLst/>
          </a:prstGeom>
          <a:solidFill>
            <a:srgbClr val="FFF4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observer-metric-accent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524750" y="3022600"/>
            <a:ext cx="66675" cy="7239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8" name="observer-metric-title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734300" y="31464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MetricUpdater</a:t>
            </a:r>
            <a:endParaRPr sz="16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observer-metric-subtitle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734300" y="3508375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更新评估指标</a:t>
            </a:r>
            <a:endParaRPr sz="10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observer-notify-box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524750" y="4073525"/>
            <a:ext cx="3714750" cy="72390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observer-notify-title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734300" y="419735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NotificationService</a:t>
            </a:r>
            <a:endParaRPr sz="16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observer-notify-subtitle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734300" y="455930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通知研究人员</a:t>
            </a:r>
            <a:endParaRPr sz="10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observer-publish"/>
          <p:cNvSpPr>
            <a:spLocks noGrp="1"/>
          </p:cNvSpPr>
          <p:nvPr/>
        </p:nvSpPr>
        <p:spPr>
          <a:xfrm>
            <a:off x="4524375" y="3000375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发布一次</a:t>
            </a:r>
            <a:endParaRPr sz="18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observer-many"/>
          <p:cNvSpPr>
            <a:spLocks noGrp="1"/>
          </p:cNvSpPr>
          <p:nvPr/>
        </p:nvSpPr>
        <p:spPr>
          <a:xfrm>
            <a:off x="5000625" y="381000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多个订阅者各自响应</a:t>
            </a:r>
            <a:endParaRPr sz="18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observer-callout-background"/>
          <p:cNvSpPr>
            <a:spLocks noGrp="1"/>
          </p:cNvSpPr>
          <p:nvPr/>
        </p:nvSpPr>
        <p:spPr>
          <a:xfrm>
            <a:off x="400050" y="565785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26" name="observer-callout-rail"/>
          <p:cNvSpPr>
            <a:spLocks noGrp="1"/>
          </p:cNvSpPr>
          <p:nvPr/>
        </p:nvSpPr>
        <p:spPr>
          <a:xfrm>
            <a:off x="400050" y="565785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7" name="observer-callout-text"/>
          <p:cNvSpPr>
            <a:spLocks noGrp="1"/>
          </p:cNvSpPr>
          <p:nvPr/>
        </p:nvSpPr>
        <p:spPr>
          <a:xfrm>
            <a:off x="666750" y="579120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新增订阅者时，ExperimentRunner 不需要知道它是谁。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problem-title"/>
          <p:cNvSpPr>
            <a:spLocks noGrp="1"/>
          </p:cNvSpPr>
          <p:nvPr/>
        </p:nvSpPr>
        <p:spPr>
          <a:xfrm>
            <a:off x="400050" y="3238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Observer：发布一次完成事件</a:t>
            </a:r>
            <a:endParaRPr sz="36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problem-subtitle"/>
          <p:cNvSpPr>
            <a:spLocks noGrp="1"/>
          </p:cNvSpPr>
          <p:nvPr/>
        </p:nvSpPr>
        <p:spPr>
          <a:xfrm>
            <a:off x="400050" y="1066800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Java 代码示例：订阅者独立响应，发布者无需逐个调用。</a:t>
            </a:r>
            <a:endParaRPr sz="1725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pressure-eyebrow"/>
          <p:cNvSpPr>
            <a:spLocks noGrp="1"/>
          </p:cNvSpPr>
          <p:nvPr/>
        </p:nvSpPr>
        <p:spPr>
          <a:xfrm>
            <a:off x="7524750" y="1771650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发布者不认识订阅者</a:t>
            </a:r>
            <a:endParaRPr sz="15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pressure-statement"/>
          <p:cNvSpPr>
            <a:spLocks noGrp="1"/>
          </p:cNvSpPr>
          <p:nvPr/>
        </p:nvSpPr>
        <p:spPr>
          <a:xfrm>
            <a:off x="7524750" y="2152650"/>
            <a:ext cx="42672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发布一次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buNone/>
              <a:def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多方独立响应</a:t>
            </a:r>
            <a:endParaRPr sz="34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pressure-rule"/>
          <p:cNvSpPr>
            <a:spLocks noGrp="1"/>
          </p:cNvSpPr>
          <p:nvPr/>
        </p:nvSpPr>
        <p:spPr>
          <a:xfrm>
            <a:off x="7524750" y="3476625"/>
            <a:ext cx="42672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21" name="pressure-1-dot"/>
          <p:cNvSpPr>
            <a:spLocks noGrp="1"/>
          </p:cNvSpPr>
          <p:nvPr/>
        </p:nvSpPr>
        <p:spPr>
          <a:xfrm>
            <a:off x="7543800" y="37719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2" name="pressure-1-text"/>
          <p:cNvSpPr>
            <a:spLocks noGrp="1"/>
          </p:cNvSpPr>
          <p:nvPr/>
        </p:nvSpPr>
        <p:spPr>
          <a:xfrm>
            <a:off x="7772400" y="36861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事件描述已发生事实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pressure-2-dot"/>
          <p:cNvSpPr>
            <a:spLocks noGrp="1"/>
          </p:cNvSpPr>
          <p:nvPr/>
        </p:nvSpPr>
        <p:spPr>
          <a:xfrm>
            <a:off x="7543800" y="40386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4" name="pressure-2-text"/>
          <p:cNvSpPr>
            <a:spLocks noGrp="1"/>
          </p:cNvSpPr>
          <p:nvPr/>
        </p:nvSpPr>
        <p:spPr>
          <a:xfrm>
            <a:off x="7772400" y="39528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EventBus 保存订阅关系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pressure-3-dot"/>
          <p:cNvSpPr>
            <a:spLocks noGrp="1"/>
          </p:cNvSpPr>
          <p:nvPr/>
        </p:nvSpPr>
        <p:spPr>
          <a:xfrm>
            <a:off x="7543800" y="4305300"/>
            <a:ext cx="76200" cy="7620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6" name="pressure-3-text"/>
          <p:cNvSpPr>
            <a:spLocks noGrp="1"/>
          </p:cNvSpPr>
          <p:nvPr/>
        </p:nvSpPr>
        <p:spPr>
          <a:xfrm>
            <a:off x="7772400" y="42195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发布者只 publish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pressure-4-dot"/>
          <p:cNvSpPr>
            <a:spLocks noGrp="1"/>
          </p:cNvSpPr>
          <p:nvPr/>
        </p:nvSpPr>
        <p:spPr>
          <a:xfrm>
            <a:off x="7543800" y="45720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8" name="pressure-4-text"/>
          <p:cNvSpPr>
            <a:spLocks noGrp="1"/>
          </p:cNvSpPr>
          <p:nvPr/>
        </p:nvSpPr>
        <p:spPr>
          <a:xfrm>
            <a:off x="7772400" y="44862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订阅者各自处理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pressure-5-dot"/>
          <p:cNvSpPr>
            <a:spLocks noGrp="1"/>
          </p:cNvSpPr>
          <p:nvPr/>
        </p:nvSpPr>
        <p:spPr>
          <a:xfrm>
            <a:off x="7543800" y="48387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0" name="pressure-5-text"/>
          <p:cNvSpPr>
            <a:spLocks noGrp="1"/>
          </p:cNvSpPr>
          <p:nvPr/>
        </p:nvSpPr>
        <p:spPr>
          <a:xfrm>
            <a:off x="7772400" y="47529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新增订阅者不改发布者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pressure-6-dot"/>
          <p:cNvSpPr>
            <a:spLocks noGrp="1"/>
          </p:cNvSpPr>
          <p:nvPr/>
        </p:nvSpPr>
        <p:spPr>
          <a:xfrm>
            <a:off x="7543800" y="5105400"/>
            <a:ext cx="76200" cy="762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2" name="pressure-6-text"/>
          <p:cNvSpPr>
            <a:spLocks noGrp="1"/>
          </p:cNvSpPr>
          <p:nvPr/>
        </p:nvSpPr>
        <p:spPr>
          <a:xfrm>
            <a:off x="7772400" y="5019675"/>
            <a:ext cx="3867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注意异常与执行顺序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problem-callout-background"/>
          <p:cNvSpPr>
            <a:spLocks noGrp="1"/>
          </p:cNvSpPr>
          <p:nvPr/>
        </p:nvSpPr>
        <p:spPr>
          <a:xfrm>
            <a:off x="400050" y="567690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34" name="problem-callout-rail"/>
          <p:cNvSpPr>
            <a:spLocks noGrp="1"/>
          </p:cNvSpPr>
          <p:nvPr/>
        </p:nvSpPr>
        <p:spPr>
          <a:xfrm>
            <a:off x="400050" y="567690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5" name="problem-callout-text"/>
          <p:cNvSpPr>
            <a:spLocks noGrp="1"/>
          </p:cNvSpPr>
          <p:nvPr/>
        </p:nvSpPr>
        <p:spPr>
          <a:xfrm>
            <a:off x="666750" y="581025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ExperimentRunner 只发布完成事件；保存、指标和通知分别订阅。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problem-page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code-block-container-17"/>
          <p:cNvSpPr>
            <a:spLocks noGrp="1"/>
          </p:cNvSpPr>
          <p:nvPr/>
        </p:nvSpPr>
        <p:spPr>
          <a:xfrm>
            <a:off x="400050" y="1676400"/>
            <a:ext cx="6610350" cy="3638550"/>
          </a:xfrm>
          <a:prstGeom prst="roundRect">
            <a:avLst>
              <a:gd name="adj" fmla="val 2618"/>
            </a:avLst>
          </a:prstGeom>
          <a:solidFill>
            <a:srgbClr val="FCFC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9" name="code-block-header-17"/>
          <p:cNvSpPr>
            <a:spLocks noGrp="1"/>
          </p:cNvSpPr>
          <p:nvPr/>
        </p:nvSpPr>
        <p:spPr>
          <a:xfrm>
            <a:off x="400050" y="1676400"/>
            <a:ext cx="6610350" cy="304800"/>
          </a:xfrm>
          <a:prstGeom prst="rect">
            <a:avLst/>
          </a:prstGeom>
          <a:noFill/>
        </p:spPr>
        <p:txBody>
          <a:bodyPr wrap="none" lIns="190500" tIns="0" rIns="190500" bIns="0" anchor="ctr"/>
          <a:lstStyle/>
          <a:p>
            <a:pPr>
              <a:buNone/>
              <a:defRPr sz="1050">
                <a:solidFill>
                  <a:srgbClr val="0D0D0D"/>
                </a:solidFill>
                <a:latin typeface="Inter"/>
                <a:ea typeface="Inter"/>
                <a:cs typeface="Inter"/>
              </a:defRPr>
            </a:pPr>
            <a:r>
              <a:rPr sz="1125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EventBus.java</a:t>
            </a:r>
            <a:endParaRPr sz="1125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  <p:sp>
        <p:nvSpPr>
          <p:cNvPr id="40" name="code-block-text-17"/>
          <p:cNvSpPr>
            <a:spLocks noGrp="1"/>
          </p:cNvSpPr>
          <p:nvPr/>
        </p:nvSpPr>
        <p:spPr>
          <a:xfrm>
            <a:off x="400050" y="1981200"/>
            <a:ext cx="6610350" cy="3333750"/>
          </a:xfrm>
          <a:prstGeom prst="rect">
            <a:avLst/>
          </a:prstGeom>
          <a:noFill/>
        </p:spPr>
        <p:txBody>
          <a:bodyPr wrap="none" lIns="171450" tIns="95250" rIns="171450" bIns="95250" anchor="t">
            <a:noAutofit/>
          </a:bodyPr>
          <a:lstStyle/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interface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Subscriber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void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on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(Event event)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; 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final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class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EventBus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private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final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List&lt;Subscriber&gt; subscribers =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ArrayList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&lt;&gt;();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void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publish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(Event event)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{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for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(Subscriber subscriber : subscribers) {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  subscriber.on(event);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  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 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}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bus.subscribe(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ResultSaver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());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bus.subscribe(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MetricUpdater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());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  <a:p>
            <a:pPr>
              <a:lnSpc>
                <a:spcPct val="104000"/>
              </a:lnSpc>
              <a:buNone/>
              <a:defRPr sz="1050">
                <a:solidFill>
                  <a:srgbClr val="0D0D0D"/>
                </a:solidFill>
                <a:latin typeface="Atkinson Hyperlegible Mono"/>
                <a:ea typeface="Atkinson Hyperlegible Mono"/>
                <a:cs typeface="Atkinson Hyperlegible Mono"/>
              </a:defRPr>
            </a:pP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bus.publish(</a:t>
            </a:r>
            <a:r>
              <a:rPr sz="1240">
                <a:solidFill>
                  <a:srgbClr val="BA437A"/>
                </a:solidFill>
                <a:latin typeface="SFMono-Regular"/>
                <a:ea typeface="SFMono-Regular"/>
                <a:cs typeface="SFMono-Regular"/>
              </a:rPr>
              <a:t>new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 </a:t>
            </a:r>
            <a:r>
              <a:rPr sz="1240">
                <a:solidFill>
                  <a:srgbClr val="6B3AB4"/>
                </a:solidFill>
                <a:latin typeface="SFMono-Regular"/>
                <a:ea typeface="SFMono-Regular"/>
                <a:cs typeface="SFMono-Regular"/>
              </a:rPr>
              <a:t>ExperimentCompleted</a:t>
            </a:r>
            <a:r>
              <a:rPr sz="1240">
                <a:solidFill>
                  <a:srgbClr val="0D0D0D"/>
                </a:solidFill>
                <a:latin typeface="SFMono-Regular"/>
                <a:ea typeface="SFMono-Regular"/>
                <a:cs typeface="SFMono-Regular"/>
              </a:rPr>
              <a:t>(id));</a:t>
            </a:r>
            <a:endParaRPr sz="1240">
              <a:solidFill>
                <a:srgbClr val="0D0D0D"/>
              </a:solidFill>
              <a:latin typeface="SFMono-Regular"/>
              <a:ea typeface="SFMono-Regular"/>
              <a:cs typeface="SFMono-Regula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section-11"/>
          <p:cNvSpPr>
            <a:spLocks noGrp="1"/>
          </p:cNvSpPr>
          <p:nvPr/>
        </p:nvSpPr>
        <p:spPr>
          <a:xfrm>
            <a:off x="400050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行为型 · 对比</a:t>
            </a:r>
            <a:endParaRPr sz="142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itle-11"/>
          <p:cNvSpPr>
            <a:spLocks noGrp="1"/>
          </p:cNvSpPr>
          <p:nvPr/>
        </p:nvSpPr>
        <p:spPr>
          <a:xfrm>
            <a:off x="400050" y="5143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三种行为模式，封装的不是同一种东西</a:t>
            </a:r>
            <a:endParaRPr sz="35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header-rule-11"/>
          <p:cNvSpPr>
            <a:spLocks noGrp="1"/>
          </p:cNvSpPr>
          <p:nvPr/>
        </p:nvSpPr>
        <p:spPr>
          <a:xfrm>
            <a:off x="400050" y="1304925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4" name="page-11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behavior-head-bg-0"/>
          <p:cNvSpPr>
            <a:spLocks noGrp="1"/>
          </p:cNvSpPr>
          <p:nvPr/>
        </p:nvSpPr>
        <p:spPr>
          <a:xfrm>
            <a:off x="400050" y="1752600"/>
            <a:ext cx="1933575" cy="5905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6" name="behavior-head-0"/>
          <p:cNvSpPr>
            <a:spLocks noGrp="1"/>
          </p:cNvSpPr>
          <p:nvPr/>
        </p:nvSpPr>
        <p:spPr>
          <a:xfrm>
            <a:off x="571500" y="1885950"/>
            <a:ext cx="1590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模式</a:t>
            </a:r>
            <a:endParaRPr sz="17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behavior-head-bg-1"/>
          <p:cNvSpPr>
            <a:spLocks noGrp="1"/>
          </p:cNvSpPr>
          <p:nvPr/>
        </p:nvSpPr>
        <p:spPr>
          <a:xfrm>
            <a:off x="2333625" y="1752600"/>
            <a:ext cx="3000375" cy="590550"/>
          </a:xfrm>
          <a:prstGeom prst="rect">
            <a:avLst/>
          </a:prstGeom>
          <a:solidFill>
            <a:srgbClr val="E8E8E8"/>
          </a:solidFill>
          <a:ln w="0">
            <a:noFill/>
            <a:prstDash val="solid"/>
          </a:ln>
        </p:spPr>
      </p:sp>
      <p:sp>
        <p:nvSpPr>
          <p:cNvPr id="8" name="behavior-head-1"/>
          <p:cNvSpPr>
            <a:spLocks noGrp="1"/>
          </p:cNvSpPr>
          <p:nvPr/>
        </p:nvSpPr>
        <p:spPr>
          <a:xfrm>
            <a:off x="2505075" y="1885950"/>
            <a:ext cx="2657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核心问题</a:t>
            </a:r>
            <a:endParaRPr sz="17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behavior-head-bg-2"/>
          <p:cNvSpPr>
            <a:spLocks noGrp="1"/>
          </p:cNvSpPr>
          <p:nvPr/>
        </p:nvSpPr>
        <p:spPr>
          <a:xfrm>
            <a:off x="5334000" y="1752600"/>
            <a:ext cx="2619375" cy="590550"/>
          </a:xfrm>
          <a:prstGeom prst="rect">
            <a:avLst/>
          </a:prstGeom>
          <a:solidFill>
            <a:srgbClr val="E8E8E8"/>
          </a:solidFill>
          <a:ln w="0">
            <a:noFill/>
            <a:prstDash val="solid"/>
          </a:ln>
        </p:spPr>
      </p:sp>
      <p:sp>
        <p:nvSpPr>
          <p:cNvPr id="10" name="behavior-head-2"/>
          <p:cNvSpPr>
            <a:spLocks noGrp="1"/>
          </p:cNvSpPr>
          <p:nvPr/>
        </p:nvSpPr>
        <p:spPr>
          <a:xfrm>
            <a:off x="5505450" y="1885950"/>
            <a:ext cx="22764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触发方式</a:t>
            </a:r>
            <a:endParaRPr sz="17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behavior-head-bg-3"/>
          <p:cNvSpPr>
            <a:spLocks noGrp="1"/>
          </p:cNvSpPr>
          <p:nvPr/>
        </p:nvSpPr>
        <p:spPr>
          <a:xfrm>
            <a:off x="7953375" y="1752600"/>
            <a:ext cx="3838575" cy="590550"/>
          </a:xfrm>
          <a:prstGeom prst="rect">
            <a:avLst/>
          </a:prstGeom>
          <a:solidFill>
            <a:srgbClr val="E8E8E8"/>
          </a:solidFill>
          <a:ln w="0">
            <a:noFill/>
            <a:prstDash val="solid"/>
          </a:ln>
        </p:spPr>
      </p:sp>
      <p:sp>
        <p:nvSpPr>
          <p:cNvPr id="12" name="behavior-head-3"/>
          <p:cNvSpPr>
            <a:spLocks noGrp="1"/>
          </p:cNvSpPr>
          <p:nvPr/>
        </p:nvSpPr>
        <p:spPr>
          <a:xfrm>
            <a:off x="8124825" y="1885950"/>
            <a:ext cx="3495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保持稳定的部分</a:t>
            </a:r>
            <a:endParaRPr sz="17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behavior-cell-bg-0-0"/>
          <p:cNvSpPr>
            <a:spLocks noGrp="1"/>
          </p:cNvSpPr>
          <p:nvPr/>
        </p:nvSpPr>
        <p:spPr>
          <a:xfrm>
            <a:off x="400050" y="2343150"/>
            <a:ext cx="1933575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behavior-cell-0-0"/>
          <p:cNvSpPr>
            <a:spLocks noGrp="1"/>
          </p:cNvSpPr>
          <p:nvPr/>
        </p:nvSpPr>
        <p:spPr>
          <a:xfrm>
            <a:off x="571500" y="2590800"/>
            <a:ext cx="15906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Strategy</a:t>
            </a:r>
            <a:endParaRPr sz="187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behavior-cell-bg-0-1"/>
          <p:cNvSpPr>
            <a:spLocks noGrp="1"/>
          </p:cNvSpPr>
          <p:nvPr/>
        </p:nvSpPr>
        <p:spPr>
          <a:xfrm>
            <a:off x="2333625" y="2343150"/>
            <a:ext cx="3000375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behavior-cell-0-1"/>
          <p:cNvSpPr>
            <a:spLocks noGrp="1"/>
          </p:cNvSpPr>
          <p:nvPr/>
        </p:nvSpPr>
        <p:spPr>
          <a:xfrm>
            <a:off x="2505075" y="2590800"/>
            <a:ext cx="26574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怎样完成？</a:t>
            </a:r>
            <a:endParaRPr sz="17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behavior-cell-bg-0-2"/>
          <p:cNvSpPr>
            <a:spLocks noGrp="1"/>
          </p:cNvSpPr>
          <p:nvPr/>
        </p:nvSpPr>
        <p:spPr>
          <a:xfrm>
            <a:off x="5334000" y="2343150"/>
            <a:ext cx="2619375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behavior-cell-0-2"/>
          <p:cNvSpPr>
            <a:spLocks noGrp="1"/>
          </p:cNvSpPr>
          <p:nvPr/>
        </p:nvSpPr>
        <p:spPr>
          <a:xfrm>
            <a:off x="5505450" y="2590800"/>
            <a:ext cx="22764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调用方 / 配置选择</a:t>
            </a:r>
            <a:endParaRPr sz="17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behavior-cell-bg-0-3"/>
          <p:cNvSpPr>
            <a:spLocks noGrp="1"/>
          </p:cNvSpPr>
          <p:nvPr/>
        </p:nvSpPr>
        <p:spPr>
          <a:xfrm>
            <a:off x="7953375" y="2343150"/>
            <a:ext cx="3838575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behavior-cell-0-3"/>
          <p:cNvSpPr>
            <a:spLocks noGrp="1"/>
          </p:cNvSpPr>
          <p:nvPr/>
        </p:nvSpPr>
        <p:spPr>
          <a:xfrm>
            <a:off x="8124825" y="2590800"/>
            <a:ext cx="34956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实验主流程</a:t>
            </a:r>
            <a:endParaRPr sz="17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behavior-cell-bg-1-0"/>
          <p:cNvSpPr>
            <a:spLocks noGrp="1"/>
          </p:cNvSpPr>
          <p:nvPr/>
        </p:nvSpPr>
        <p:spPr>
          <a:xfrm>
            <a:off x="400050" y="3352800"/>
            <a:ext cx="1933575" cy="10096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behavior-cell-1-0"/>
          <p:cNvSpPr>
            <a:spLocks noGrp="1"/>
          </p:cNvSpPr>
          <p:nvPr/>
        </p:nvSpPr>
        <p:spPr>
          <a:xfrm>
            <a:off x="571500" y="3600450"/>
            <a:ext cx="15906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State</a:t>
            </a:r>
            <a:endParaRPr sz="187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behavior-cell-bg-1-1"/>
          <p:cNvSpPr>
            <a:spLocks noGrp="1"/>
          </p:cNvSpPr>
          <p:nvPr/>
        </p:nvSpPr>
        <p:spPr>
          <a:xfrm>
            <a:off x="2333625" y="3352800"/>
            <a:ext cx="3000375" cy="10096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behavior-cell-1-1"/>
          <p:cNvSpPr>
            <a:spLocks noGrp="1"/>
          </p:cNvSpPr>
          <p:nvPr/>
        </p:nvSpPr>
        <p:spPr>
          <a:xfrm>
            <a:off x="2505075" y="3600450"/>
            <a:ext cx="26574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现在允许做什么？</a:t>
            </a:r>
            <a:endParaRPr sz="17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behavior-cell-bg-1-2"/>
          <p:cNvSpPr>
            <a:spLocks noGrp="1"/>
          </p:cNvSpPr>
          <p:nvPr/>
        </p:nvSpPr>
        <p:spPr>
          <a:xfrm>
            <a:off x="5334000" y="3352800"/>
            <a:ext cx="2619375" cy="10096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behavior-cell-1-2"/>
          <p:cNvSpPr>
            <a:spLocks noGrp="1"/>
          </p:cNvSpPr>
          <p:nvPr/>
        </p:nvSpPr>
        <p:spPr>
          <a:xfrm>
            <a:off x="5505450" y="3600450"/>
            <a:ext cx="22764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内部状态迁移</a:t>
            </a:r>
            <a:endParaRPr sz="17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behavior-cell-bg-1-3"/>
          <p:cNvSpPr>
            <a:spLocks noGrp="1"/>
          </p:cNvSpPr>
          <p:nvPr/>
        </p:nvSpPr>
        <p:spPr>
          <a:xfrm>
            <a:off x="7953375" y="3352800"/>
            <a:ext cx="3838575" cy="10096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8" name="behavior-cell-1-3"/>
          <p:cNvSpPr>
            <a:spLocks noGrp="1"/>
          </p:cNvSpPr>
          <p:nvPr/>
        </p:nvSpPr>
        <p:spPr>
          <a:xfrm>
            <a:off x="8124825" y="3600450"/>
            <a:ext cx="34956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状态判断入口</a:t>
            </a:r>
            <a:endParaRPr sz="17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behavior-cell-bg-2-0"/>
          <p:cNvSpPr>
            <a:spLocks noGrp="1"/>
          </p:cNvSpPr>
          <p:nvPr/>
        </p:nvSpPr>
        <p:spPr>
          <a:xfrm>
            <a:off x="400050" y="4362450"/>
            <a:ext cx="1933575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behavior-cell-2-0"/>
          <p:cNvSpPr>
            <a:spLocks noGrp="1"/>
          </p:cNvSpPr>
          <p:nvPr/>
        </p:nvSpPr>
        <p:spPr>
          <a:xfrm>
            <a:off x="571500" y="4610100"/>
            <a:ext cx="15906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Observer</a:t>
            </a:r>
            <a:endParaRPr sz="187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behavior-cell-bg-2-1"/>
          <p:cNvSpPr>
            <a:spLocks noGrp="1"/>
          </p:cNvSpPr>
          <p:nvPr/>
        </p:nvSpPr>
        <p:spPr>
          <a:xfrm>
            <a:off x="2333625" y="4362450"/>
            <a:ext cx="3000375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2" name="behavior-cell-2-1"/>
          <p:cNvSpPr>
            <a:spLocks noGrp="1"/>
          </p:cNvSpPr>
          <p:nvPr/>
        </p:nvSpPr>
        <p:spPr>
          <a:xfrm>
            <a:off x="2505075" y="4610100"/>
            <a:ext cx="26574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发生后通知谁？</a:t>
            </a:r>
            <a:endParaRPr sz="17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behavior-cell-bg-2-2"/>
          <p:cNvSpPr>
            <a:spLocks noGrp="1"/>
          </p:cNvSpPr>
          <p:nvPr/>
        </p:nvSpPr>
        <p:spPr>
          <a:xfrm>
            <a:off x="5334000" y="4362450"/>
            <a:ext cx="2619375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4" name="behavior-cell-2-2"/>
          <p:cNvSpPr>
            <a:spLocks noGrp="1"/>
          </p:cNvSpPr>
          <p:nvPr/>
        </p:nvSpPr>
        <p:spPr>
          <a:xfrm>
            <a:off x="5505450" y="4610100"/>
            <a:ext cx="22764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事件发布</a:t>
            </a:r>
            <a:endParaRPr sz="17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behavior-cell-bg-2-3"/>
          <p:cNvSpPr>
            <a:spLocks noGrp="1"/>
          </p:cNvSpPr>
          <p:nvPr/>
        </p:nvSpPr>
        <p:spPr>
          <a:xfrm>
            <a:off x="7953375" y="4362450"/>
            <a:ext cx="3838575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6" name="behavior-cell-2-3"/>
          <p:cNvSpPr>
            <a:spLocks noGrp="1"/>
          </p:cNvSpPr>
          <p:nvPr/>
        </p:nvSpPr>
        <p:spPr>
          <a:xfrm>
            <a:off x="8124825" y="4610100"/>
            <a:ext cx="34956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事件产生者</a:t>
            </a:r>
            <a:endParaRPr sz="172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behavior-compare-callout-background"/>
          <p:cNvSpPr>
            <a:spLocks noGrp="1"/>
          </p:cNvSpPr>
          <p:nvPr/>
        </p:nvSpPr>
        <p:spPr>
          <a:xfrm>
            <a:off x="400050" y="565785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38" name="behavior-compare-callout-rail"/>
          <p:cNvSpPr>
            <a:spLocks noGrp="1"/>
          </p:cNvSpPr>
          <p:nvPr/>
        </p:nvSpPr>
        <p:spPr>
          <a:xfrm>
            <a:off x="400050" y="565785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9" name="behavior-compare-callout-text"/>
          <p:cNvSpPr>
            <a:spLocks noGrp="1"/>
          </p:cNvSpPr>
          <p:nvPr/>
        </p:nvSpPr>
        <p:spPr>
          <a:xfrm>
            <a:off x="666750" y="579120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先辨认被封装的变化，再讨论类图长什么样。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section-12"/>
          <p:cNvSpPr>
            <a:spLocks noGrp="1"/>
          </p:cNvSpPr>
          <p:nvPr/>
        </p:nvSpPr>
        <p:spPr>
          <a:xfrm>
            <a:off x="400050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模式组合</a:t>
            </a:r>
            <a:endParaRPr sz="142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itle-12"/>
          <p:cNvSpPr>
            <a:spLocks noGrp="1"/>
          </p:cNvSpPr>
          <p:nvPr/>
        </p:nvSpPr>
        <p:spPr>
          <a:xfrm>
            <a:off x="400050" y="5143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六个模式组合后，每种变化都有自己的落点</a:t>
            </a:r>
            <a:endParaRPr sz="35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header-rule-12"/>
          <p:cNvSpPr>
            <a:spLocks noGrp="1"/>
          </p:cNvSpPr>
          <p:nvPr/>
        </p:nvSpPr>
        <p:spPr>
          <a:xfrm>
            <a:off x="400050" y="1304925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4" name="page-12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129" name="arch-left-line-0"/>
          <p:cNvCxnSpPr/>
          <p:nvPr/>
        </p:nvCxnSpPr>
        <p:spPr>
          <a:xfrm>
            <a:off x="2971800" y="2152650"/>
            <a:ext cx="838200" cy="953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30" name="arch-right-line-0"/>
          <p:cNvCxnSpPr/>
          <p:nvPr/>
        </p:nvCxnSpPr>
        <p:spPr>
          <a:xfrm>
            <a:off x="8572500" y="2152650"/>
            <a:ext cx="647700" cy="953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31" name="arch-left-line-1"/>
          <p:cNvCxnSpPr/>
          <p:nvPr/>
        </p:nvCxnSpPr>
        <p:spPr>
          <a:xfrm>
            <a:off x="2978785" y="3472180"/>
            <a:ext cx="838200" cy="953"/>
          </a:xfrm>
          <a:prstGeom prst="straightConnector1">
            <a:avLst/>
          </a:prstGeom>
          <a:ln w="28575">
            <a:solidFill>
              <a:srgbClr val="F97316"/>
            </a:solidFill>
            <a:prstDash val="solid"/>
          </a:ln>
        </p:spPr>
      </p:cxnSp>
      <p:cxnSp>
        <p:nvCxnSpPr>
          <p:cNvPr id="132" name="arch-right-line-1"/>
          <p:cNvCxnSpPr/>
          <p:nvPr/>
        </p:nvCxnSpPr>
        <p:spPr>
          <a:xfrm>
            <a:off x="8585835" y="3472180"/>
            <a:ext cx="647700" cy="953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33" name="arch-left-line-2"/>
          <p:cNvCxnSpPr/>
          <p:nvPr/>
        </p:nvCxnSpPr>
        <p:spPr>
          <a:xfrm>
            <a:off x="2971800" y="4724400"/>
            <a:ext cx="838200" cy="953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34" name="arch-right-line-2"/>
          <p:cNvCxnSpPr/>
          <p:nvPr/>
        </p:nvCxnSpPr>
        <p:spPr>
          <a:xfrm>
            <a:off x="8572500" y="4724400"/>
            <a:ext cx="647700" cy="953"/>
          </a:xfrm>
          <a:prstGeom prst="straightConnector1">
            <a:avLst/>
          </a:prstGeom>
          <a:ln w="28575">
            <a:solidFill>
              <a:srgbClr val="F97316"/>
            </a:solidFill>
            <a:prstDash val="solid"/>
          </a:ln>
        </p:spPr>
      </p:cxnSp>
      <p:cxnSp>
        <p:nvCxnSpPr>
          <p:cNvPr id="135" name="arch-left-bus"/>
          <p:cNvCxnSpPr/>
          <p:nvPr/>
        </p:nvCxnSpPr>
        <p:spPr>
          <a:xfrm>
            <a:off x="3810000" y="2152650"/>
            <a:ext cx="953" cy="2571750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cxnSp>
        <p:nvCxnSpPr>
          <p:cNvPr id="136" name="arch-left-center"/>
          <p:cNvCxnSpPr/>
          <p:nvPr/>
        </p:nvCxnSpPr>
        <p:spPr>
          <a:xfrm>
            <a:off x="3810000" y="3467100"/>
            <a:ext cx="666750" cy="953"/>
          </a:xfrm>
          <a:prstGeom prst="straightConnector1">
            <a:avLst/>
          </a:prstGeom>
          <a:ln w="28575">
            <a:solidFill>
              <a:srgbClr val="F97316"/>
            </a:solidFill>
            <a:prstDash val="solid"/>
          </a:ln>
        </p:spPr>
      </p:cxnSp>
      <p:cxnSp>
        <p:nvCxnSpPr>
          <p:cNvPr id="137" name="arch-right-center"/>
          <p:cNvCxnSpPr/>
          <p:nvPr/>
        </p:nvCxnSpPr>
        <p:spPr>
          <a:xfrm>
            <a:off x="7715250" y="3467100"/>
            <a:ext cx="857250" cy="953"/>
          </a:xfrm>
          <a:prstGeom prst="straightConnector1">
            <a:avLst/>
          </a:prstGeom>
          <a:ln w="28575">
            <a:solidFill>
              <a:srgbClr val="F97316"/>
            </a:solidFill>
            <a:prstDash val="solid"/>
          </a:ln>
        </p:spPr>
      </p:cxnSp>
      <p:cxnSp>
        <p:nvCxnSpPr>
          <p:cNvPr id="138" name="arch-right-bus"/>
          <p:cNvCxnSpPr/>
          <p:nvPr/>
        </p:nvCxnSpPr>
        <p:spPr>
          <a:xfrm>
            <a:off x="8572500" y="2152650"/>
            <a:ext cx="953" cy="2571750"/>
          </a:xfrm>
          <a:prstGeom prst="straightConnector1">
            <a:avLst/>
          </a:prstGeom>
          <a:ln w="19050">
            <a:solidFill>
              <a:srgbClr val="D1D5DB"/>
            </a:solidFill>
            <a:prstDash val="solid"/>
          </a:ln>
        </p:spPr>
      </p:cxnSp>
      <p:sp>
        <p:nvSpPr>
          <p:cNvPr id="15" name="arch-center-box"/>
          <p:cNvSpPr>
            <a:spLocks noGrp="1"/>
          </p:cNvSpPr>
          <p:nvPr/>
        </p:nvSpPr>
        <p:spPr>
          <a:xfrm>
            <a:off x="4476750" y="2886075"/>
            <a:ext cx="3238500" cy="1162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6" name="arch-center-title"/>
          <p:cNvSpPr>
            <a:spLocks noGrp="1"/>
          </p:cNvSpPr>
          <p:nvPr/>
        </p:nvSpPr>
        <p:spPr>
          <a:xfrm>
            <a:off x="4686300" y="30099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主流程</a:t>
            </a:r>
            <a:endParaRPr sz="25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arch-center-subtitle"/>
          <p:cNvSpPr>
            <a:spLocks noGrp="1"/>
          </p:cNvSpPr>
          <p:nvPr/>
        </p:nvSpPr>
        <p:spPr>
          <a:xfrm>
            <a:off x="4686300" y="337185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E5E7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E5E7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ExperimentRunner</a:t>
            </a:r>
            <a:endParaRPr sz="1575" b="0">
              <a:solidFill>
                <a:srgbClr val="E5E7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arch-factory-box"/>
          <p:cNvSpPr>
            <a:spLocks noGrp="1"/>
          </p:cNvSpPr>
          <p:nvPr/>
        </p:nvSpPr>
        <p:spPr>
          <a:xfrm>
            <a:off x="400050" y="1762125"/>
            <a:ext cx="2571750" cy="7810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arch-factory-title"/>
          <p:cNvSpPr>
            <a:spLocks noGrp="1"/>
          </p:cNvSpPr>
          <p:nvPr/>
        </p:nvSpPr>
        <p:spPr>
          <a:xfrm>
            <a:off x="609600" y="18859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Factory</a:t>
            </a:r>
            <a:endParaRPr sz="18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arch-factory-subtitle"/>
          <p:cNvSpPr>
            <a:spLocks noGrp="1"/>
          </p:cNvSpPr>
          <p:nvPr/>
        </p:nvSpPr>
        <p:spPr>
          <a:xfrm>
            <a:off x="609600" y="22479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创建哪种 Runner</a:t>
            </a:r>
            <a:endParaRPr sz="12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arch-adapter-box"/>
          <p:cNvSpPr>
            <a:spLocks noGrp="1"/>
          </p:cNvSpPr>
          <p:nvPr/>
        </p:nvSpPr>
        <p:spPr>
          <a:xfrm>
            <a:off x="407035" y="3081655"/>
            <a:ext cx="2571750" cy="781050"/>
          </a:xfrm>
          <a:prstGeom prst="rect">
            <a:avLst/>
          </a:prstGeom>
          <a:solidFill>
            <a:srgbClr val="FFF4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arch-adapter-accent"/>
          <p:cNvSpPr>
            <a:spLocks noGrp="1"/>
          </p:cNvSpPr>
          <p:nvPr/>
        </p:nvSpPr>
        <p:spPr>
          <a:xfrm>
            <a:off x="407035" y="3081655"/>
            <a:ext cx="66675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23" name="arch-adapter-title"/>
          <p:cNvSpPr>
            <a:spLocks noGrp="1"/>
          </p:cNvSpPr>
          <p:nvPr/>
        </p:nvSpPr>
        <p:spPr>
          <a:xfrm>
            <a:off x="616585" y="320548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Adapter</a:t>
            </a:r>
            <a:endParaRPr sz="18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arch-adapter-subtitle"/>
          <p:cNvSpPr>
            <a:spLocks noGrp="1"/>
          </p:cNvSpPr>
          <p:nvPr/>
        </p:nvSpPr>
        <p:spPr>
          <a:xfrm>
            <a:off x="616585" y="356743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接入外部数据</a:t>
            </a:r>
            <a:endParaRPr sz="12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arch-decorator-box"/>
          <p:cNvSpPr>
            <a:spLocks noGrp="1"/>
          </p:cNvSpPr>
          <p:nvPr/>
        </p:nvSpPr>
        <p:spPr>
          <a:xfrm>
            <a:off x="400050" y="4333875"/>
            <a:ext cx="2571750" cy="7810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arch-decorator-title"/>
          <p:cNvSpPr>
            <a:spLocks noGrp="1"/>
          </p:cNvSpPr>
          <p:nvPr/>
        </p:nvSpPr>
        <p:spPr>
          <a:xfrm>
            <a:off x="609600" y="44577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Decorator</a:t>
            </a:r>
            <a:endParaRPr sz="18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arch-decorator-subtitle"/>
          <p:cNvSpPr>
            <a:spLocks noGrp="1"/>
          </p:cNvSpPr>
          <p:nvPr/>
        </p:nvSpPr>
        <p:spPr>
          <a:xfrm>
            <a:off x="609600" y="48196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叠加缓存与重试</a:t>
            </a:r>
            <a:endParaRPr sz="12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arch-strategy-box"/>
          <p:cNvSpPr>
            <a:spLocks noGrp="1"/>
          </p:cNvSpPr>
          <p:nvPr/>
        </p:nvSpPr>
        <p:spPr>
          <a:xfrm>
            <a:off x="9220200" y="1762125"/>
            <a:ext cx="2571750" cy="7810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9" name="arch-strategy-title"/>
          <p:cNvSpPr>
            <a:spLocks noGrp="1"/>
          </p:cNvSpPr>
          <p:nvPr/>
        </p:nvSpPr>
        <p:spPr>
          <a:xfrm>
            <a:off x="9429750" y="18859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Strategy</a:t>
            </a:r>
            <a:endParaRPr sz="18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arch-strategy-subtitle"/>
          <p:cNvSpPr>
            <a:spLocks noGrp="1"/>
          </p:cNvSpPr>
          <p:nvPr/>
        </p:nvSpPr>
        <p:spPr>
          <a:xfrm>
            <a:off x="9429750" y="22479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替换训练算法</a:t>
            </a:r>
            <a:endParaRPr sz="12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arch-state-box"/>
          <p:cNvSpPr>
            <a:spLocks noGrp="1"/>
          </p:cNvSpPr>
          <p:nvPr/>
        </p:nvSpPr>
        <p:spPr>
          <a:xfrm>
            <a:off x="9233535" y="3081655"/>
            <a:ext cx="2571750" cy="7810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2" name="arch-state-title"/>
          <p:cNvSpPr>
            <a:spLocks noGrp="1"/>
          </p:cNvSpPr>
          <p:nvPr/>
        </p:nvSpPr>
        <p:spPr>
          <a:xfrm>
            <a:off x="9443085" y="320548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State</a:t>
            </a:r>
            <a:endParaRPr sz="18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arch-state-subtitle"/>
          <p:cNvSpPr>
            <a:spLocks noGrp="1"/>
          </p:cNvSpPr>
          <p:nvPr/>
        </p:nvSpPr>
        <p:spPr>
          <a:xfrm>
            <a:off x="9443085" y="356743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管理生命周期</a:t>
            </a:r>
            <a:endParaRPr sz="12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arch-observer-box"/>
          <p:cNvSpPr>
            <a:spLocks noGrp="1"/>
          </p:cNvSpPr>
          <p:nvPr/>
        </p:nvSpPr>
        <p:spPr>
          <a:xfrm>
            <a:off x="9220200" y="4333875"/>
            <a:ext cx="2571750" cy="781050"/>
          </a:xfrm>
          <a:prstGeom prst="rect">
            <a:avLst/>
          </a:prstGeom>
          <a:solidFill>
            <a:srgbClr val="FFF4EB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5" name="arch-observer-accent"/>
          <p:cNvSpPr>
            <a:spLocks noGrp="1"/>
          </p:cNvSpPr>
          <p:nvPr/>
        </p:nvSpPr>
        <p:spPr>
          <a:xfrm>
            <a:off x="9220200" y="4333875"/>
            <a:ext cx="66675" cy="7810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36" name="arch-observer-title"/>
          <p:cNvSpPr>
            <a:spLocks noGrp="1"/>
          </p:cNvSpPr>
          <p:nvPr/>
        </p:nvSpPr>
        <p:spPr>
          <a:xfrm>
            <a:off x="9429750" y="44577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Observer</a:t>
            </a:r>
            <a:endParaRPr sz="18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arch-observer-subtitle"/>
          <p:cNvSpPr>
            <a:spLocks noGrp="1"/>
          </p:cNvSpPr>
          <p:nvPr/>
        </p:nvSpPr>
        <p:spPr>
          <a:xfrm>
            <a:off x="9429750" y="48196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扩展完成动作</a:t>
            </a:r>
            <a:endParaRPr sz="120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architecture-callout-background"/>
          <p:cNvSpPr>
            <a:spLocks noGrp="1"/>
          </p:cNvSpPr>
          <p:nvPr/>
        </p:nvSpPr>
        <p:spPr>
          <a:xfrm>
            <a:off x="400050" y="565785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39" name="architecture-callout-rail"/>
          <p:cNvSpPr>
            <a:spLocks noGrp="1"/>
          </p:cNvSpPr>
          <p:nvPr/>
        </p:nvSpPr>
        <p:spPr>
          <a:xfrm>
            <a:off x="400050" y="565785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0" name="architecture-callout-text"/>
          <p:cNvSpPr>
            <a:spLocks noGrp="1"/>
          </p:cNvSpPr>
          <p:nvPr/>
        </p:nvSpPr>
        <p:spPr>
          <a:xfrm>
            <a:off x="666750" y="579120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一个需求先定位变化轴，再落到对应的扩展点。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" name="section-13"/>
          <p:cNvSpPr>
            <a:spLocks noGrp="1"/>
          </p:cNvSpPr>
          <p:nvPr/>
        </p:nvSpPr>
        <p:spPr>
          <a:xfrm>
            <a:off x="400050" y="2286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验证设计</a:t>
            </a:r>
            <a:endParaRPr sz="142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title-13"/>
          <p:cNvSpPr>
            <a:spLocks noGrp="1"/>
          </p:cNvSpPr>
          <p:nvPr/>
        </p:nvSpPr>
        <p:spPr>
          <a:xfrm>
            <a:off x="400050" y="514350"/>
            <a:ext cx="113919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新需求仍会改代码，但修改落在可预期的位置</a:t>
            </a:r>
            <a:endParaRPr sz="35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header-rule-13"/>
          <p:cNvSpPr>
            <a:spLocks noGrp="1"/>
          </p:cNvSpPr>
          <p:nvPr/>
        </p:nvSpPr>
        <p:spPr>
          <a:xfrm>
            <a:off x="400050" y="1304925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4" name="page-13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impact-head-bg-0"/>
          <p:cNvSpPr>
            <a:spLocks noGrp="1"/>
          </p:cNvSpPr>
          <p:nvPr/>
        </p:nvSpPr>
        <p:spPr>
          <a:xfrm>
            <a:off x="400050" y="1666875"/>
            <a:ext cx="4000500" cy="533400"/>
          </a:xfrm>
          <a:prstGeom prst="rect">
            <a:avLst/>
          </a:prstGeom>
          <a:solidFill>
            <a:srgbClr val="E8E8E8"/>
          </a:solidFill>
          <a:ln w="0">
            <a:noFill/>
            <a:prstDash val="solid"/>
          </a:ln>
        </p:spPr>
      </p:sp>
      <p:sp>
        <p:nvSpPr>
          <p:cNvPr id="6" name="impact-head-0"/>
          <p:cNvSpPr>
            <a:spLocks noGrp="1"/>
          </p:cNvSpPr>
          <p:nvPr/>
        </p:nvSpPr>
        <p:spPr>
          <a:xfrm>
            <a:off x="571500" y="1790700"/>
            <a:ext cx="3657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新需求</a:t>
            </a:r>
            <a:endParaRPr sz="17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impact-head-bg-1"/>
          <p:cNvSpPr>
            <a:spLocks noGrp="1"/>
          </p:cNvSpPr>
          <p:nvPr/>
        </p:nvSpPr>
        <p:spPr>
          <a:xfrm>
            <a:off x="4400550" y="1666875"/>
            <a:ext cx="3124200" cy="53340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8" name="impact-head-1"/>
          <p:cNvSpPr>
            <a:spLocks noGrp="1"/>
          </p:cNvSpPr>
          <p:nvPr/>
        </p:nvSpPr>
        <p:spPr>
          <a:xfrm>
            <a:off x="4572000" y="1790700"/>
            <a:ext cx="2781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扩展点</a:t>
            </a:r>
            <a:endParaRPr sz="1725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impact-head-bg-2"/>
          <p:cNvSpPr>
            <a:spLocks noGrp="1"/>
          </p:cNvSpPr>
          <p:nvPr/>
        </p:nvSpPr>
        <p:spPr>
          <a:xfrm>
            <a:off x="7524750" y="1666875"/>
            <a:ext cx="4267200" cy="533400"/>
          </a:xfrm>
          <a:prstGeom prst="rect">
            <a:avLst/>
          </a:prstGeom>
          <a:solidFill>
            <a:srgbClr val="E8E8E8"/>
          </a:solidFill>
          <a:ln w="0">
            <a:noFill/>
            <a:prstDash val="solid"/>
          </a:ln>
        </p:spPr>
      </p:sp>
      <p:sp>
        <p:nvSpPr>
          <p:cNvPr id="10" name="impact-head-2"/>
          <p:cNvSpPr>
            <a:spLocks noGrp="1"/>
          </p:cNvSpPr>
          <p:nvPr/>
        </p:nvSpPr>
        <p:spPr>
          <a:xfrm>
            <a:off x="7696200" y="1790700"/>
            <a:ext cx="3924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修改范围</a:t>
            </a:r>
            <a:endParaRPr sz="172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impact-bg-0-0"/>
          <p:cNvSpPr>
            <a:spLocks noGrp="1"/>
          </p:cNvSpPr>
          <p:nvPr/>
        </p:nvSpPr>
        <p:spPr>
          <a:xfrm>
            <a:off x="400050" y="2200275"/>
            <a:ext cx="4000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impact-cell-0-0"/>
          <p:cNvSpPr>
            <a:spLocks noGrp="1"/>
          </p:cNvSpPr>
          <p:nvPr/>
        </p:nvSpPr>
        <p:spPr>
          <a:xfrm>
            <a:off x="571500" y="2324100"/>
            <a:ext cx="3657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增加云端运行器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impact-bg-0-1"/>
          <p:cNvSpPr>
            <a:spLocks noGrp="1"/>
          </p:cNvSpPr>
          <p:nvPr/>
        </p:nvSpPr>
        <p:spPr>
          <a:xfrm>
            <a:off x="4400550" y="2200275"/>
            <a:ext cx="31242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impact-cell-0-1"/>
          <p:cNvSpPr>
            <a:spLocks noGrp="1"/>
          </p:cNvSpPr>
          <p:nvPr/>
        </p:nvSpPr>
        <p:spPr>
          <a:xfrm>
            <a:off x="4572000" y="232410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Factory</a:t>
            </a:r>
            <a:endParaRPr sz="165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impact-bg-0-2"/>
          <p:cNvSpPr>
            <a:spLocks noGrp="1"/>
          </p:cNvSpPr>
          <p:nvPr/>
        </p:nvSpPr>
        <p:spPr>
          <a:xfrm>
            <a:off x="7524750" y="2200275"/>
            <a:ext cx="42672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impact-cell-0-2"/>
          <p:cNvSpPr>
            <a:spLocks noGrp="1"/>
          </p:cNvSpPr>
          <p:nvPr/>
        </p:nvSpPr>
        <p:spPr>
          <a:xfrm>
            <a:off x="7696200" y="23241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新增 Runner 实现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impact-bg-1-0"/>
          <p:cNvSpPr>
            <a:spLocks noGrp="1"/>
          </p:cNvSpPr>
          <p:nvPr/>
        </p:nvSpPr>
        <p:spPr>
          <a:xfrm>
            <a:off x="400050" y="2752725"/>
            <a:ext cx="4000500" cy="5524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impact-cell-1-0"/>
          <p:cNvSpPr>
            <a:spLocks noGrp="1"/>
          </p:cNvSpPr>
          <p:nvPr/>
        </p:nvSpPr>
        <p:spPr>
          <a:xfrm>
            <a:off x="571500" y="2876550"/>
            <a:ext cx="3657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接入对象存储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impact-bg-1-1"/>
          <p:cNvSpPr>
            <a:spLocks noGrp="1"/>
          </p:cNvSpPr>
          <p:nvPr/>
        </p:nvSpPr>
        <p:spPr>
          <a:xfrm>
            <a:off x="4400550" y="2752725"/>
            <a:ext cx="3124200" cy="5524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impact-cell-1-1"/>
          <p:cNvSpPr>
            <a:spLocks noGrp="1"/>
          </p:cNvSpPr>
          <p:nvPr/>
        </p:nvSpPr>
        <p:spPr>
          <a:xfrm>
            <a:off x="4572000" y="28765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Adapter</a:t>
            </a:r>
            <a:endParaRPr sz="165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impact-bg-1-2"/>
          <p:cNvSpPr>
            <a:spLocks noGrp="1"/>
          </p:cNvSpPr>
          <p:nvPr/>
        </p:nvSpPr>
        <p:spPr>
          <a:xfrm>
            <a:off x="7524750" y="2752725"/>
            <a:ext cx="4267200" cy="5524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impact-cell-1-2"/>
          <p:cNvSpPr>
            <a:spLocks noGrp="1"/>
          </p:cNvSpPr>
          <p:nvPr/>
        </p:nvSpPr>
        <p:spPr>
          <a:xfrm>
            <a:off x="7696200" y="287655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新增接口适配器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impact-bg-2-0"/>
          <p:cNvSpPr>
            <a:spLocks noGrp="1"/>
          </p:cNvSpPr>
          <p:nvPr/>
        </p:nvSpPr>
        <p:spPr>
          <a:xfrm>
            <a:off x="400050" y="3305175"/>
            <a:ext cx="4000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4" name="impact-cell-2-0"/>
          <p:cNvSpPr>
            <a:spLocks noGrp="1"/>
          </p:cNvSpPr>
          <p:nvPr/>
        </p:nvSpPr>
        <p:spPr>
          <a:xfrm>
            <a:off x="571500" y="3429000"/>
            <a:ext cx="3657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加入失败重试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impact-bg-2-1"/>
          <p:cNvSpPr>
            <a:spLocks noGrp="1"/>
          </p:cNvSpPr>
          <p:nvPr/>
        </p:nvSpPr>
        <p:spPr>
          <a:xfrm>
            <a:off x="4400550" y="3305175"/>
            <a:ext cx="31242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impact-cell-2-1"/>
          <p:cNvSpPr>
            <a:spLocks noGrp="1"/>
          </p:cNvSpPr>
          <p:nvPr/>
        </p:nvSpPr>
        <p:spPr>
          <a:xfrm>
            <a:off x="4572000" y="342900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Decorator</a:t>
            </a:r>
            <a:endParaRPr sz="165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impact-bg-2-2"/>
          <p:cNvSpPr>
            <a:spLocks noGrp="1"/>
          </p:cNvSpPr>
          <p:nvPr/>
        </p:nvSpPr>
        <p:spPr>
          <a:xfrm>
            <a:off x="7524750" y="3305175"/>
            <a:ext cx="42672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8" name="impact-cell-2-2"/>
          <p:cNvSpPr>
            <a:spLocks noGrp="1"/>
          </p:cNvSpPr>
          <p:nvPr/>
        </p:nvSpPr>
        <p:spPr>
          <a:xfrm>
            <a:off x="7696200" y="34290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新增包装层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impact-bg-3-0"/>
          <p:cNvSpPr>
            <a:spLocks noGrp="1"/>
          </p:cNvSpPr>
          <p:nvPr/>
        </p:nvSpPr>
        <p:spPr>
          <a:xfrm>
            <a:off x="400050" y="3857625"/>
            <a:ext cx="4000500" cy="5524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impact-cell-3-0"/>
          <p:cNvSpPr>
            <a:spLocks noGrp="1"/>
          </p:cNvSpPr>
          <p:nvPr/>
        </p:nvSpPr>
        <p:spPr>
          <a:xfrm>
            <a:off x="571500" y="3981450"/>
            <a:ext cx="3657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增加训练算法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impact-bg-3-1"/>
          <p:cNvSpPr>
            <a:spLocks noGrp="1"/>
          </p:cNvSpPr>
          <p:nvPr/>
        </p:nvSpPr>
        <p:spPr>
          <a:xfrm>
            <a:off x="4400550" y="3857625"/>
            <a:ext cx="3124200" cy="5524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2" name="impact-cell-3-1"/>
          <p:cNvSpPr>
            <a:spLocks noGrp="1"/>
          </p:cNvSpPr>
          <p:nvPr/>
        </p:nvSpPr>
        <p:spPr>
          <a:xfrm>
            <a:off x="4572000" y="39814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Strategy</a:t>
            </a:r>
            <a:endParaRPr sz="165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impact-bg-3-2"/>
          <p:cNvSpPr>
            <a:spLocks noGrp="1"/>
          </p:cNvSpPr>
          <p:nvPr/>
        </p:nvSpPr>
        <p:spPr>
          <a:xfrm>
            <a:off x="7524750" y="3857625"/>
            <a:ext cx="4267200" cy="5524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4" name="impact-cell-3-2"/>
          <p:cNvSpPr>
            <a:spLocks noGrp="1"/>
          </p:cNvSpPr>
          <p:nvPr/>
        </p:nvSpPr>
        <p:spPr>
          <a:xfrm>
            <a:off x="7696200" y="398145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新增算法实现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impact-bg-4-0"/>
          <p:cNvSpPr>
            <a:spLocks noGrp="1"/>
          </p:cNvSpPr>
          <p:nvPr/>
        </p:nvSpPr>
        <p:spPr>
          <a:xfrm>
            <a:off x="400050" y="4410075"/>
            <a:ext cx="4000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6" name="impact-cell-4-0"/>
          <p:cNvSpPr>
            <a:spLocks noGrp="1"/>
          </p:cNvSpPr>
          <p:nvPr/>
        </p:nvSpPr>
        <p:spPr>
          <a:xfrm>
            <a:off x="571500" y="4533900"/>
            <a:ext cx="3657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增加暂停状态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impact-bg-4-1"/>
          <p:cNvSpPr>
            <a:spLocks noGrp="1"/>
          </p:cNvSpPr>
          <p:nvPr/>
        </p:nvSpPr>
        <p:spPr>
          <a:xfrm>
            <a:off x="4400550" y="4410075"/>
            <a:ext cx="31242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8" name="impact-cell-4-1"/>
          <p:cNvSpPr>
            <a:spLocks noGrp="1"/>
          </p:cNvSpPr>
          <p:nvPr/>
        </p:nvSpPr>
        <p:spPr>
          <a:xfrm>
            <a:off x="4572000" y="453390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State</a:t>
            </a:r>
            <a:endParaRPr sz="165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impact-bg-4-2"/>
          <p:cNvSpPr>
            <a:spLocks noGrp="1"/>
          </p:cNvSpPr>
          <p:nvPr/>
        </p:nvSpPr>
        <p:spPr>
          <a:xfrm>
            <a:off x="7524750" y="4410075"/>
            <a:ext cx="42672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0" name="impact-cell-4-2"/>
          <p:cNvSpPr>
            <a:spLocks noGrp="1"/>
          </p:cNvSpPr>
          <p:nvPr/>
        </p:nvSpPr>
        <p:spPr>
          <a:xfrm>
            <a:off x="7696200" y="45339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扩展状态与迁移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impact-bg-5-0"/>
          <p:cNvSpPr>
            <a:spLocks noGrp="1"/>
          </p:cNvSpPr>
          <p:nvPr/>
        </p:nvSpPr>
        <p:spPr>
          <a:xfrm>
            <a:off x="400050" y="4962525"/>
            <a:ext cx="4000500" cy="5524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2" name="impact-cell-5-0"/>
          <p:cNvSpPr>
            <a:spLocks noGrp="1"/>
          </p:cNvSpPr>
          <p:nvPr/>
        </p:nvSpPr>
        <p:spPr>
          <a:xfrm>
            <a:off x="571500" y="5086350"/>
            <a:ext cx="3657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增加消息通知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impact-bg-5-1"/>
          <p:cNvSpPr>
            <a:spLocks noGrp="1"/>
          </p:cNvSpPr>
          <p:nvPr/>
        </p:nvSpPr>
        <p:spPr>
          <a:xfrm>
            <a:off x="4400550" y="4962525"/>
            <a:ext cx="3124200" cy="5524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4" name="impact-cell-5-1"/>
          <p:cNvSpPr>
            <a:spLocks noGrp="1"/>
          </p:cNvSpPr>
          <p:nvPr/>
        </p:nvSpPr>
        <p:spPr>
          <a:xfrm>
            <a:off x="4572000" y="5086350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Observer</a:t>
            </a:r>
            <a:endParaRPr sz="165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impact-bg-5-2"/>
          <p:cNvSpPr>
            <a:spLocks noGrp="1"/>
          </p:cNvSpPr>
          <p:nvPr/>
        </p:nvSpPr>
        <p:spPr>
          <a:xfrm>
            <a:off x="7524750" y="4962525"/>
            <a:ext cx="4267200" cy="552450"/>
          </a:xfrm>
          <a:prstGeom prst="rect">
            <a:avLst/>
          </a:prstGeom>
          <a:solidFill>
            <a:srgbClr val="F2F2F2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6" name="impact-cell-5-2"/>
          <p:cNvSpPr>
            <a:spLocks noGrp="1"/>
          </p:cNvSpPr>
          <p:nvPr/>
        </p:nvSpPr>
        <p:spPr>
          <a:xfrm>
            <a:off x="7696200" y="508635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新增订阅者</a:t>
            </a:r>
            <a:endParaRPr sz="1650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impact-callout-background"/>
          <p:cNvSpPr>
            <a:spLocks noGrp="1"/>
          </p:cNvSpPr>
          <p:nvPr/>
        </p:nvSpPr>
        <p:spPr>
          <a:xfrm>
            <a:off x="400050" y="5657850"/>
            <a:ext cx="11391900" cy="704850"/>
          </a:xfrm>
          <a:prstGeom prst="rect">
            <a:avLst/>
          </a:prstGeom>
          <a:solidFill>
            <a:srgbClr val="FFF4EB"/>
          </a:solidFill>
          <a:ln w="0">
            <a:noFill/>
            <a:prstDash val="solid"/>
          </a:ln>
        </p:spPr>
      </p:sp>
      <p:sp>
        <p:nvSpPr>
          <p:cNvPr id="48" name="impact-callout-rail"/>
          <p:cNvSpPr>
            <a:spLocks noGrp="1"/>
          </p:cNvSpPr>
          <p:nvPr/>
        </p:nvSpPr>
        <p:spPr>
          <a:xfrm>
            <a:off x="400050" y="5657850"/>
            <a:ext cx="66675" cy="704850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49" name="impact-callout-text"/>
          <p:cNvSpPr>
            <a:spLocks noGrp="1"/>
          </p:cNvSpPr>
          <p:nvPr/>
        </p:nvSpPr>
        <p:spPr>
          <a:xfrm>
            <a:off x="666750" y="5791200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评价设计时，关注修改半径，而不是使用了多少个模式。</a:t>
            </a:r>
            <a:endParaRPr sz="22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closing-eyebrow"/>
          <p:cNvSpPr>
            <a:spLocks noGrp="1"/>
          </p:cNvSpPr>
          <p:nvPr/>
        </p:nvSpPr>
        <p:spPr>
          <a:xfrm>
            <a:off x="400050" y="4000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最后带走三个问题</a:t>
            </a:r>
            <a:endParaRPr sz="165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closing-title"/>
          <p:cNvSpPr>
            <a:spLocks noGrp="1"/>
          </p:cNvSpPr>
          <p:nvPr/>
        </p:nvSpPr>
        <p:spPr>
          <a:xfrm>
            <a:off x="400050" y="1066800"/>
            <a:ext cx="113919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5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5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模式的价值，是让变化发生在可预期的位置</a:t>
            </a:r>
            <a:endParaRPr sz="45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closing-rule"/>
          <p:cNvSpPr>
            <a:spLocks noGrp="1"/>
          </p:cNvSpPr>
          <p:nvPr/>
        </p:nvSpPr>
        <p:spPr>
          <a:xfrm>
            <a:off x="400050" y="2381250"/>
            <a:ext cx="11391900" cy="9525"/>
          </a:xfrm>
          <a:prstGeom prst="rect">
            <a:avLst/>
          </a:prstGeom>
          <a:solidFill>
            <a:srgbClr val="D1D5DB"/>
          </a:solidFill>
          <a:ln w="0">
            <a:noFill/>
            <a:prstDash val="solid"/>
          </a:ln>
        </p:spPr>
      </p:sp>
      <p:sp>
        <p:nvSpPr>
          <p:cNvPr id="4" name="closing-no-0"/>
          <p:cNvSpPr>
            <a:spLocks noGrp="1"/>
          </p:cNvSpPr>
          <p:nvPr/>
        </p:nvSpPr>
        <p:spPr>
          <a:xfrm>
            <a:off x="400050" y="2905125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0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300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closing-q-0"/>
          <p:cNvSpPr>
            <a:spLocks noGrp="1"/>
          </p:cNvSpPr>
          <p:nvPr/>
        </p:nvSpPr>
        <p:spPr>
          <a:xfrm>
            <a:off x="1428750" y="2905125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变化在哪里？</a:t>
            </a:r>
            <a:endParaRPr sz="25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closing-no-1"/>
          <p:cNvSpPr>
            <a:spLocks noGrp="1"/>
          </p:cNvSpPr>
          <p:nvPr/>
        </p:nvSpPr>
        <p:spPr>
          <a:xfrm>
            <a:off x="400050" y="3762375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0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30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closing-q-1"/>
          <p:cNvSpPr>
            <a:spLocks noGrp="1"/>
          </p:cNvSpPr>
          <p:nvPr/>
        </p:nvSpPr>
        <p:spPr>
          <a:xfrm>
            <a:off x="1428750" y="3762375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谁应该拥有它？</a:t>
            </a:r>
            <a:endParaRPr sz="25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closing-no-2"/>
          <p:cNvSpPr>
            <a:spLocks noGrp="1"/>
          </p:cNvSpPr>
          <p:nvPr/>
        </p:nvSpPr>
        <p:spPr>
          <a:xfrm>
            <a:off x="400050" y="4619625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0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300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closing-q-2"/>
          <p:cNvSpPr>
            <a:spLocks noGrp="1"/>
          </p:cNvSpPr>
          <p:nvPr/>
        </p:nvSpPr>
        <p:spPr>
          <a:xfrm>
            <a:off x="1428750" y="4619625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新增变化时，核心流程要改吗？</a:t>
            </a:r>
            <a:endParaRPr sz="25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closing-patterns"/>
          <p:cNvSpPr>
            <a:spLocks noGrp="1"/>
          </p:cNvSpPr>
          <p:nvPr/>
        </p:nvSpPr>
        <p:spPr>
          <a:xfrm>
            <a:off x="400050" y="590550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Factory  ·  Adapter  ·  Decorator  ·  Strategy  ·  State  ·  Observer</a:t>
            </a:r>
            <a:endParaRPr sz="16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closing-page"/>
          <p:cNvSpPr>
            <a:spLocks noGrp="1"/>
          </p:cNvSpPr>
          <p:nvPr/>
        </p:nvSpPr>
        <p:spPr>
          <a:xfrm>
            <a:off x="11334750" y="64960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B72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22</a:t>
            </a:r>
            <a:endParaRPr sz="1050" b="0">
              <a:solidFill>
                <a:srgbClr val="6B72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ags/tag2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ags/tag3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ags/tag4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ags/tag5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ags/tag6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ags/tag7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ags/tag8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ags/tag9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ags/tag10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ags/tag11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ags/tag12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ags/tag13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ags/tag14.xml><?xml version="1.0" encoding="utf-8"?>
<p:tagLst xmlns:p="http://schemas.openxmlformats.org/presentationml/2006/main">
  <p:tag name="KSO_WM_DIAGRAM_VIRTUALLY_FRAME" val="{&quot;height&quot;:237,&quot;left&quot;:485.65,&quot;top&quot;:165,&quot;width&quot;:399.3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6113</Words>
  <Application>WPS 演示</Application>
  <PresentationFormat>Converted Presentation</PresentationFormat>
  <Paragraphs>769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2" baseType="lpstr">
      <vt:lpstr>Arial</vt:lpstr>
      <vt:lpstr>宋体</vt:lpstr>
      <vt:lpstr>Wingdings</vt:lpstr>
      <vt:lpstr>PingFang SC</vt:lpstr>
      <vt:lpstr>Inter</vt:lpstr>
      <vt:lpstr>Thonburi</vt:lpstr>
      <vt:lpstr>SFMono-Regular</vt:lpstr>
      <vt:lpstr>Atkinson Hyperlegible Mono</vt:lpstr>
      <vt:lpstr>微软雅黑</vt:lpstr>
      <vt:lpstr>微软雅黑</vt:lpstr>
      <vt:lpstr>方正雅意黑 GB18030L2</vt:lpstr>
      <vt:lpstr>Calibri</vt:lpstr>
      <vt:lpstr>Helvetica Neue</vt:lpstr>
      <vt:lpstr>汉仪书宋二KW</vt:lpstr>
      <vt:lpstr>宋体</vt:lpstr>
      <vt:lpstr>Arial Unicode MS</vt:lpstr>
      <vt:lpstr>Atkinson Hyperlegible Mono</vt:lpstr>
      <vt:lpstr>SFMono-Regular</vt:lpstr>
      <vt:lpstr>微软雅黑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曾宏</cp:lastModifiedBy>
  <cp:revision>9</cp:revision>
  <dcterms:created xsi:type="dcterms:W3CDTF">2026-08-18T03:11:09Z</dcterms:created>
  <dcterms:modified xsi:type="dcterms:W3CDTF">2026-08-18T03:11:09Z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B7BF318E403DA07175C8836A3DCD9FB1_42</vt:lpwstr>
  </property>
  <property fmtid="{D5CDD505-2E9C-101B-9397-08002B2CF9AE}" pid="3" name="KSOProductBuildVer">
    <vt:lpwstr>2052-12.1.26046.26046</vt:lpwstr>
  </property>
</Properties>
</file>