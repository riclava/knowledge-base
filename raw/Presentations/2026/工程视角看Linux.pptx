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建议用时：1 分钟。</a:t>
            </a:r>
          </a:p>
          <a:p/>
          <a:p>
            <a:r>
              <a:t>今天不做命令速查，也不追求把 Linux 的每个子系统讲一遍。课程只解决一个问题：遇到模糊故障时，怎样判断下一步最值得查什么。</a:t>
            </a:r>
          </a:p>
          <a:p/>
          <a:p>
            <a:r>
              <a:t>过渡：先用一个看似矛盾的现象开始——CPU 只有 42%，服务却很慢。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01 页，用户提供）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请学生先选择一个动作，并说明这个动作想确认什么。保留两到三种不同答案，不判断对错。</a:t>
            </a:r>
          </a:p>
          <a:p/>
          <a:p>
            <a:r>
              <a:t>继续追问：哪些数字直接说明用户真的感到变慢？CPU 只有 42%，能不能排除系统压力？什么观察结果会让你改变刚才的判断？</a:t>
            </a:r>
          </a:p>
          <a:p/>
          <a:p>
            <a:r>
              <a:t>讲述重点：重启、扩容、看日志、执行 top 和检查网络都不是中性的动作，它们背后隐含着对问题位置和原因的判断。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02 页，用户提供）</a:t>
            </a:r>
          </a:p>
          <a:p/>
          <a:p>
            <a:r>
              <a:t>- https://linux.holdon.work/#chapter-02</a:t>
            </a:r>
          </a:p>
          <a:p/>
          <a:p>
            <a:r>
              <a:t>- https://linux.holdon.work/#chapter-58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让学生把“接口变慢”放到路径最上方，然后问：从用户现象到硬件资源，中间哪些节点能够留下证据？</a:t>
            </a:r>
          </a:p>
          <a:p/>
          <a:p>
            <a:r>
              <a:t>这张图不是 Linux 架构全景，而是一张调查导航图。下一页把这条通用路径落到案例项目。</a:t>
            </a:r>
          </a:p>
          <a:p/>
          <a:p>
            <a:r>
              <a:t>讲述重点：命令的价值在于暴露某个节点的对象或状态。观察运行问题时，持续追问对象、状态和边界。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03 页，用户提供）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建议用时：2 分钟。</a:t>
            </a:r>
          </a:p>
          <a:p/>
          <a:p>
            <a:r>
              <a:t>把上一页的通用运行路径落到本课程的案例项目：在线请求经过接入层和在线服务，后台任务由定时任务启动；两条路径都会留下进程、Socket、FD、文件与资源证据。</a:t>
            </a:r>
          </a:p>
          <a:p/>
          <a:p>
            <a:r>
              <a:t>这一页只建立中性的项目地图，不提前指出故障位置。后面的存储案例沿下方路径逐步收敛，端口迁移题沿上方路径定位监听 Socket。</a:t>
            </a:r>
          </a:p>
          <a:p/>
          <a:p>
            <a:r>
              <a:t>讲述重点：逻辑架构帮助我们知道有哪些责任对象；Linux 运行时证据帮助我们判断对象此刻处于什么状态。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/Users/ricl/github.com/riclava/knowledge-base/raw/Presentations/2026/工程视角看Linux.md（综合第 03、12、14 页，用户提供）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建议用时：3 分钟。</a:t>
            </a:r>
          </a:p>
          <a:p/>
          <a:p>
            <a:r>
              <a:t>回到项目地图，给出“CPU 高”“磁盘慢”“端口占用”三个现象，让学生回答：最终是否都需要落到具体进程或服务？</a:t>
            </a:r>
          </a:p>
          <a:p/>
          <a:p>
            <a:r>
              <a:t>进程把运行现象和责任对象连接起来。一个进程同时拥有身份、父子关系、地址空间、FD 与网络连接，以及当前状态。</a:t>
            </a:r>
          </a:p>
          <a:p/>
          <a:p>
            <a:r>
              <a:t>这里不要求学生背进程状态码，只要求知道：状态描述进程此刻能否继续推进，以及它可能在等待什么。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04 页，用户提供）</a:t>
            </a:r>
          </a:p>
          <a:p/>
          <a:p>
            <a:r>
              <a:t>- https://linux.holdon.work/#chapter-08</a:t>
            </a:r>
          </a:p>
          <a:p/>
          <a:p>
            <a:r>
              <a:t>- https://linux.holdon.work/#chapter-09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现场运行两个短命令。让学生先预测标准输出、标准错误和终端分别会对应哪些 FD，再观察结果。</a:t>
            </a:r>
          </a:p>
          <a:p/>
          <a:p>
            <a:r>
              <a:t>应用日志解释业务语义；FD 和系统调用解释进程正在操作什么、在哪里等待。不要把 strace 讲成万能工具，生产环境还要考虑附加开销和观察范围。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05 页，用户提供）</a:t>
            </a:r>
          </a:p>
          <a:p/>
          <a:p>
            <a:r>
              <a:t>- https://linux.holdon.work/#chapter-41</a:t>
            </a:r>
          </a:p>
          <a:p/>
          <a:p>
            <a:r>
              <a:t>- https://linux.holdon.work/#chapter-53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建议用时：5 分钟。</a:t>
            </a:r>
          </a:p>
          <a:p/>
          <a:p>
            <a:r>
              <a:t>问学生：如果程序可以启动，但只能使用 root、日志写在临时目录、收到停止命令就丢请求，它是否已经可以交付？</a:t>
            </a:r>
          </a:p>
          <a:p/>
          <a:p>
            <a:r>
              <a:t>systemd 为进程补充运行契约。最小权限限制故障与攻击半径；优雅退出让部署、重启和恢复可控。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06 页，用户提供）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让学生把“系统很卡”“内存不够”“网络不好”分别改写成包含对象、范围、时间和指标的问题。</a:t>
            </a:r>
          </a:p>
          <a:p/>
          <a:p>
            <a:r>
              <a:t>先确认用户侧症状，再解释资源侧原因。如果没有可比较的用户指标，后面的优化就没有验收标准。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07 页，用户提供）</a:t>
            </a:r>
          </a:p>
          <a:p/>
          <a:p>
            <a:r>
              <a:t>- https://linux.holdon.work/#chapter-02</a:t>
            </a:r>
          </a:p>
          <a:p/>
          <a:p>
            <a:r>
              <a:t>- https://linux.holdon.work/#chapter-54</a:t>
            </a:r>
          </a:p>
          <a:p/>
          <a:p>
            <a:r>
              <a:t>- https://linux.holdon.work/#chapter-55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把“增加 CPU”作为建议抛给学生：如果真正增加的是 I/O 等待，这个动作为什么可能没有效果？</a:t>
            </a:r>
          </a:p>
          <a:p/>
          <a:p>
            <a:r>
              <a:t>这一页只建立统一模型，不分别展开 CPU、存储、内存和网络指标。后续用存储 I/O 案例把模型走通。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08 页，用户提供）</a:t>
            </a:r>
          </a:p>
          <a:p/>
          <a:p>
            <a:r>
              <a:t>- https://linux.holdon.work/#chapter-56</a:t>
            </a:r>
          </a:p>
          <a:p/>
          <a:p>
            <a:r>
              <a:t>- https://linux.holdon.work/#chapter-57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建议用时：5 分钟。</a:t>
            </a:r>
          </a:p>
          <a:p/>
          <a:p>
            <a:r>
              <a:t>先只展示“8 核、Load 15”，请学生投票 CPU 是否一定满载；再逐行揭示三组联合现象。</a:t>
            </a:r>
          </a:p>
          <a:p/>
          <a:p>
            <a:r>
              <a:t>Linux Load Average 反映可运行任务和不可中断睡眠任务数量的变化。它不是百分比，也不会自动按 CPU 数归一化。单个指标不负责证明根因。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09 页，用户提供）</a:t>
            </a:r>
          </a:p>
          <a:p/>
          <a:p>
            <a:r>
              <a:t>- https://linux.holdon.work/#chapter-03</a:t>
            </a:r>
          </a:p>
          <a:p/>
          <a:p>
            <a:r>
              <a:t>- https://linux.holdon.work/#chapter-09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先给数据，不给答案颜色。让学生把‘用户影响’和‘系统现象’分成两组：延迟、吞吐量、错误率直接描述服务结果；CPU 和 Load 描述运行环境。</a:t>
            </a:r>
          </a:p>
          <a:p/>
          <a:p>
            <a:r>
              <a:t>关键追问：CPU 只有 42%，为什么服务仍然变慢？下一轮证据要回答任务在等待什么，而不是继续堆指标。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10 页，用户提供）</a:t>
            </a:r>
          </a:p>
          <a:p/>
          <a:p>
            <a:r>
              <a:t>- https://linux.holdon.work/#chapter-03</a:t>
            </a:r>
          </a:p>
          <a:p/>
          <a:p>
            <a:r>
              <a:t>- https://linux.holdon.work/#chapter-54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建议用时：5 分钟。</a:t>
            </a:r>
          </a:p>
          <a:p/>
          <a:p>
            <a:r>
              <a:t>逐项加入新证据，强调网络侧没有同步恶化也是证据，它帮助我们缩小调查范围。</a:t>
            </a:r>
          </a:p>
          <a:p/>
          <a:p>
            <a:r>
              <a:t>此时只能形成‘存储路径值得验证’的工作假设，不能把相关性写成唯一根因。下一步要从资源返回到对象和主体：谁在写、写到哪里。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11 页，用户提供）</a:t>
            </a:r>
          </a:p>
          <a:p/>
          <a:p>
            <a:r>
              <a:t>- https://linux.holdon.work/#chapter-09</a:t>
            </a:r>
          </a:p>
          <a:p/>
          <a:p>
            <a:r>
              <a:t>- https://linux.holdon.work/#chapter-25</a:t>
            </a:r>
          </a:p>
          <a:p/>
          <a:p>
            <a:r>
              <a:t>- https://linux.holdon.work/#chapter-26</a:t>
            </a:r>
          </a:p>
          <a:p/>
          <a:p>
            <a:r>
              <a:t>- https://linux.holdon.work/#chapter-28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证据包括四个维度：pidstat 识别 backup-worker 的顺序写；/proc/2718/fd 指向 /data/backup/full.tar；任务比异常早两分钟启动；应用数据和备份共用存储路径。</a:t>
            </a:r>
          </a:p>
          <a:p/>
          <a:p>
            <a:r>
              <a:t>把证据写成可证伪的解释，再做最小验证：暂停备份、保持同样负载、观察结果。暂停必须可恢复，并提前确认业务风险。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12 页，用户提供）</a:t>
            </a:r>
          </a:p>
          <a:p/>
          <a:p>
            <a:r>
              <a:t>- https://linux.holdon.work/#chapter-28</a:t>
            </a:r>
          </a:p>
          <a:p/>
          <a:p>
            <a:r>
              <a:t>- https://linux.holdon.work/#chapter-56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建议用时：4 分钟。</a:t>
            </a:r>
          </a:p>
          <a:p/>
          <a:p>
            <a:r>
              <a:t>复测要求与基线尽量同条件，只改变一个变量。用户指标和系统指标同步改善，才形成更强的因果证据。</a:t>
            </a:r>
          </a:p>
          <a:p/>
          <a:p>
            <a:r>
              <a:t>结论应写到证据能够支持的位置：共享存储竞争已有强证据。永久方案仍需评估备份调度、I/O 限额、独立存储或数据路径隔离，并保留回退路径。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13 页，用户提供）</a:t>
            </a:r>
          </a:p>
          <a:p/>
          <a:p>
            <a:r>
              <a:t>- https://linux.holdon.work/#chapter-56</a:t>
            </a:r>
          </a:p>
          <a:p/>
          <a:p>
            <a:r>
              <a:t>- https://linux.holdon.work/#chapter-57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建议用时：5 分钟。</a:t>
            </a:r>
          </a:p>
          <a:p/>
          <a:p>
            <a:r>
              <a:t>先只展示现场，请学生回答第一条命令。Connection refused 通常意味着目标主动拒绝连接，第一步应确认监听 Socket，而不是先查应用协议。</a:t>
            </a:r>
          </a:p>
          <a:p/>
          <a:p>
            <a:r>
              <a:t>揭示 ss 结果：服务只监听 127.0.0.1:8080。ping 正常只能说明部分网络可达；进程存在不等于监听存在，监听存在也不等于协议正常。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14 页，用户提供）</a:t>
            </a:r>
          </a:p>
          <a:p/>
          <a:p>
            <a:r>
              <a:t>- https://linux.holdon.work/#chapter-34</a:t>
            </a:r>
          </a:p>
          <a:p/>
          <a:p>
            <a:r>
              <a:t>- https://linux.holdon.work/#chapter-35</a:t>
            </a:r>
          </a:p>
          <a:p/>
          <a:p>
            <a:r>
              <a:t>- https://linux.holdon.work/#chapter-41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建议用时：2 分钟。</a:t>
            </a:r>
          </a:p>
          <a:p/>
          <a:p>
            <a:r>
              <a:t>用左侧运行时地图回扣全课：从用户影响出发，经由进程和对象进入内核资源，再沿证据链返回可控动作。</a:t>
            </a:r>
          </a:p>
          <a:p/>
          <a:p>
            <a:r>
              <a:t>收束到五个判断。工具和 AI 可以快速给出命令，但工程师负责定义问题、判断证据强度、控制动作风险，并用复测证明改善。</a:t>
            </a:r>
          </a:p>
          <a:p/>
          <a:p>
            <a:r>
              <a:t>[Sources]</a:t>
            </a:r>
          </a:p>
          <a:p/>
          <a:p>
            <a:r>
              <a:t>- /Users/ricl/github.com/riclava/knowledge-base/raw/Presentations/2026/工程视角看Linux.md（第 15 页，用户提供）</a:t>
            </a:r>
          </a:p>
          <a:p/>
          <a:p>
            <a:r>
              <a:t>- https://linux.holdon.work/#chapter-56</a:t>
            </a:r>
          </a:p>
          <a:p/>
          <a:p>
            <a:r>
              <a:t>- https://linux.holdon.work/#chapter-57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untime-path-connector"/>
          <p:cNvSpPr>
            <a:spLocks noGrp="1"/>
          </p:cNvSpPr>
          <p:nvPr/>
        </p:nvSpPr>
        <p:spPr>
          <a:xfrm>
            <a:off x="7667625" y="609600"/>
            <a:ext cx="3209925" cy="2857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runtime-path-app-node"/>
          <p:cNvSpPr>
            <a:spLocks noGrp="1"/>
          </p:cNvSpPr>
          <p:nvPr/>
        </p:nvSpPr>
        <p:spPr>
          <a:xfrm>
            <a:off x="7562850" y="514350"/>
            <a:ext cx="209550" cy="209550"/>
          </a:xfrm>
          <a:prstGeom prst="ellipse">
            <a:avLst/>
          </a:prstGeom>
          <a:solidFill>
            <a:srgbClr val="162029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3" name="runtime-path-kernel-node"/>
          <p:cNvSpPr>
            <a:spLocks noGrp="1"/>
          </p:cNvSpPr>
          <p:nvPr/>
        </p:nvSpPr>
        <p:spPr>
          <a:xfrm>
            <a:off x="9172575" y="514350"/>
            <a:ext cx="209550" cy="209550"/>
          </a:xfrm>
          <a:prstGeom prst="ellipse">
            <a:avLst/>
          </a:prstGeom>
          <a:solidFill>
            <a:srgbClr val="4ADE80"/>
          </a:solidFill>
          <a:ln w="9525">
            <a:solidFill>
              <a:srgbClr val="A7F3C3"/>
            </a:solidFill>
            <a:prstDash val="solid"/>
          </a:ln>
        </p:spPr>
      </p:sp>
      <p:sp>
        <p:nvSpPr>
          <p:cNvPr id="4" name="runtime-path-hardware-node"/>
          <p:cNvSpPr>
            <a:spLocks noGrp="1"/>
          </p:cNvSpPr>
          <p:nvPr/>
        </p:nvSpPr>
        <p:spPr>
          <a:xfrm>
            <a:off x="10772775" y="514350"/>
            <a:ext cx="209550" cy="209550"/>
          </a:xfrm>
          <a:prstGeom prst="ellipse">
            <a:avLst/>
          </a:prstGeom>
          <a:solidFill>
            <a:srgbClr val="162029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5" name="runtime-path-app-label"/>
          <p:cNvSpPr>
            <a:spLocks noGrp="1"/>
          </p:cNvSpPr>
          <p:nvPr/>
        </p:nvSpPr>
        <p:spPr>
          <a:xfrm>
            <a:off x="7239000" y="800100"/>
            <a:ext cx="85725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693A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</a:t>
            </a:r>
          </a:p>
        </p:txBody>
      </p:sp>
      <p:sp>
        <p:nvSpPr>
          <p:cNvPr id="6" name="runtime-path-kernel-label"/>
          <p:cNvSpPr>
            <a:spLocks noGrp="1"/>
          </p:cNvSpPr>
          <p:nvPr/>
        </p:nvSpPr>
        <p:spPr>
          <a:xfrm>
            <a:off x="8686800" y="800100"/>
            <a:ext cx="11811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Linux 内核</a:t>
            </a:r>
          </a:p>
        </p:txBody>
      </p:sp>
      <p:sp>
        <p:nvSpPr>
          <p:cNvPr id="7" name="runtime-path-hardware-label"/>
          <p:cNvSpPr>
            <a:spLocks noGrp="1"/>
          </p:cNvSpPr>
          <p:nvPr/>
        </p:nvSpPr>
        <p:spPr>
          <a:xfrm>
            <a:off x="10448925" y="800100"/>
            <a:ext cx="85725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693A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硬件</a:t>
            </a:r>
          </a:p>
        </p:txBody>
      </p:sp>
      <p:sp>
        <p:nvSpPr>
          <p:cNvPr id="8" name="cover-eyebrow"/>
          <p:cNvSpPr>
            <a:spLocks noGrp="1"/>
          </p:cNvSpPr>
          <p:nvPr/>
        </p:nvSpPr>
        <p:spPr>
          <a:xfrm>
            <a:off x="393668" y="392240"/>
            <a:ext cx="5702332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67E29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系统化排障入门</a:t>
            </a:r>
          </a:p>
        </p:txBody>
      </p:sp>
      <p:sp>
        <p:nvSpPr>
          <p:cNvPr id="9" name="cover-title"/>
          <p:cNvSpPr>
            <a:spLocks noGrp="1"/>
          </p:cNvSpPr>
          <p:nvPr/>
        </p:nvSpPr>
        <p:spPr>
          <a:xfrm>
            <a:off x="393668" y="1738789"/>
            <a:ext cx="100965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lnSpc>
                <a:spcPct val="90000"/>
              </a:lnSpc>
              <a:buNone/>
              <a:defRPr sz="60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60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工程视角看 </a:t>
            </a:r>
            <a:r>
              <a:rPr sz="60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Linux</a:t>
            </a:r>
            <a:endParaRPr sz="6000" b="1">
              <a:solidFill>
                <a:srgbClr val="4ADE8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cover-subtitle"/>
          <p:cNvSpPr>
            <a:spLocks noGrp="1"/>
          </p:cNvSpPr>
          <p:nvPr/>
        </p:nvSpPr>
        <p:spPr>
          <a:xfrm>
            <a:off x="393668" y="4742212"/>
            <a:ext cx="6286500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20000"/>
              </a:lnSpc>
              <a:buNone/>
              <a:defRPr sz="24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4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看懂系统在做什么，知道下一步该查什么</a:t>
            </a:r>
            <a:r>
              <a:rPr sz="18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
主讲人：曾宏</a:t>
            </a:r>
            <a:endParaRPr sz="1800">
              <a:solidFill>
                <a:srgbClr val="8995A3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evidence-surface"/>
          <p:cNvSpPr>
            <a:spLocks noGrp="1"/>
          </p:cNvSpPr>
          <p:nvPr/>
        </p:nvSpPr>
        <p:spPr>
          <a:xfrm>
            <a:off x="533400" y="1581150"/>
            <a:ext cx="6191250" cy="39243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" name="metric-rule-1"/>
          <p:cNvSpPr>
            <a:spLocks noGrp="1"/>
          </p:cNvSpPr>
          <p:nvPr/>
        </p:nvSpPr>
        <p:spPr>
          <a:xfrm>
            <a:off x="800100" y="3105150"/>
            <a:ext cx="56578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3" name="metric-rule-2"/>
          <p:cNvSpPr>
            <a:spLocks noGrp="1"/>
          </p:cNvSpPr>
          <p:nvPr/>
        </p:nvSpPr>
        <p:spPr>
          <a:xfrm>
            <a:off x="800100" y="4171950"/>
            <a:ext cx="56578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4" name="metric-divider"/>
          <p:cNvSpPr>
            <a:spLocks noGrp="1"/>
          </p:cNvSpPr>
          <p:nvPr/>
        </p:nvSpPr>
        <p:spPr>
          <a:xfrm>
            <a:off x="3619500" y="4438650"/>
            <a:ext cx="9525" cy="781050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5" name="option-rule-1"/>
          <p:cNvSpPr>
            <a:spLocks noGrp="1"/>
          </p:cNvSpPr>
          <p:nvPr/>
        </p:nvSpPr>
        <p:spPr>
          <a:xfrm>
            <a:off x="7296150" y="2752725"/>
            <a:ext cx="4362450" cy="9525"/>
          </a:xfrm>
          <a:prstGeom prst="rect">
            <a:avLst/>
          </a:prstGeom>
          <a:solidFill>
            <a:srgbClr val="222C35"/>
          </a:solidFill>
          <a:ln w="0">
            <a:noFill/>
            <a:prstDash val="solid"/>
          </a:ln>
        </p:spPr>
      </p:sp>
      <p:sp>
        <p:nvSpPr>
          <p:cNvPr id="6" name="option-rule-2"/>
          <p:cNvSpPr>
            <a:spLocks noGrp="1"/>
          </p:cNvSpPr>
          <p:nvPr/>
        </p:nvSpPr>
        <p:spPr>
          <a:xfrm>
            <a:off x="7296150" y="3352800"/>
            <a:ext cx="4362450" cy="9525"/>
          </a:xfrm>
          <a:prstGeom prst="rect">
            <a:avLst/>
          </a:prstGeom>
          <a:solidFill>
            <a:srgbClr val="222C35"/>
          </a:solidFill>
          <a:ln w="0">
            <a:noFill/>
            <a:prstDash val="solid"/>
          </a:ln>
        </p:spPr>
      </p:sp>
      <p:sp>
        <p:nvSpPr>
          <p:cNvPr id="7" name="option-rule-3"/>
          <p:cNvSpPr>
            <a:spLocks noGrp="1"/>
          </p:cNvSpPr>
          <p:nvPr/>
        </p:nvSpPr>
        <p:spPr>
          <a:xfrm>
            <a:off x="7296150" y="3952875"/>
            <a:ext cx="4362450" cy="9525"/>
          </a:xfrm>
          <a:prstGeom prst="rect">
            <a:avLst/>
          </a:prstGeom>
          <a:solidFill>
            <a:srgbClr val="222C35"/>
          </a:solidFill>
          <a:ln w="0">
            <a:noFill/>
            <a:prstDash val="solid"/>
          </a:ln>
        </p:spPr>
      </p:sp>
      <p:sp>
        <p:nvSpPr>
          <p:cNvPr id="8" name="option-rule-4"/>
          <p:cNvSpPr>
            <a:spLocks noGrp="1"/>
          </p:cNvSpPr>
          <p:nvPr/>
        </p:nvSpPr>
        <p:spPr>
          <a:xfrm>
            <a:off x="7296150" y="4552950"/>
            <a:ext cx="4362450" cy="9525"/>
          </a:xfrm>
          <a:prstGeom prst="rect">
            <a:avLst/>
          </a:prstGeom>
          <a:solidFill>
            <a:srgbClr val="222C35"/>
          </a:solidFill>
          <a:ln w="0">
            <a:noFill/>
            <a:prstDash val="solid"/>
          </a:ln>
        </p:spPr>
      </p:sp>
      <p:sp>
        <p:nvSpPr>
          <p:cNvPr id="9" name="question-accent"/>
          <p:cNvSpPr>
            <a:spLocks noGrp="1"/>
          </p:cNvSpPr>
          <p:nvPr/>
        </p:nvSpPr>
        <p:spPr>
          <a:xfrm>
            <a:off x="7296150" y="5648325"/>
            <a:ext cx="38100" cy="685800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10" name="slide-02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CPU 只有 </a:t>
            </a:r>
            <a:r>
              <a:rPr sz="39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42%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，服务为什么仍然很慢？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11" name="evidence-eyebrow"/>
          <p:cNvSpPr>
            <a:spLocks noGrp="1"/>
          </p:cNvSpPr>
          <p:nvPr/>
        </p:nvSpPr>
        <p:spPr>
          <a:xfrm>
            <a:off x="800100" y="1809750"/>
            <a:ext cx="34290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67E29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课堂模拟数据  ｜  8 核机器</a:t>
            </a:r>
          </a:p>
        </p:txBody>
      </p:sp>
      <p:sp>
        <p:nvSpPr>
          <p:cNvPr id="12" name="p95-label"/>
          <p:cNvSpPr>
            <a:spLocks noGrp="1"/>
          </p:cNvSpPr>
          <p:nvPr/>
        </p:nvSpPr>
        <p:spPr>
          <a:xfrm>
            <a:off x="800100" y="2314575"/>
            <a:ext cx="20955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接口 p95 延迟</a:t>
            </a:r>
          </a:p>
        </p:txBody>
      </p:sp>
      <p:sp>
        <p:nvSpPr>
          <p:cNvPr id="13" name="p95-value"/>
          <p:cNvSpPr>
            <a:spLocks noGrp="1"/>
          </p:cNvSpPr>
          <p:nvPr/>
        </p:nvSpPr>
        <p:spPr>
          <a:xfrm>
            <a:off x="800100" y="2581275"/>
            <a:ext cx="533400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150">
                <a:solidFill>
                  <a:srgbClr val="D5DCE5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D5DCE5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80 ms</a:t>
            </a:r>
            <a:r>
              <a:rPr sz="2700">
                <a:solidFill>
                  <a:srgbClr val="66717E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  →  </a:t>
            </a:r>
            <a:r>
              <a:rPr sz="375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900 ms</a:t>
            </a:r>
            <a:endParaRPr sz="3750" b="1">
              <a:solidFill>
                <a:srgbClr val="FFB454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4" name="throughput-label"/>
          <p:cNvSpPr>
            <a:spLocks noGrp="1"/>
          </p:cNvSpPr>
          <p:nvPr/>
        </p:nvSpPr>
        <p:spPr>
          <a:xfrm>
            <a:off x="800100" y="3324225"/>
            <a:ext cx="15240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吞吐量</a:t>
            </a:r>
          </a:p>
        </p:txBody>
      </p:sp>
      <p:sp>
        <p:nvSpPr>
          <p:cNvPr id="15" name="throughput-value"/>
          <p:cNvSpPr>
            <a:spLocks noGrp="1"/>
          </p:cNvSpPr>
          <p:nvPr/>
        </p:nvSpPr>
        <p:spPr>
          <a:xfrm>
            <a:off x="800100" y="3590925"/>
            <a:ext cx="2857500" cy="533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450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下降 35%</a:t>
            </a:r>
          </a:p>
        </p:txBody>
      </p:sp>
      <p:sp>
        <p:nvSpPr>
          <p:cNvPr id="16" name="cpu-label"/>
          <p:cNvSpPr>
            <a:spLocks noGrp="1"/>
          </p:cNvSpPr>
          <p:nvPr/>
        </p:nvSpPr>
        <p:spPr>
          <a:xfrm>
            <a:off x="800100" y="4429125"/>
            <a:ext cx="22860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CPU  user + system</a:t>
            </a:r>
          </a:p>
        </p:txBody>
      </p:sp>
      <p:sp>
        <p:nvSpPr>
          <p:cNvPr id="17" name="cpu-value"/>
          <p:cNvSpPr>
            <a:spLocks noGrp="1"/>
          </p:cNvSpPr>
          <p:nvPr/>
        </p:nvSpPr>
        <p:spPr>
          <a:xfrm>
            <a:off x="800100" y="4695825"/>
            <a:ext cx="209550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450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42%</a:t>
            </a:r>
          </a:p>
        </p:txBody>
      </p:sp>
      <p:sp>
        <p:nvSpPr>
          <p:cNvPr id="18" name="load-label"/>
          <p:cNvSpPr>
            <a:spLocks noGrp="1"/>
          </p:cNvSpPr>
          <p:nvPr/>
        </p:nvSpPr>
        <p:spPr>
          <a:xfrm>
            <a:off x="3962400" y="4429125"/>
            <a:ext cx="19050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Load Average</a:t>
            </a:r>
          </a:p>
        </p:txBody>
      </p:sp>
      <p:sp>
        <p:nvSpPr>
          <p:cNvPr id="19" name="load-value"/>
          <p:cNvSpPr>
            <a:spLocks noGrp="1"/>
          </p:cNvSpPr>
          <p:nvPr/>
        </p:nvSpPr>
        <p:spPr>
          <a:xfrm>
            <a:off x="3962400" y="4695825"/>
            <a:ext cx="171450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450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15</a:t>
            </a:r>
          </a:p>
        </p:txBody>
      </p:sp>
      <p:sp>
        <p:nvSpPr>
          <p:cNvPr id="20" name="action-heading"/>
          <p:cNvSpPr>
            <a:spLocks noGrp="1"/>
          </p:cNvSpPr>
          <p:nvPr/>
        </p:nvSpPr>
        <p:spPr>
          <a:xfrm>
            <a:off x="7296150" y="1628775"/>
            <a:ext cx="4362450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你准备先做什么？</a:t>
            </a:r>
          </a:p>
        </p:txBody>
      </p:sp>
      <p:sp>
        <p:nvSpPr>
          <p:cNvPr id="21" name="action-a"/>
          <p:cNvSpPr>
            <a:spLocks noGrp="1"/>
          </p:cNvSpPr>
          <p:nvPr/>
        </p:nvSpPr>
        <p:spPr>
          <a:xfrm>
            <a:off x="7296150" y="2219325"/>
            <a:ext cx="436245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1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  </a:t>
            </a:r>
            <a:r>
              <a: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重启服务</a:t>
            </a:r>
            <a:endParaRPr sz="2100">
              <a:solidFill>
                <a:srgbClr val="D5DCE5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2" name="action-b"/>
          <p:cNvSpPr>
            <a:spLocks noGrp="1"/>
          </p:cNvSpPr>
          <p:nvPr/>
        </p:nvSpPr>
        <p:spPr>
          <a:xfrm>
            <a:off x="7296150" y="2819400"/>
            <a:ext cx="436245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1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B  </a:t>
            </a:r>
            <a:r>
              <a: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增加资源</a:t>
            </a:r>
            <a:endParaRPr sz="2100">
              <a:solidFill>
                <a:srgbClr val="D5DCE5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3" name="action-c"/>
          <p:cNvSpPr>
            <a:spLocks noGrp="1"/>
          </p:cNvSpPr>
          <p:nvPr/>
        </p:nvSpPr>
        <p:spPr>
          <a:xfrm>
            <a:off x="7296150" y="3419475"/>
            <a:ext cx="436245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1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  </a:t>
            </a:r>
            <a:r>
              <a: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查看日志</a:t>
            </a:r>
            <a:endParaRPr sz="2100">
              <a:solidFill>
                <a:srgbClr val="D5DCE5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4" name="action-d"/>
          <p:cNvSpPr>
            <a:spLocks noGrp="1"/>
          </p:cNvSpPr>
          <p:nvPr/>
        </p:nvSpPr>
        <p:spPr>
          <a:xfrm>
            <a:off x="7296150" y="4019550"/>
            <a:ext cx="436245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1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D  </a:t>
            </a:r>
            <a:r>
              <a: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执行 top</a:t>
            </a:r>
            <a:endParaRPr sz="2100">
              <a:solidFill>
                <a:srgbClr val="D5DCE5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5" name="action-e"/>
          <p:cNvSpPr>
            <a:spLocks noGrp="1"/>
          </p:cNvSpPr>
          <p:nvPr/>
        </p:nvSpPr>
        <p:spPr>
          <a:xfrm>
            <a:off x="7296150" y="4619625"/>
            <a:ext cx="436245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21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E  </a:t>
            </a:r>
            <a:r>
              <a:rPr sz="21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检查网络</a:t>
            </a:r>
            <a:endParaRPr sz="2100">
              <a:solidFill>
                <a:srgbClr val="D5DCE5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6" name="reflection-prompt"/>
          <p:cNvSpPr>
            <a:spLocks noGrp="1"/>
          </p:cNvSpPr>
          <p:nvPr/>
        </p:nvSpPr>
        <p:spPr>
          <a:xfrm>
            <a:off x="7496175" y="5619750"/>
            <a:ext cx="4095750" cy="742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  <a:defRPr sz="1800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先别找标准答案
</a:t>
            </a:r>
            <a:r>
              <a: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这个动作想确认什么？</a:t>
            </a:r>
            <a:endParaRPr sz="195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untime-map-spine"/>
          <p:cNvSpPr>
            <a:spLocks noGrp="1"/>
          </p:cNvSpPr>
          <p:nvPr/>
        </p:nvSpPr>
        <p:spPr>
          <a:xfrm>
            <a:off x="876300" y="1914525"/>
            <a:ext cx="19050" cy="39052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question-separator-1"/>
          <p:cNvSpPr>
            <a:spLocks noGrp="1"/>
          </p:cNvSpPr>
          <p:nvPr/>
        </p:nvSpPr>
        <p:spPr>
          <a:xfrm>
            <a:off x="6858000" y="3486150"/>
            <a:ext cx="48006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3" name="question-separator-2"/>
          <p:cNvSpPr>
            <a:spLocks noGrp="1"/>
          </p:cNvSpPr>
          <p:nvPr/>
        </p:nvSpPr>
        <p:spPr>
          <a:xfrm>
            <a:off x="6858000" y="4772025"/>
            <a:ext cx="48006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4" name="slide-03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先跟 </a:t>
            </a: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一条请求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走一遍 Linux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5" name="runtime-map-heading"/>
          <p:cNvSpPr>
            <a:spLocks noGrp="1"/>
          </p:cNvSpPr>
          <p:nvPr/>
        </p:nvSpPr>
        <p:spPr>
          <a:xfrm>
            <a:off x="533400" y="1457325"/>
            <a:ext cx="247650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67E29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请求的运行路径</a:t>
            </a:r>
          </a:p>
        </p:txBody>
      </p:sp>
      <p:sp>
        <p:nvSpPr>
          <p:cNvPr id="6" name="runtime-map-node-1"/>
          <p:cNvSpPr>
            <a:spLocks noGrp="1"/>
          </p:cNvSpPr>
          <p:nvPr/>
        </p:nvSpPr>
        <p:spPr>
          <a:xfrm>
            <a:off x="800100" y="18192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7" name="runtime-map-label-1"/>
          <p:cNvSpPr>
            <a:spLocks noGrp="1"/>
          </p:cNvSpPr>
          <p:nvPr/>
        </p:nvSpPr>
        <p:spPr>
          <a:xfrm>
            <a:off x="1200150" y="174307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客户端请求</a:t>
            </a:r>
          </a:p>
        </p:txBody>
      </p:sp>
      <p:sp>
        <p:nvSpPr>
          <p:cNvPr id="8" name="runtime-map-node-2"/>
          <p:cNvSpPr>
            <a:spLocks noGrp="1"/>
          </p:cNvSpPr>
          <p:nvPr/>
        </p:nvSpPr>
        <p:spPr>
          <a:xfrm>
            <a:off x="800100" y="260032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9" name="runtime-map-label-2"/>
          <p:cNvSpPr>
            <a:spLocks noGrp="1"/>
          </p:cNvSpPr>
          <p:nvPr/>
        </p:nvSpPr>
        <p:spPr>
          <a:xfrm>
            <a:off x="1200150" y="252412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Socket / 文件描述符</a:t>
            </a:r>
          </a:p>
        </p:txBody>
      </p:sp>
      <p:sp>
        <p:nvSpPr>
          <p:cNvPr id="10" name="runtime-map-node-3"/>
          <p:cNvSpPr>
            <a:spLocks noGrp="1"/>
          </p:cNvSpPr>
          <p:nvPr/>
        </p:nvSpPr>
        <p:spPr>
          <a:xfrm>
            <a:off x="800100" y="33813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11" name="runtime-map-label-3"/>
          <p:cNvSpPr>
            <a:spLocks noGrp="1"/>
          </p:cNvSpPr>
          <p:nvPr/>
        </p:nvSpPr>
        <p:spPr>
          <a:xfrm>
            <a:off x="1200150" y="330517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应用进程或线程</a:t>
            </a:r>
          </a:p>
        </p:txBody>
      </p:sp>
      <p:sp>
        <p:nvSpPr>
          <p:cNvPr id="12" name="runtime-map-node-4"/>
          <p:cNvSpPr>
            <a:spLocks noGrp="1"/>
          </p:cNvSpPr>
          <p:nvPr/>
        </p:nvSpPr>
        <p:spPr>
          <a:xfrm>
            <a:off x="800100" y="416242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13" name="runtime-map-label-4"/>
          <p:cNvSpPr>
            <a:spLocks noGrp="1"/>
          </p:cNvSpPr>
          <p:nvPr/>
        </p:nvSpPr>
        <p:spPr>
          <a:xfrm>
            <a:off x="1200150" y="408622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系统调用</a:t>
            </a:r>
          </a:p>
        </p:txBody>
      </p:sp>
      <p:sp>
        <p:nvSpPr>
          <p:cNvPr id="14" name="runtime-map-node-5"/>
          <p:cNvSpPr>
            <a:spLocks noGrp="1"/>
          </p:cNvSpPr>
          <p:nvPr/>
        </p:nvSpPr>
        <p:spPr>
          <a:xfrm>
            <a:off x="800100" y="4943475"/>
            <a:ext cx="171450" cy="171450"/>
          </a:xfrm>
          <a:prstGeom prst="ellipse">
            <a:avLst/>
          </a:prstGeom>
          <a:solidFill>
            <a:srgbClr val="4ADE80"/>
          </a:solidFill>
          <a:ln w="19050">
            <a:solidFill>
              <a:srgbClr val="A7F3C3"/>
            </a:solidFill>
            <a:prstDash val="solid"/>
          </a:ln>
        </p:spPr>
      </p:sp>
      <p:sp>
        <p:nvSpPr>
          <p:cNvPr id="15" name="runtime-map-label-5"/>
          <p:cNvSpPr>
            <a:spLocks noGrp="1"/>
          </p:cNvSpPr>
          <p:nvPr/>
        </p:nvSpPr>
        <p:spPr>
          <a:xfrm>
            <a:off x="1200150" y="486727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Linux 内核</a:t>
            </a:r>
          </a:p>
        </p:txBody>
      </p:sp>
      <p:sp>
        <p:nvSpPr>
          <p:cNvPr id="16" name="runtime-map-node-6"/>
          <p:cNvSpPr>
            <a:spLocks noGrp="1"/>
          </p:cNvSpPr>
          <p:nvPr/>
        </p:nvSpPr>
        <p:spPr>
          <a:xfrm>
            <a:off x="800100" y="572452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52606D"/>
            </a:solidFill>
            <a:prstDash val="solid"/>
          </a:ln>
        </p:spPr>
      </p:sp>
      <p:sp>
        <p:nvSpPr>
          <p:cNvPr id="17" name="runtime-map-label-6"/>
          <p:cNvSpPr>
            <a:spLocks noGrp="1"/>
          </p:cNvSpPr>
          <p:nvPr/>
        </p:nvSpPr>
        <p:spPr>
          <a:xfrm>
            <a:off x="1200150" y="5648325"/>
            <a:ext cx="49530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CPU / 内存 / 存储 / 网络</a:t>
            </a:r>
          </a:p>
        </p:txBody>
      </p:sp>
      <p:sp>
        <p:nvSpPr>
          <p:cNvPr id="18" name="investigation-heading"/>
          <p:cNvSpPr>
            <a:spLocks noGrp="1"/>
          </p:cNvSpPr>
          <p:nvPr/>
        </p:nvSpPr>
        <p:spPr>
          <a:xfrm>
            <a:off x="6858000" y="1562100"/>
            <a:ext cx="4800600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观察运行问题，只追问三件事</a:t>
            </a:r>
          </a:p>
        </p:txBody>
      </p:sp>
      <p:sp>
        <p:nvSpPr>
          <p:cNvPr id="19" name="question-number-01"/>
          <p:cNvSpPr>
            <a:spLocks noGrp="1"/>
          </p:cNvSpPr>
          <p:nvPr/>
        </p:nvSpPr>
        <p:spPr>
          <a:xfrm>
            <a:off x="6858000" y="2381250"/>
            <a:ext cx="55245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20" name="question-keyword-01"/>
          <p:cNvSpPr>
            <a:spLocks noGrp="1"/>
          </p:cNvSpPr>
          <p:nvPr/>
        </p:nvSpPr>
        <p:spPr>
          <a:xfrm>
            <a:off x="7448550" y="2362200"/>
            <a:ext cx="114300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5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对象</a:t>
            </a:r>
          </a:p>
        </p:txBody>
      </p:sp>
      <p:sp>
        <p:nvSpPr>
          <p:cNvPr id="21" name="question-body-01"/>
          <p:cNvSpPr>
            <a:spLocks noGrp="1"/>
          </p:cNvSpPr>
          <p:nvPr/>
        </p:nvSpPr>
        <p:spPr>
          <a:xfrm>
            <a:off x="7448550" y="2838450"/>
            <a:ext cx="4210050" cy="6286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8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哪个进程、FD、Socket、文件或设备？</a:t>
            </a:r>
          </a:p>
        </p:txBody>
      </p:sp>
      <p:sp>
        <p:nvSpPr>
          <p:cNvPr id="22" name="question-number-02"/>
          <p:cNvSpPr>
            <a:spLocks noGrp="1"/>
          </p:cNvSpPr>
          <p:nvPr/>
        </p:nvSpPr>
        <p:spPr>
          <a:xfrm>
            <a:off x="6858000" y="3667125"/>
            <a:ext cx="55245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23" name="question-keyword-02"/>
          <p:cNvSpPr>
            <a:spLocks noGrp="1"/>
          </p:cNvSpPr>
          <p:nvPr/>
        </p:nvSpPr>
        <p:spPr>
          <a:xfrm>
            <a:off x="7448550" y="3648075"/>
            <a:ext cx="114300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5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状态</a:t>
            </a:r>
          </a:p>
        </p:txBody>
      </p:sp>
      <p:sp>
        <p:nvSpPr>
          <p:cNvPr id="24" name="question-body-02"/>
          <p:cNvSpPr>
            <a:spLocks noGrp="1"/>
          </p:cNvSpPr>
          <p:nvPr/>
        </p:nvSpPr>
        <p:spPr>
          <a:xfrm>
            <a:off x="7448550" y="4124325"/>
            <a:ext cx="4210050" cy="6286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8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它在运行、等待、排队，还是已经失败？</a:t>
            </a:r>
          </a:p>
        </p:txBody>
      </p:sp>
      <p:sp>
        <p:nvSpPr>
          <p:cNvPr id="25" name="question-number-03"/>
          <p:cNvSpPr>
            <a:spLocks noGrp="1"/>
          </p:cNvSpPr>
          <p:nvPr/>
        </p:nvSpPr>
        <p:spPr>
          <a:xfrm>
            <a:off x="6858000" y="4953000"/>
            <a:ext cx="55245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26" name="question-keyword-03"/>
          <p:cNvSpPr>
            <a:spLocks noGrp="1"/>
          </p:cNvSpPr>
          <p:nvPr/>
        </p:nvSpPr>
        <p:spPr>
          <a:xfrm>
            <a:off x="7448550" y="4933950"/>
            <a:ext cx="1143000" cy="4191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5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边界</a:t>
            </a:r>
          </a:p>
        </p:txBody>
      </p:sp>
      <p:sp>
        <p:nvSpPr>
          <p:cNvPr id="27" name="question-body-03"/>
          <p:cNvSpPr>
            <a:spLocks noGrp="1"/>
          </p:cNvSpPr>
          <p:nvPr/>
        </p:nvSpPr>
        <p:spPr>
          <a:xfrm>
            <a:off x="7448550" y="5410200"/>
            <a:ext cx="4210050" cy="6286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8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问题发生在应用、内核、资源还是外部依赖？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online-client-ingress-line"/>
          <p:cNvSpPr>
            <a:spLocks noGrp="1"/>
          </p:cNvSpPr>
          <p:nvPr/>
        </p:nvSpPr>
        <p:spPr>
          <a:xfrm>
            <a:off x="2057400" y="2628900"/>
            <a:ext cx="3238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online-client-ingress-arrow"/>
          <p:cNvSpPr>
            <a:spLocks noGrp="1"/>
          </p:cNvSpPr>
          <p:nvPr/>
        </p:nvSpPr>
        <p:spPr>
          <a:xfrm>
            <a:off x="2047875" y="2486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3" name="online-ingress-service-line"/>
          <p:cNvSpPr>
            <a:spLocks noGrp="1"/>
          </p:cNvSpPr>
          <p:nvPr/>
        </p:nvSpPr>
        <p:spPr>
          <a:xfrm>
            <a:off x="4191000" y="2628900"/>
            <a:ext cx="3238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" name="online-ingress-service-arrow"/>
          <p:cNvSpPr>
            <a:spLocks noGrp="1"/>
          </p:cNvSpPr>
          <p:nvPr/>
        </p:nvSpPr>
        <p:spPr>
          <a:xfrm>
            <a:off x="4181475" y="2486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5" name="online-service-data-line"/>
          <p:cNvSpPr>
            <a:spLocks noGrp="1"/>
          </p:cNvSpPr>
          <p:nvPr/>
        </p:nvSpPr>
        <p:spPr>
          <a:xfrm>
            <a:off x="6705600" y="2628900"/>
            <a:ext cx="3238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6" name="online-service-data-arrow"/>
          <p:cNvSpPr>
            <a:spLocks noGrp="1"/>
          </p:cNvSpPr>
          <p:nvPr/>
        </p:nvSpPr>
        <p:spPr>
          <a:xfrm>
            <a:off x="6696075" y="2486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7" name="online-data-storage-line"/>
          <p:cNvSpPr>
            <a:spLocks noGrp="1"/>
          </p:cNvSpPr>
          <p:nvPr/>
        </p:nvSpPr>
        <p:spPr>
          <a:xfrm>
            <a:off x="8839200" y="2628900"/>
            <a:ext cx="5334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8" name="online-data-storage-arrow"/>
          <p:cNvSpPr>
            <a:spLocks noGrp="1"/>
          </p:cNvSpPr>
          <p:nvPr/>
        </p:nvSpPr>
        <p:spPr>
          <a:xfrm>
            <a:off x="8934450" y="2486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9" name="background-scheduler-worker-line"/>
          <p:cNvSpPr>
            <a:spLocks noGrp="1"/>
          </p:cNvSpPr>
          <p:nvPr/>
        </p:nvSpPr>
        <p:spPr>
          <a:xfrm>
            <a:off x="4191000" y="4533900"/>
            <a:ext cx="3238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10" name="background-scheduler-worker-arrow"/>
          <p:cNvSpPr>
            <a:spLocks noGrp="1"/>
          </p:cNvSpPr>
          <p:nvPr/>
        </p:nvSpPr>
        <p:spPr>
          <a:xfrm>
            <a:off x="4181475" y="4391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1" name="background-worker-object-line"/>
          <p:cNvSpPr>
            <a:spLocks noGrp="1"/>
          </p:cNvSpPr>
          <p:nvPr/>
        </p:nvSpPr>
        <p:spPr>
          <a:xfrm>
            <a:off x="6705600" y="4533900"/>
            <a:ext cx="3238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12" name="background-worker-object-arrow"/>
          <p:cNvSpPr>
            <a:spLocks noGrp="1"/>
          </p:cNvSpPr>
          <p:nvPr/>
        </p:nvSpPr>
        <p:spPr>
          <a:xfrm>
            <a:off x="6696075" y="4391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3" name="background-object-storage-line"/>
          <p:cNvSpPr>
            <a:spLocks noGrp="1"/>
          </p:cNvSpPr>
          <p:nvPr/>
        </p:nvSpPr>
        <p:spPr>
          <a:xfrm>
            <a:off x="8839200" y="4533900"/>
            <a:ext cx="5334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14" name="background-object-storage-arrow"/>
          <p:cNvSpPr>
            <a:spLocks noGrp="1"/>
          </p:cNvSpPr>
          <p:nvPr/>
        </p:nvSpPr>
        <p:spPr>
          <a:xfrm>
            <a:off x="8934450" y="4391025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5" name="architecture-storage-surface"/>
          <p:cNvSpPr>
            <a:spLocks noGrp="1"/>
          </p:cNvSpPr>
          <p:nvPr/>
        </p:nvSpPr>
        <p:spPr>
          <a:xfrm>
            <a:off x="9372600" y="2133600"/>
            <a:ext cx="2286000" cy="2895600"/>
          </a:xfrm>
          <a:prstGeom prst="roundRect">
            <a:avLst>
              <a:gd name="adj" fmla="val 3333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16" name="architecture-footer"/>
          <p:cNvSpPr>
            <a:spLocks noGrp="1"/>
          </p:cNvSpPr>
          <p:nvPr/>
        </p:nvSpPr>
        <p:spPr>
          <a:xfrm>
            <a:off x="533400" y="5562600"/>
            <a:ext cx="11125200" cy="838200"/>
          </a:xfrm>
          <a:prstGeom prst="rect">
            <a:avLst/>
          </a:prstGeom>
          <a:solidFill>
            <a:srgbClr val="10161D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17" name="architecture-client-surface"/>
          <p:cNvSpPr>
            <a:spLocks noGrp="1"/>
          </p:cNvSpPr>
          <p:nvPr/>
        </p:nvSpPr>
        <p:spPr>
          <a:xfrm>
            <a:off x="533400" y="2133600"/>
            <a:ext cx="152400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8" name="architecture-client-label"/>
          <p:cNvSpPr>
            <a:spLocks noGrp="1"/>
          </p:cNvSpPr>
          <p:nvPr/>
        </p:nvSpPr>
        <p:spPr>
          <a:xfrm>
            <a:off x="685800" y="2324100"/>
            <a:ext cx="121920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客户端</a:t>
            </a:r>
          </a:p>
        </p:txBody>
      </p:sp>
      <p:sp>
        <p:nvSpPr>
          <p:cNvPr id="19" name="architecture-client-detail"/>
          <p:cNvSpPr>
            <a:spLocks noGrp="1"/>
          </p:cNvSpPr>
          <p:nvPr/>
        </p:nvSpPr>
        <p:spPr>
          <a:xfrm>
            <a:off x="685800" y="2714625"/>
            <a:ext cx="121920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HTTP 请求</a:t>
            </a:r>
          </a:p>
        </p:txBody>
      </p:sp>
      <p:sp>
        <p:nvSpPr>
          <p:cNvPr id="20" name="architecture-ingress-surface"/>
          <p:cNvSpPr>
            <a:spLocks noGrp="1"/>
          </p:cNvSpPr>
          <p:nvPr/>
        </p:nvSpPr>
        <p:spPr>
          <a:xfrm>
            <a:off x="2381250" y="2133600"/>
            <a:ext cx="1809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1" name="architecture-ingress-label"/>
          <p:cNvSpPr>
            <a:spLocks noGrp="1"/>
          </p:cNvSpPr>
          <p:nvPr/>
        </p:nvSpPr>
        <p:spPr>
          <a:xfrm>
            <a:off x="2533650" y="2324100"/>
            <a:ext cx="1504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接入层</a:t>
            </a:r>
          </a:p>
        </p:txBody>
      </p:sp>
      <p:sp>
        <p:nvSpPr>
          <p:cNvPr id="22" name="architecture-ingress-detail"/>
          <p:cNvSpPr>
            <a:spLocks noGrp="1"/>
          </p:cNvSpPr>
          <p:nvPr/>
        </p:nvSpPr>
        <p:spPr>
          <a:xfrm>
            <a:off x="2533650" y="2714625"/>
            <a:ext cx="1504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监听 Socket</a:t>
            </a:r>
          </a:p>
        </p:txBody>
      </p:sp>
      <p:sp>
        <p:nvSpPr>
          <p:cNvPr id="23" name="architecture-service-surface"/>
          <p:cNvSpPr>
            <a:spLocks noGrp="1"/>
          </p:cNvSpPr>
          <p:nvPr/>
        </p:nvSpPr>
        <p:spPr>
          <a:xfrm>
            <a:off x="4514850" y="2133600"/>
            <a:ext cx="2190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24" name="architecture-service-label"/>
          <p:cNvSpPr>
            <a:spLocks noGrp="1"/>
          </p:cNvSpPr>
          <p:nvPr/>
        </p:nvSpPr>
        <p:spPr>
          <a:xfrm>
            <a:off x="4667250" y="2324100"/>
            <a:ext cx="1885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在线服务</a:t>
            </a:r>
          </a:p>
        </p:txBody>
      </p:sp>
      <p:sp>
        <p:nvSpPr>
          <p:cNvPr id="25" name="architecture-service-detail"/>
          <p:cNvSpPr>
            <a:spLocks noGrp="1"/>
          </p:cNvSpPr>
          <p:nvPr/>
        </p:nvSpPr>
        <p:spPr>
          <a:xfrm>
            <a:off x="4667250" y="2714625"/>
            <a:ext cx="1885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服务进程</a:t>
            </a:r>
          </a:p>
        </p:txBody>
      </p:sp>
      <p:sp>
        <p:nvSpPr>
          <p:cNvPr id="26" name="architecture-data-object-surface"/>
          <p:cNvSpPr>
            <a:spLocks noGrp="1"/>
          </p:cNvSpPr>
          <p:nvPr/>
        </p:nvSpPr>
        <p:spPr>
          <a:xfrm>
            <a:off x="7029450" y="2133600"/>
            <a:ext cx="1809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7" name="architecture-data-object-label"/>
          <p:cNvSpPr>
            <a:spLocks noGrp="1"/>
          </p:cNvSpPr>
          <p:nvPr/>
        </p:nvSpPr>
        <p:spPr>
          <a:xfrm>
            <a:off x="7181850" y="2324100"/>
            <a:ext cx="1504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应用数据</a:t>
            </a:r>
          </a:p>
        </p:txBody>
      </p:sp>
      <p:sp>
        <p:nvSpPr>
          <p:cNvPr id="28" name="architecture-data-object-detail"/>
          <p:cNvSpPr>
            <a:spLocks noGrp="1"/>
          </p:cNvSpPr>
          <p:nvPr/>
        </p:nvSpPr>
        <p:spPr>
          <a:xfrm>
            <a:off x="7181850" y="2714625"/>
            <a:ext cx="1504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FD / 文件</a:t>
            </a:r>
          </a:p>
        </p:txBody>
      </p:sp>
      <p:sp>
        <p:nvSpPr>
          <p:cNvPr id="29" name="architecture-scheduler-surface"/>
          <p:cNvSpPr>
            <a:spLocks noGrp="1"/>
          </p:cNvSpPr>
          <p:nvPr/>
        </p:nvSpPr>
        <p:spPr>
          <a:xfrm>
            <a:off x="2381250" y="4038600"/>
            <a:ext cx="1809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0" name="architecture-scheduler-label"/>
          <p:cNvSpPr>
            <a:spLocks noGrp="1"/>
          </p:cNvSpPr>
          <p:nvPr/>
        </p:nvSpPr>
        <p:spPr>
          <a:xfrm>
            <a:off x="2533650" y="4229100"/>
            <a:ext cx="1504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定时任务</a:t>
            </a:r>
          </a:p>
        </p:txBody>
      </p:sp>
      <p:sp>
        <p:nvSpPr>
          <p:cNvPr id="31" name="architecture-scheduler-detail"/>
          <p:cNvSpPr>
            <a:spLocks noGrp="1"/>
          </p:cNvSpPr>
          <p:nvPr/>
        </p:nvSpPr>
        <p:spPr>
          <a:xfrm>
            <a:off x="2533650" y="4619625"/>
            <a:ext cx="1504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调度 / 启动</a:t>
            </a:r>
          </a:p>
        </p:txBody>
      </p:sp>
      <p:sp>
        <p:nvSpPr>
          <p:cNvPr id="32" name="architecture-worker-surface"/>
          <p:cNvSpPr>
            <a:spLocks noGrp="1"/>
          </p:cNvSpPr>
          <p:nvPr/>
        </p:nvSpPr>
        <p:spPr>
          <a:xfrm>
            <a:off x="4514850" y="4038600"/>
            <a:ext cx="2190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3" name="architecture-worker-label"/>
          <p:cNvSpPr>
            <a:spLocks noGrp="1"/>
          </p:cNvSpPr>
          <p:nvPr/>
        </p:nvSpPr>
        <p:spPr>
          <a:xfrm>
            <a:off x="4667250" y="4229100"/>
            <a:ext cx="1885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650" b="1">
                <a:solidFill>
                  <a:srgbClr val="F4F7FB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backup-worker</a:t>
            </a:r>
          </a:p>
        </p:txBody>
      </p:sp>
      <p:sp>
        <p:nvSpPr>
          <p:cNvPr id="34" name="architecture-worker-detail"/>
          <p:cNvSpPr>
            <a:spLocks noGrp="1"/>
          </p:cNvSpPr>
          <p:nvPr/>
        </p:nvSpPr>
        <p:spPr>
          <a:xfrm>
            <a:off x="4667250" y="4619625"/>
            <a:ext cx="1885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后台进程</a:t>
            </a:r>
          </a:p>
        </p:txBody>
      </p:sp>
      <p:sp>
        <p:nvSpPr>
          <p:cNvPr id="35" name="architecture-backup-object-surface"/>
          <p:cNvSpPr>
            <a:spLocks noGrp="1"/>
          </p:cNvSpPr>
          <p:nvPr/>
        </p:nvSpPr>
        <p:spPr>
          <a:xfrm>
            <a:off x="7029450" y="4038600"/>
            <a:ext cx="1809750" cy="990600"/>
          </a:xfrm>
          <a:prstGeom prst="roundRect">
            <a:avLst>
              <a:gd name="adj" fmla="val 7692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6" name="architecture-backup-object-label"/>
          <p:cNvSpPr>
            <a:spLocks noGrp="1"/>
          </p:cNvSpPr>
          <p:nvPr/>
        </p:nvSpPr>
        <p:spPr>
          <a:xfrm>
            <a:off x="7181850" y="4229100"/>
            <a:ext cx="15049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备份对象</a:t>
            </a:r>
          </a:p>
        </p:txBody>
      </p:sp>
      <p:sp>
        <p:nvSpPr>
          <p:cNvPr id="37" name="architecture-backup-object-detail"/>
          <p:cNvSpPr>
            <a:spLocks noGrp="1"/>
          </p:cNvSpPr>
          <p:nvPr/>
        </p:nvSpPr>
        <p:spPr>
          <a:xfrm>
            <a:off x="7181850" y="4619625"/>
            <a:ext cx="1504950" cy="2476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defRPr sz="1350">
                <a:solidFill>
                  <a:srgbClr val="8995A3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full.tar</a:t>
            </a:r>
          </a:p>
        </p:txBody>
      </p:sp>
      <p:sp>
        <p:nvSpPr>
          <p:cNvPr id="38" name="architecture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先看 </a:t>
            </a:r>
            <a:r>
              <a:rPr sz="37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项目地图</a:t>
            </a:r>
            <a:r>
              <a: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，再追查 Linux 对象</a:t>
            </a:r>
            <a:endParaRPr sz="375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39" name="architecture-subtitle"/>
          <p:cNvSpPr>
            <a:spLocks noGrp="1"/>
          </p:cNvSpPr>
          <p:nvPr/>
        </p:nvSpPr>
        <p:spPr>
          <a:xfrm>
            <a:off x="533400" y="1314450"/>
            <a:ext cx="111252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把通用运行路径落到在线请求、后台任务和数据资源</a:t>
            </a:r>
          </a:p>
        </p:txBody>
      </p:sp>
      <p:sp>
        <p:nvSpPr>
          <p:cNvPr id="40" name="online-lane-label"/>
          <p:cNvSpPr>
            <a:spLocks noGrp="1"/>
          </p:cNvSpPr>
          <p:nvPr/>
        </p:nvSpPr>
        <p:spPr>
          <a:xfrm>
            <a:off x="533400" y="1752600"/>
            <a:ext cx="26670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725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在线请求路径</a:t>
            </a:r>
          </a:p>
        </p:txBody>
      </p:sp>
      <p:sp>
        <p:nvSpPr>
          <p:cNvPr id="41" name="background-lane-label"/>
          <p:cNvSpPr>
            <a:spLocks noGrp="1"/>
          </p:cNvSpPr>
          <p:nvPr/>
        </p:nvSpPr>
        <p:spPr>
          <a:xfrm>
            <a:off x="533400" y="3657600"/>
            <a:ext cx="26670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725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后台任务路径</a:t>
            </a:r>
          </a:p>
        </p:txBody>
      </p:sp>
      <p:sp>
        <p:nvSpPr>
          <p:cNvPr id="42" name="architecture-storage-label"/>
          <p:cNvSpPr>
            <a:spLocks noGrp="1"/>
          </p:cNvSpPr>
          <p:nvPr/>
        </p:nvSpPr>
        <p:spPr>
          <a:xfrm>
            <a:off x="9639300" y="2571750"/>
            <a:ext cx="17526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21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数据存储</a:t>
            </a:r>
          </a:p>
        </p:txBody>
      </p:sp>
      <p:sp>
        <p:nvSpPr>
          <p:cNvPr id="43" name="architecture-storage-detail"/>
          <p:cNvSpPr>
            <a:spLocks noGrp="1"/>
          </p:cNvSpPr>
          <p:nvPr/>
        </p:nvSpPr>
        <p:spPr>
          <a:xfrm>
            <a:off x="9639300" y="3181350"/>
            <a:ext cx="1752600" cy="742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8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应用数据
备份文件</a:t>
            </a:r>
          </a:p>
        </p:txBody>
      </p:sp>
      <p:sp>
        <p:nvSpPr>
          <p:cNvPr id="44" name="architecture-storage-rule"/>
          <p:cNvSpPr>
            <a:spLocks noGrp="1"/>
          </p:cNvSpPr>
          <p:nvPr/>
        </p:nvSpPr>
        <p:spPr>
          <a:xfrm>
            <a:off x="9753600" y="4095750"/>
            <a:ext cx="1524000" cy="95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5" name="architecture-storage-runtime"/>
          <p:cNvSpPr>
            <a:spLocks noGrp="1"/>
          </p:cNvSpPr>
          <p:nvPr/>
        </p:nvSpPr>
        <p:spPr>
          <a:xfrm>
            <a:off x="9639300" y="4305300"/>
            <a:ext cx="17526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defRPr sz="15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存储 I/O 资源</a:t>
            </a:r>
          </a:p>
        </p:txBody>
      </p:sp>
      <p:sp>
        <p:nvSpPr>
          <p:cNvPr id="46" name="architecture-footer-label"/>
          <p:cNvSpPr>
            <a:spLocks noGrp="1"/>
          </p:cNvSpPr>
          <p:nvPr/>
        </p:nvSpPr>
        <p:spPr>
          <a:xfrm>
            <a:off x="781050" y="5838825"/>
            <a:ext cx="1333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观察入口</a:t>
            </a:r>
          </a:p>
        </p:txBody>
      </p:sp>
      <p:sp>
        <p:nvSpPr>
          <p:cNvPr id="47" name="architecture-footer-question"/>
          <p:cNvSpPr>
            <a:spLocks noGrp="1"/>
          </p:cNvSpPr>
          <p:nvPr/>
        </p:nvSpPr>
        <p:spPr>
          <a:xfrm>
            <a:off x="2266950" y="5772150"/>
            <a:ext cx="9048750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后续每次排查，都回答：哪条路径、哪个对象、什么状态？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process-view-connector-identity"/>
          <p:cNvSpPr>
            <a:spLocks noGrp="1"/>
          </p:cNvSpPr>
          <p:nvPr/>
        </p:nvSpPr>
        <p:spPr>
          <a:xfrm>
            <a:off x="2428875" y="2352675"/>
            <a:ext cx="428625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process-view-connector-parent"/>
          <p:cNvSpPr>
            <a:spLocks noGrp="1"/>
          </p:cNvSpPr>
          <p:nvPr/>
        </p:nvSpPr>
        <p:spPr>
          <a:xfrm>
            <a:off x="2428875" y="4257675"/>
            <a:ext cx="428625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3" name="process-view-connector-state"/>
          <p:cNvSpPr>
            <a:spLocks noGrp="1"/>
          </p:cNvSpPr>
          <p:nvPr/>
        </p:nvSpPr>
        <p:spPr>
          <a:xfrm>
            <a:off x="8286750" y="2314575"/>
            <a:ext cx="2857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" name="process-view-connector-fd"/>
          <p:cNvSpPr>
            <a:spLocks noGrp="1"/>
          </p:cNvSpPr>
          <p:nvPr/>
        </p:nvSpPr>
        <p:spPr>
          <a:xfrm>
            <a:off x="8286750" y="3600450"/>
            <a:ext cx="2857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5" name="process-view-connector-memory"/>
          <p:cNvSpPr>
            <a:spLocks noGrp="1"/>
          </p:cNvSpPr>
          <p:nvPr/>
        </p:nvSpPr>
        <p:spPr>
          <a:xfrm>
            <a:off x="8286750" y="4886325"/>
            <a:ext cx="28575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6" name="process-boundary"/>
          <p:cNvSpPr>
            <a:spLocks noGrp="1"/>
          </p:cNvSpPr>
          <p:nvPr/>
        </p:nvSpPr>
        <p:spPr>
          <a:xfrm>
            <a:off x="2857500" y="1866900"/>
            <a:ext cx="5429250" cy="3619500"/>
          </a:xfrm>
          <a:prstGeom prst="rect">
            <a:avLst/>
          </a:prstGeom>
          <a:solidFill>
            <a:srgbClr val="10161D"/>
          </a:solidFill>
          <a:ln w="19050">
            <a:solidFill>
              <a:srgbClr val="2F6F4A"/>
            </a:solidFill>
            <a:prstDash val="solid"/>
          </a:ln>
        </p:spPr>
      </p:sp>
      <p:sp>
        <p:nvSpPr>
          <p:cNvPr id="7" name="process-inner-rule"/>
          <p:cNvSpPr>
            <a:spLocks noGrp="1"/>
          </p:cNvSpPr>
          <p:nvPr/>
        </p:nvSpPr>
        <p:spPr>
          <a:xfrm>
            <a:off x="3095625" y="3714750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8" name="process-takeaway-accent"/>
          <p:cNvSpPr>
            <a:spLocks noGrp="1"/>
          </p:cNvSpPr>
          <p:nvPr/>
        </p:nvSpPr>
        <p:spPr>
          <a:xfrm>
            <a:off x="533400" y="5924550"/>
            <a:ext cx="38100" cy="457200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9" name="slide-04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进程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是排查运行问题的责任边界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10" name="process-eyebrow"/>
          <p:cNvSpPr>
            <a:spLocks noGrp="1"/>
          </p:cNvSpPr>
          <p:nvPr/>
        </p:nvSpPr>
        <p:spPr>
          <a:xfrm>
            <a:off x="3095625" y="2133600"/>
            <a:ext cx="1714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67E29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责任对象</a:t>
            </a:r>
          </a:p>
        </p:txBody>
      </p:sp>
      <p:sp>
        <p:nvSpPr>
          <p:cNvPr id="11" name="process-name"/>
          <p:cNvSpPr>
            <a:spLocks noGrp="1"/>
          </p:cNvSpPr>
          <p:nvPr/>
        </p:nvSpPr>
        <p:spPr>
          <a:xfrm>
            <a:off x="3095625" y="2457450"/>
            <a:ext cx="2476500" cy="6477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</a:t>
            </a:r>
          </a:p>
        </p:txBody>
      </p:sp>
      <p:sp>
        <p:nvSpPr>
          <p:cNvPr id="12" name="process-pid-label"/>
          <p:cNvSpPr>
            <a:spLocks noGrp="1"/>
          </p:cNvSpPr>
          <p:nvPr/>
        </p:nvSpPr>
        <p:spPr>
          <a:xfrm>
            <a:off x="7096125" y="2209800"/>
            <a:ext cx="952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>
              <a:buNone/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PID</a:t>
            </a:r>
          </a:p>
        </p:txBody>
      </p:sp>
      <p:sp>
        <p:nvSpPr>
          <p:cNvPr id="13" name="process-summary"/>
          <p:cNvSpPr>
            <a:spLocks noGrp="1"/>
          </p:cNvSpPr>
          <p:nvPr/>
        </p:nvSpPr>
        <p:spPr>
          <a:xfrm>
            <a:off x="3095625" y="3209925"/>
            <a:ext cx="47625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把运行现象落到具体责任对象</a:t>
            </a:r>
          </a:p>
        </p:txBody>
      </p:sp>
      <p:sp>
        <p:nvSpPr>
          <p:cNvPr id="14" name="process-command-heading"/>
          <p:cNvSpPr>
            <a:spLocks noGrp="1"/>
          </p:cNvSpPr>
          <p:nvPr/>
        </p:nvSpPr>
        <p:spPr>
          <a:xfrm>
            <a:off x="3095625" y="3943350"/>
            <a:ext cx="22860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从这里开始定位</a:t>
            </a:r>
          </a:p>
        </p:txBody>
      </p:sp>
      <p:sp>
        <p:nvSpPr>
          <p:cNvPr id="15" name="process-command-ps"/>
          <p:cNvSpPr>
            <a:spLocks noGrp="1"/>
          </p:cNvSpPr>
          <p:nvPr/>
        </p:nvSpPr>
        <p:spPr>
          <a:xfrm>
            <a:off x="3095625" y="4324350"/>
            <a:ext cx="49530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ps -eo pid,ppid,user,state,etime,comm</a:t>
            </a:r>
          </a:p>
        </p:txBody>
      </p:sp>
      <p:sp>
        <p:nvSpPr>
          <p:cNvPr id="16" name="process-command-fd"/>
          <p:cNvSpPr>
            <a:spLocks noGrp="1"/>
          </p:cNvSpPr>
          <p:nvPr/>
        </p:nvSpPr>
        <p:spPr>
          <a:xfrm>
            <a:off x="3095625" y="4810125"/>
            <a:ext cx="49530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ls -l /proc/&lt;PID&gt;/fd</a:t>
            </a:r>
          </a:p>
        </p:txBody>
      </p:sp>
      <p:sp>
        <p:nvSpPr>
          <p:cNvPr id="17" name="process-view-node-identity"/>
          <p:cNvSpPr>
            <a:spLocks noGrp="1"/>
          </p:cNvSpPr>
          <p:nvPr/>
        </p:nvSpPr>
        <p:spPr>
          <a:xfrm>
            <a:off x="2343150" y="22764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18" name="process-view-title-identity"/>
          <p:cNvSpPr>
            <a:spLocks noGrp="1"/>
          </p:cNvSpPr>
          <p:nvPr/>
        </p:nvSpPr>
        <p:spPr>
          <a:xfrm>
            <a:off x="533400" y="2038350"/>
            <a:ext cx="171450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身份与启动</a:t>
            </a:r>
          </a:p>
        </p:txBody>
      </p:sp>
      <p:sp>
        <p:nvSpPr>
          <p:cNvPr id="19" name="process-view-detail-identity"/>
          <p:cNvSpPr>
            <a:spLocks noGrp="1"/>
          </p:cNvSpPr>
          <p:nvPr/>
        </p:nvSpPr>
        <p:spPr>
          <a:xfrm>
            <a:off x="533400" y="2495550"/>
            <a:ext cx="1714500" cy="5524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user · cwd
env · etime</a:t>
            </a:r>
          </a:p>
        </p:txBody>
      </p:sp>
      <p:sp>
        <p:nvSpPr>
          <p:cNvPr id="20" name="process-view-node-parent"/>
          <p:cNvSpPr>
            <a:spLocks noGrp="1"/>
          </p:cNvSpPr>
          <p:nvPr/>
        </p:nvSpPr>
        <p:spPr>
          <a:xfrm>
            <a:off x="2343150" y="41814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1" name="process-view-title-parent"/>
          <p:cNvSpPr>
            <a:spLocks noGrp="1"/>
          </p:cNvSpPr>
          <p:nvPr/>
        </p:nvSpPr>
        <p:spPr>
          <a:xfrm>
            <a:off x="533400" y="3943350"/>
            <a:ext cx="171450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父子关系</a:t>
            </a:r>
          </a:p>
        </p:txBody>
      </p:sp>
      <p:sp>
        <p:nvSpPr>
          <p:cNvPr id="22" name="process-view-detail-parent"/>
          <p:cNvSpPr>
            <a:spLocks noGrp="1"/>
          </p:cNvSpPr>
          <p:nvPr/>
        </p:nvSpPr>
        <p:spPr>
          <a:xfrm>
            <a:off x="533400" y="4400550"/>
            <a:ext cx="1714500" cy="5524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PID · PPID
启动链路</a:t>
            </a:r>
          </a:p>
        </p:txBody>
      </p:sp>
      <p:sp>
        <p:nvSpPr>
          <p:cNvPr id="23" name="process-view-node-state"/>
          <p:cNvSpPr>
            <a:spLocks noGrp="1"/>
          </p:cNvSpPr>
          <p:nvPr/>
        </p:nvSpPr>
        <p:spPr>
          <a:xfrm>
            <a:off x="8486775" y="22383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4" name="process-view-title-state"/>
          <p:cNvSpPr>
            <a:spLocks noGrp="1"/>
          </p:cNvSpPr>
          <p:nvPr/>
        </p:nvSpPr>
        <p:spPr>
          <a:xfrm>
            <a:off x="8858250" y="2000250"/>
            <a:ext cx="280035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状态</a:t>
            </a:r>
          </a:p>
        </p:txBody>
      </p:sp>
      <p:sp>
        <p:nvSpPr>
          <p:cNvPr id="25" name="process-view-detail-state"/>
          <p:cNvSpPr>
            <a:spLocks noGrp="1"/>
          </p:cNvSpPr>
          <p:nvPr/>
        </p:nvSpPr>
        <p:spPr>
          <a:xfrm>
            <a:off x="8858250" y="2457450"/>
            <a:ext cx="2800350" cy="5524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运行 · 睡眠 · D · 退出</a:t>
            </a:r>
          </a:p>
        </p:txBody>
      </p:sp>
      <p:sp>
        <p:nvSpPr>
          <p:cNvPr id="26" name="process-view-node-fd"/>
          <p:cNvSpPr>
            <a:spLocks noGrp="1"/>
          </p:cNvSpPr>
          <p:nvPr/>
        </p:nvSpPr>
        <p:spPr>
          <a:xfrm>
            <a:off x="8486775" y="3524250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7" name="process-view-title-fd"/>
          <p:cNvSpPr>
            <a:spLocks noGrp="1"/>
          </p:cNvSpPr>
          <p:nvPr/>
        </p:nvSpPr>
        <p:spPr>
          <a:xfrm>
            <a:off x="8858250" y="3286125"/>
            <a:ext cx="280035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FD 与网络连接</a:t>
            </a:r>
          </a:p>
        </p:txBody>
      </p:sp>
      <p:sp>
        <p:nvSpPr>
          <p:cNvPr id="28" name="process-view-detail-fd"/>
          <p:cNvSpPr>
            <a:spLocks noGrp="1"/>
          </p:cNvSpPr>
          <p:nvPr/>
        </p:nvSpPr>
        <p:spPr>
          <a:xfrm>
            <a:off x="8858250" y="3743325"/>
            <a:ext cx="2800350" cy="5524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文件 · 管道 · Socket</a:t>
            </a:r>
          </a:p>
        </p:txBody>
      </p:sp>
      <p:sp>
        <p:nvSpPr>
          <p:cNvPr id="29" name="process-view-node-memory"/>
          <p:cNvSpPr>
            <a:spLocks noGrp="1"/>
          </p:cNvSpPr>
          <p:nvPr/>
        </p:nvSpPr>
        <p:spPr>
          <a:xfrm>
            <a:off x="8486775" y="481012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0" name="process-view-title-memory"/>
          <p:cNvSpPr>
            <a:spLocks noGrp="1"/>
          </p:cNvSpPr>
          <p:nvPr/>
        </p:nvSpPr>
        <p:spPr>
          <a:xfrm>
            <a:off x="8858250" y="4572000"/>
            <a:ext cx="280035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内存与资源</a:t>
            </a:r>
          </a:p>
        </p:txBody>
      </p:sp>
      <p:sp>
        <p:nvSpPr>
          <p:cNvPr id="31" name="process-view-detail-memory"/>
          <p:cNvSpPr>
            <a:spLocks noGrp="1"/>
          </p:cNvSpPr>
          <p:nvPr/>
        </p:nvSpPr>
        <p:spPr>
          <a:xfrm>
            <a:off x="8858250" y="5029200"/>
            <a:ext cx="2800350" cy="5524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地址空间 · 资源统计</a:t>
            </a:r>
          </a:p>
        </p:txBody>
      </p:sp>
      <p:sp>
        <p:nvSpPr>
          <p:cNvPr id="32" name="process-takeaway"/>
          <p:cNvSpPr>
            <a:spLocks noGrp="1"/>
          </p:cNvSpPr>
          <p:nvPr/>
        </p:nvSpPr>
        <p:spPr>
          <a:xfrm>
            <a:off x="762000" y="5876925"/>
            <a:ext cx="1089660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出现异常时，先找到“哪个进程正在做什么或等待什么”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syscall-boundary"/>
          <p:cNvSpPr>
            <a:spLocks noGrp="1"/>
          </p:cNvSpPr>
          <p:nvPr/>
        </p:nvSpPr>
        <p:spPr>
          <a:xfrm>
            <a:off x="6086475" y="1714500"/>
            <a:ext cx="19050" cy="37147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slide-05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FD 和系统调用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把应用行为映射到内核对象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3" name="fd-definition"/>
          <p:cNvSpPr>
            <a:spLocks noGrp="1"/>
          </p:cNvSpPr>
          <p:nvPr/>
        </p:nvSpPr>
        <p:spPr>
          <a:xfrm>
            <a:off x="533400" y="1371600"/>
            <a:ext cx="52387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FD 是进程访问文件、管道、终端和 Socket 的句柄</a:t>
            </a:r>
          </a:p>
        </p:txBody>
      </p:sp>
      <p:sp>
        <p:nvSpPr>
          <p:cNvPr id="4" name="syscall-definition"/>
          <p:cNvSpPr>
            <a:spLocks noGrp="1"/>
          </p:cNvSpPr>
          <p:nvPr/>
        </p:nvSpPr>
        <p:spPr>
          <a:xfrm>
            <a:off x="6477000" y="1371600"/>
            <a:ext cx="51816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系统调用是应用请求内核执行操作的受控边界</a:t>
            </a:r>
          </a:p>
        </p:txBody>
      </p:sp>
      <p:sp>
        <p:nvSpPr>
          <p:cNvPr id="5" name="application-heading"/>
          <p:cNvSpPr>
            <a:spLocks noGrp="1"/>
          </p:cNvSpPr>
          <p:nvPr/>
        </p:nvSpPr>
        <p:spPr>
          <a:xfrm>
            <a:off x="533400" y="1885950"/>
            <a:ext cx="2476500" cy="4191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应用动作</a:t>
            </a:r>
          </a:p>
        </p:txBody>
      </p:sp>
      <p:sp>
        <p:nvSpPr>
          <p:cNvPr id="6" name="kernel-heading"/>
          <p:cNvSpPr>
            <a:spLocks noGrp="1"/>
          </p:cNvSpPr>
          <p:nvPr/>
        </p:nvSpPr>
        <p:spPr>
          <a:xfrm>
            <a:off x="6667500" y="1885950"/>
            <a:ext cx="2476500" cy="4191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Linux 证据</a:t>
            </a:r>
          </a:p>
        </p:txBody>
      </p:sp>
      <p:sp>
        <p:nvSpPr>
          <p:cNvPr id="7" name="mapping-rule-left-1"/>
          <p:cNvSpPr>
            <a:spLocks noGrp="1"/>
          </p:cNvSpPr>
          <p:nvPr/>
        </p:nvSpPr>
        <p:spPr>
          <a:xfrm>
            <a:off x="533400" y="2847975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8" name="mapping-rule-right-1"/>
          <p:cNvSpPr>
            <a:spLocks noGrp="1"/>
          </p:cNvSpPr>
          <p:nvPr/>
        </p:nvSpPr>
        <p:spPr>
          <a:xfrm>
            <a:off x="6705600" y="2847975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9" name="mapping-action-1"/>
          <p:cNvSpPr>
            <a:spLocks noGrp="1"/>
          </p:cNvSpPr>
          <p:nvPr/>
        </p:nvSpPr>
        <p:spPr>
          <a:xfrm>
            <a:off x="533400" y="2381250"/>
            <a:ext cx="409575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读取配置</a:t>
            </a:r>
          </a:p>
        </p:txBody>
      </p:sp>
      <p:sp>
        <p:nvSpPr>
          <p:cNvPr id="10" name="mapping-arrow-1"/>
          <p:cNvSpPr>
            <a:spLocks noGrp="1"/>
          </p:cNvSpPr>
          <p:nvPr/>
        </p:nvSpPr>
        <p:spPr>
          <a:xfrm>
            <a:off x="5715000" y="2381250"/>
            <a:ext cx="7620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4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11" name="mapping-evidence-1"/>
          <p:cNvSpPr>
            <a:spLocks noGrp="1"/>
          </p:cNvSpPr>
          <p:nvPr/>
        </p:nvSpPr>
        <p:spPr>
          <a:xfrm>
            <a:off x="6705600" y="2381250"/>
            <a:ext cx="47625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openat() / read()</a:t>
            </a:r>
          </a:p>
        </p:txBody>
      </p:sp>
      <p:sp>
        <p:nvSpPr>
          <p:cNvPr id="12" name="mapping-rule-left-2"/>
          <p:cNvSpPr>
            <a:spLocks noGrp="1"/>
          </p:cNvSpPr>
          <p:nvPr/>
        </p:nvSpPr>
        <p:spPr>
          <a:xfrm>
            <a:off x="533400" y="3657600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3" name="mapping-rule-right-2"/>
          <p:cNvSpPr>
            <a:spLocks noGrp="1"/>
          </p:cNvSpPr>
          <p:nvPr/>
        </p:nvSpPr>
        <p:spPr>
          <a:xfrm>
            <a:off x="6705600" y="3657600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4" name="mapping-action-2"/>
          <p:cNvSpPr>
            <a:spLocks noGrp="1"/>
          </p:cNvSpPr>
          <p:nvPr/>
        </p:nvSpPr>
        <p:spPr>
          <a:xfrm>
            <a:off x="533400" y="3190875"/>
            <a:ext cx="409575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写入日志</a:t>
            </a:r>
          </a:p>
        </p:txBody>
      </p:sp>
      <p:sp>
        <p:nvSpPr>
          <p:cNvPr id="15" name="mapping-arrow-2"/>
          <p:cNvSpPr>
            <a:spLocks noGrp="1"/>
          </p:cNvSpPr>
          <p:nvPr/>
        </p:nvSpPr>
        <p:spPr>
          <a:xfrm>
            <a:off x="5715000" y="3190875"/>
            <a:ext cx="7620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4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16" name="mapping-evidence-2"/>
          <p:cNvSpPr>
            <a:spLocks noGrp="1"/>
          </p:cNvSpPr>
          <p:nvPr/>
        </p:nvSpPr>
        <p:spPr>
          <a:xfrm>
            <a:off x="6705600" y="3190875"/>
            <a:ext cx="47625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write()</a:t>
            </a:r>
          </a:p>
        </p:txBody>
      </p:sp>
      <p:sp>
        <p:nvSpPr>
          <p:cNvPr id="17" name="mapping-rule-left-3"/>
          <p:cNvSpPr>
            <a:spLocks noGrp="1"/>
          </p:cNvSpPr>
          <p:nvPr/>
        </p:nvSpPr>
        <p:spPr>
          <a:xfrm>
            <a:off x="533400" y="4467225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8" name="mapping-rule-right-3"/>
          <p:cNvSpPr>
            <a:spLocks noGrp="1"/>
          </p:cNvSpPr>
          <p:nvPr/>
        </p:nvSpPr>
        <p:spPr>
          <a:xfrm>
            <a:off x="6705600" y="4467225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9" name="mapping-action-3"/>
          <p:cNvSpPr>
            <a:spLocks noGrp="1"/>
          </p:cNvSpPr>
          <p:nvPr/>
        </p:nvSpPr>
        <p:spPr>
          <a:xfrm>
            <a:off x="533400" y="4000500"/>
            <a:ext cx="409575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发起连接</a:t>
            </a:r>
          </a:p>
        </p:txBody>
      </p:sp>
      <p:sp>
        <p:nvSpPr>
          <p:cNvPr id="20" name="mapping-arrow-3"/>
          <p:cNvSpPr>
            <a:spLocks noGrp="1"/>
          </p:cNvSpPr>
          <p:nvPr/>
        </p:nvSpPr>
        <p:spPr>
          <a:xfrm>
            <a:off x="5715000" y="4000500"/>
            <a:ext cx="7620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4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21" name="mapping-evidence-3"/>
          <p:cNvSpPr>
            <a:spLocks noGrp="1"/>
          </p:cNvSpPr>
          <p:nvPr/>
        </p:nvSpPr>
        <p:spPr>
          <a:xfrm>
            <a:off x="6705600" y="4000500"/>
            <a:ext cx="47625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socket() / connect()</a:t>
            </a:r>
          </a:p>
        </p:txBody>
      </p:sp>
      <p:sp>
        <p:nvSpPr>
          <p:cNvPr id="22" name="mapping-rule-left-4"/>
          <p:cNvSpPr>
            <a:spLocks noGrp="1"/>
          </p:cNvSpPr>
          <p:nvPr/>
        </p:nvSpPr>
        <p:spPr>
          <a:xfrm>
            <a:off x="533400" y="5276850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3" name="mapping-rule-right-4"/>
          <p:cNvSpPr>
            <a:spLocks noGrp="1"/>
          </p:cNvSpPr>
          <p:nvPr/>
        </p:nvSpPr>
        <p:spPr>
          <a:xfrm>
            <a:off x="6705600" y="5276850"/>
            <a:ext cx="49530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4" name="mapping-action-4"/>
          <p:cNvSpPr>
            <a:spLocks noGrp="1"/>
          </p:cNvSpPr>
          <p:nvPr/>
        </p:nvSpPr>
        <p:spPr>
          <a:xfrm>
            <a:off x="533400" y="4810125"/>
            <a:ext cx="409575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创建任务</a:t>
            </a:r>
          </a:p>
        </p:txBody>
      </p:sp>
      <p:sp>
        <p:nvSpPr>
          <p:cNvPr id="25" name="mapping-arrow-4"/>
          <p:cNvSpPr>
            <a:spLocks noGrp="1"/>
          </p:cNvSpPr>
          <p:nvPr/>
        </p:nvSpPr>
        <p:spPr>
          <a:xfrm>
            <a:off x="5715000" y="4810125"/>
            <a:ext cx="7620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4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26" name="mapping-evidence-4"/>
          <p:cNvSpPr>
            <a:spLocks noGrp="1"/>
          </p:cNvSpPr>
          <p:nvPr/>
        </p:nvSpPr>
        <p:spPr>
          <a:xfrm>
            <a:off x="6705600" y="4810125"/>
            <a:ext cx="4762500" cy="42862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clone()</a:t>
            </a:r>
          </a:p>
        </p:txBody>
      </p:sp>
      <p:sp>
        <p:nvSpPr>
          <p:cNvPr id="27" name="command-strip"/>
          <p:cNvSpPr>
            <a:spLocks noGrp="1"/>
          </p:cNvSpPr>
          <p:nvPr/>
        </p:nvSpPr>
        <p:spPr>
          <a:xfrm>
            <a:off x="533400" y="5848350"/>
            <a:ext cx="11125200" cy="5143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8" name="command-strip-text"/>
          <p:cNvSpPr>
            <a:spLocks noGrp="1"/>
          </p:cNvSpPr>
          <p:nvPr/>
        </p:nvSpPr>
        <p:spPr>
          <a:xfrm>
            <a:off x="781050" y="5953125"/>
            <a:ext cx="1062990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>
                <a:solidFill>
                  <a:srgbClr val="B7F5CE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ls -l /proc/$$/fd      strace -c ls &gt;/dev/null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shutdown-connector-1"/>
          <p:cNvSpPr>
            <a:spLocks noGrp="1"/>
          </p:cNvSpPr>
          <p:nvPr/>
        </p:nvSpPr>
        <p:spPr>
          <a:xfrm>
            <a:off x="8801100" y="2295525"/>
            <a:ext cx="19050" cy="4667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shutdown-connector-2"/>
          <p:cNvSpPr>
            <a:spLocks noGrp="1"/>
          </p:cNvSpPr>
          <p:nvPr/>
        </p:nvSpPr>
        <p:spPr>
          <a:xfrm>
            <a:off x="8801100" y="3057525"/>
            <a:ext cx="19050" cy="4667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3" name="shutdown-connector-3"/>
          <p:cNvSpPr>
            <a:spLocks noGrp="1"/>
          </p:cNvSpPr>
          <p:nvPr/>
        </p:nvSpPr>
        <p:spPr>
          <a:xfrm>
            <a:off x="8801100" y="3819525"/>
            <a:ext cx="19050" cy="4667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" name="shutdown-connector-4"/>
          <p:cNvSpPr>
            <a:spLocks noGrp="1"/>
          </p:cNvSpPr>
          <p:nvPr/>
        </p:nvSpPr>
        <p:spPr>
          <a:xfrm>
            <a:off x="8801100" y="4581525"/>
            <a:ext cx="19050" cy="4667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5" name="service-contract-boundary"/>
          <p:cNvSpPr>
            <a:spLocks noGrp="1"/>
          </p:cNvSpPr>
          <p:nvPr/>
        </p:nvSpPr>
        <p:spPr>
          <a:xfrm>
            <a:off x="533400" y="1695450"/>
            <a:ext cx="6191250" cy="3905250"/>
          </a:xfrm>
          <a:prstGeom prst="rect">
            <a:avLst/>
          </a:prstGeom>
          <a:noFill/>
          <a:ln w="19050">
            <a:solidFill>
              <a:srgbClr val="244236"/>
            </a:solidFill>
            <a:prstDash val="solid"/>
          </a:ln>
        </p:spPr>
      </p:sp>
      <p:sp>
        <p:nvSpPr>
          <p:cNvPr id="6" name="service-process"/>
          <p:cNvSpPr>
            <a:spLocks noGrp="1"/>
          </p:cNvSpPr>
          <p:nvPr/>
        </p:nvSpPr>
        <p:spPr>
          <a:xfrm>
            <a:off x="2543175" y="2971800"/>
            <a:ext cx="2171700" cy="1066800"/>
          </a:xfrm>
          <a:prstGeom prst="rect">
            <a:avLst/>
          </a:prstGeom>
          <a:solidFill>
            <a:srgbClr val="10161D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" name="slide-06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能启动的程序</a:t>
            </a: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，还不是可管理的服务</a:t>
            </a:r>
            <a:endParaRPr sz="3900" b="1">
              <a:solidFill>
                <a:srgbClr val="4ADE80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8" name="contract-heading"/>
          <p:cNvSpPr>
            <a:spLocks noGrp="1"/>
          </p:cNvSpPr>
          <p:nvPr/>
        </p:nvSpPr>
        <p:spPr>
          <a:xfrm>
            <a:off x="781050" y="1905000"/>
            <a:ext cx="2095500" cy="4191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67E29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服务契约</a:t>
            </a:r>
          </a:p>
        </p:txBody>
      </p:sp>
      <p:sp>
        <p:nvSpPr>
          <p:cNvPr id="9" name="shutdown-heading"/>
          <p:cNvSpPr>
            <a:spLocks noGrp="1"/>
          </p:cNvSpPr>
          <p:nvPr/>
        </p:nvSpPr>
        <p:spPr>
          <a:xfrm>
            <a:off x="7505700" y="1695450"/>
            <a:ext cx="2857500" cy="4191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优雅退出</a:t>
            </a:r>
          </a:p>
        </p:txBody>
      </p:sp>
      <p:sp>
        <p:nvSpPr>
          <p:cNvPr id="10" name="service-process-text"/>
          <p:cNvSpPr>
            <a:spLocks noGrp="1"/>
          </p:cNvSpPr>
          <p:nvPr/>
        </p:nvSpPr>
        <p:spPr>
          <a:xfrm>
            <a:off x="2543175" y="3238500"/>
            <a:ext cx="2171700" cy="533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8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应用进程</a:t>
            </a:r>
          </a:p>
        </p:txBody>
      </p:sp>
      <p:sp>
        <p:nvSpPr>
          <p:cNvPr id="11" name="contract-label-1"/>
          <p:cNvSpPr>
            <a:spLocks noGrp="1"/>
          </p:cNvSpPr>
          <p:nvPr/>
        </p:nvSpPr>
        <p:spPr>
          <a:xfrm>
            <a:off x="990600" y="2286000"/>
            <a:ext cx="15240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身份</a:t>
            </a:r>
          </a:p>
        </p:txBody>
      </p:sp>
      <p:sp>
        <p:nvSpPr>
          <p:cNvPr id="12" name="contract-detail-1"/>
          <p:cNvSpPr>
            <a:spLocks noGrp="1"/>
          </p:cNvSpPr>
          <p:nvPr/>
        </p:nvSpPr>
        <p:spPr>
          <a:xfrm>
            <a:off x="990600" y="2686050"/>
            <a:ext cx="1952625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用户 · 目录 · 环境</a:t>
            </a:r>
          </a:p>
        </p:txBody>
      </p:sp>
      <p:sp>
        <p:nvSpPr>
          <p:cNvPr id="13" name="contract-label-2"/>
          <p:cNvSpPr>
            <a:spLocks noGrp="1"/>
          </p:cNvSpPr>
          <p:nvPr/>
        </p:nvSpPr>
        <p:spPr>
          <a:xfrm>
            <a:off x="990600" y="4000500"/>
            <a:ext cx="15240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启动</a:t>
            </a:r>
          </a:p>
        </p:txBody>
      </p:sp>
      <p:sp>
        <p:nvSpPr>
          <p:cNvPr id="14" name="contract-detail-2"/>
          <p:cNvSpPr>
            <a:spLocks noGrp="1"/>
          </p:cNvSpPr>
          <p:nvPr/>
        </p:nvSpPr>
        <p:spPr>
          <a:xfrm>
            <a:off x="990600" y="4400550"/>
            <a:ext cx="1952625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依赖 · 失败重启</a:t>
            </a:r>
          </a:p>
        </p:txBody>
      </p:sp>
      <p:sp>
        <p:nvSpPr>
          <p:cNvPr id="15" name="contract-label-3"/>
          <p:cNvSpPr>
            <a:spLocks noGrp="1"/>
          </p:cNvSpPr>
          <p:nvPr/>
        </p:nvSpPr>
        <p:spPr>
          <a:xfrm>
            <a:off x="4533900" y="2286000"/>
            <a:ext cx="15240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退出</a:t>
            </a:r>
          </a:p>
        </p:txBody>
      </p:sp>
      <p:sp>
        <p:nvSpPr>
          <p:cNvPr id="16" name="contract-detail-3"/>
          <p:cNvSpPr>
            <a:spLocks noGrp="1"/>
          </p:cNvSpPr>
          <p:nvPr/>
        </p:nvSpPr>
        <p:spPr>
          <a:xfrm>
            <a:off x="4533900" y="2686050"/>
            <a:ext cx="1952625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信号 · 退出状态</a:t>
            </a:r>
          </a:p>
        </p:txBody>
      </p:sp>
      <p:sp>
        <p:nvSpPr>
          <p:cNvPr id="17" name="contract-label-4"/>
          <p:cNvSpPr>
            <a:spLocks noGrp="1"/>
          </p:cNvSpPr>
          <p:nvPr/>
        </p:nvSpPr>
        <p:spPr>
          <a:xfrm>
            <a:off x="4533900" y="4000500"/>
            <a:ext cx="15240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日志</a:t>
            </a:r>
          </a:p>
        </p:txBody>
      </p:sp>
      <p:sp>
        <p:nvSpPr>
          <p:cNvPr id="18" name="contract-detail-4"/>
          <p:cNvSpPr>
            <a:spLocks noGrp="1"/>
          </p:cNvSpPr>
          <p:nvPr/>
        </p:nvSpPr>
        <p:spPr>
          <a:xfrm>
            <a:off x="4533900" y="4400550"/>
            <a:ext cx="1952625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失败原因可追溯</a:t>
            </a:r>
          </a:p>
        </p:txBody>
      </p:sp>
      <p:sp>
        <p:nvSpPr>
          <p:cNvPr id="19" name="contract-label-5"/>
          <p:cNvSpPr>
            <a:spLocks noGrp="1"/>
          </p:cNvSpPr>
          <p:nvPr/>
        </p:nvSpPr>
        <p:spPr>
          <a:xfrm>
            <a:off x="2762250" y="4810125"/>
            <a:ext cx="15240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资源</a:t>
            </a:r>
          </a:p>
        </p:txBody>
      </p:sp>
      <p:sp>
        <p:nvSpPr>
          <p:cNvPr id="20" name="contract-detail-5"/>
          <p:cNvSpPr>
            <a:spLocks noGrp="1"/>
          </p:cNvSpPr>
          <p:nvPr/>
        </p:nvSpPr>
        <p:spPr>
          <a:xfrm>
            <a:off x="2762250" y="5210175"/>
            <a:ext cx="1952625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CPU · 内存 · FD</a:t>
            </a:r>
          </a:p>
        </p:txBody>
      </p:sp>
      <p:sp>
        <p:nvSpPr>
          <p:cNvPr id="21" name="shutdown-node-1"/>
          <p:cNvSpPr>
            <a:spLocks noGrp="1"/>
          </p:cNvSpPr>
          <p:nvPr/>
        </p:nvSpPr>
        <p:spPr>
          <a:xfrm>
            <a:off x="8705850" y="2000250"/>
            <a:ext cx="209550" cy="209550"/>
          </a:xfrm>
          <a:prstGeom prst="ellipse">
            <a:avLst/>
          </a:prstGeom>
          <a:solidFill>
            <a:srgbClr val="4ADE80"/>
          </a:solidFill>
          <a:ln w="19050">
            <a:solidFill>
              <a:srgbClr val="B7F5CE"/>
            </a:solidFill>
            <a:prstDash val="solid"/>
          </a:ln>
        </p:spPr>
      </p:sp>
      <p:sp>
        <p:nvSpPr>
          <p:cNvPr id="22" name="shutdown-label-1"/>
          <p:cNvSpPr>
            <a:spLocks noGrp="1"/>
          </p:cNvSpPr>
          <p:nvPr/>
        </p:nvSpPr>
        <p:spPr>
          <a:xfrm>
            <a:off x="9201150" y="1914525"/>
            <a:ext cx="245745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SIGTERM</a:t>
            </a:r>
          </a:p>
        </p:txBody>
      </p:sp>
      <p:sp>
        <p:nvSpPr>
          <p:cNvPr id="23" name="shutdown-node-2"/>
          <p:cNvSpPr>
            <a:spLocks noGrp="1"/>
          </p:cNvSpPr>
          <p:nvPr/>
        </p:nvSpPr>
        <p:spPr>
          <a:xfrm>
            <a:off x="8705850" y="2762250"/>
            <a:ext cx="209550" cy="2095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4" name="shutdown-label-2"/>
          <p:cNvSpPr>
            <a:spLocks noGrp="1"/>
          </p:cNvSpPr>
          <p:nvPr/>
        </p:nvSpPr>
        <p:spPr>
          <a:xfrm>
            <a:off x="9201150" y="2676525"/>
            <a:ext cx="245745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停止接收新请求</a:t>
            </a:r>
          </a:p>
        </p:txBody>
      </p:sp>
      <p:sp>
        <p:nvSpPr>
          <p:cNvPr id="25" name="shutdown-node-3"/>
          <p:cNvSpPr>
            <a:spLocks noGrp="1"/>
          </p:cNvSpPr>
          <p:nvPr/>
        </p:nvSpPr>
        <p:spPr>
          <a:xfrm>
            <a:off x="8705850" y="3524250"/>
            <a:ext cx="209550" cy="2095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6" name="shutdown-label-3"/>
          <p:cNvSpPr>
            <a:spLocks noGrp="1"/>
          </p:cNvSpPr>
          <p:nvPr/>
        </p:nvSpPr>
        <p:spPr>
          <a:xfrm>
            <a:off x="9201150" y="3438525"/>
            <a:ext cx="245745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等待进行中任务</a:t>
            </a:r>
          </a:p>
        </p:txBody>
      </p:sp>
      <p:sp>
        <p:nvSpPr>
          <p:cNvPr id="27" name="shutdown-node-4"/>
          <p:cNvSpPr>
            <a:spLocks noGrp="1"/>
          </p:cNvSpPr>
          <p:nvPr/>
        </p:nvSpPr>
        <p:spPr>
          <a:xfrm>
            <a:off x="8705850" y="4286250"/>
            <a:ext cx="209550" cy="2095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8" name="shutdown-label-4"/>
          <p:cNvSpPr>
            <a:spLocks noGrp="1"/>
          </p:cNvSpPr>
          <p:nvPr/>
        </p:nvSpPr>
        <p:spPr>
          <a:xfrm>
            <a:off x="9201150" y="4200525"/>
            <a:ext cx="245745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刷新数据并关闭连接</a:t>
            </a:r>
          </a:p>
        </p:txBody>
      </p:sp>
      <p:sp>
        <p:nvSpPr>
          <p:cNvPr id="29" name="shutdown-node-5"/>
          <p:cNvSpPr>
            <a:spLocks noGrp="1"/>
          </p:cNvSpPr>
          <p:nvPr/>
        </p:nvSpPr>
        <p:spPr>
          <a:xfrm>
            <a:off x="8705850" y="5048250"/>
            <a:ext cx="209550" cy="2095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0" name="shutdown-label-5"/>
          <p:cNvSpPr>
            <a:spLocks noGrp="1"/>
          </p:cNvSpPr>
          <p:nvPr/>
        </p:nvSpPr>
        <p:spPr>
          <a:xfrm>
            <a:off x="9201150" y="4962525"/>
            <a:ext cx="245745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返回有意义的退出码</a:t>
            </a:r>
          </a:p>
        </p:txBody>
      </p:sp>
      <p:sp>
        <p:nvSpPr>
          <p:cNvPr id="31" name="service-takeaway-accent"/>
          <p:cNvSpPr>
            <a:spLocks noGrp="1"/>
          </p:cNvSpPr>
          <p:nvPr/>
        </p:nvSpPr>
        <p:spPr>
          <a:xfrm>
            <a:off x="533400" y="5943600"/>
            <a:ext cx="38100" cy="457200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32" name="service-takeaway"/>
          <p:cNvSpPr>
            <a:spLocks noGrp="1"/>
          </p:cNvSpPr>
          <p:nvPr/>
        </p:nvSpPr>
        <p:spPr>
          <a:xfrm>
            <a:off x="762000" y="5895975"/>
            <a:ext cx="1089660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工程交付的是可管理、可观察、可退出、可恢复的服务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slide-07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先证明用户真的遇到了问题</a:t>
            </a:r>
            <a:endParaRPr sz="3900" b="1">
              <a:solidFill>
                <a:srgbClr val="4ADE80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evidence-ladder-heading"/>
          <p:cNvSpPr>
            <a:spLocks noGrp="1"/>
          </p:cNvSpPr>
          <p:nvPr/>
        </p:nvSpPr>
        <p:spPr>
          <a:xfrm>
            <a:off x="533400" y="1476375"/>
            <a:ext cx="61912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证据从用户影响向责任对象收敛</a:t>
            </a:r>
          </a:p>
        </p:txBody>
      </p:sp>
      <p:sp>
        <p:nvSpPr>
          <p:cNvPr id="3" name="evidence-layer-1"/>
          <p:cNvSpPr>
            <a:spLocks noGrp="1"/>
          </p:cNvSpPr>
          <p:nvPr/>
        </p:nvSpPr>
        <p:spPr>
          <a:xfrm>
            <a:off x="533400" y="2000250"/>
            <a:ext cx="6572250" cy="876300"/>
          </a:xfrm>
          <a:prstGeom prst="rect">
            <a:avLst/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4" name="evidence-layer-title-1"/>
          <p:cNvSpPr>
            <a:spLocks noGrp="1"/>
          </p:cNvSpPr>
          <p:nvPr/>
        </p:nvSpPr>
        <p:spPr>
          <a:xfrm>
            <a:off x="762000" y="2152650"/>
            <a:ext cx="18097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用户 / 服务</a:t>
            </a:r>
          </a:p>
        </p:txBody>
      </p:sp>
      <p:sp>
        <p:nvSpPr>
          <p:cNvPr id="5" name="evidence-layer-signals-1"/>
          <p:cNvSpPr>
            <a:spLocks noGrp="1"/>
          </p:cNvSpPr>
          <p:nvPr/>
        </p:nvSpPr>
        <p:spPr>
          <a:xfrm>
            <a:off x="2609850" y="2152650"/>
            <a:ext cx="42672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延迟 · 吞吐量 · 错误率</a:t>
            </a:r>
          </a:p>
        </p:txBody>
      </p:sp>
      <p:sp>
        <p:nvSpPr>
          <p:cNvPr id="6" name="evidence-layer-question-1"/>
          <p:cNvSpPr>
            <a:spLocks noGrp="1"/>
          </p:cNvSpPr>
          <p:nvPr/>
        </p:nvSpPr>
        <p:spPr>
          <a:xfrm>
            <a:off x="762000" y="2505075"/>
            <a:ext cx="61150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服务是否真的变慢或不可用？</a:t>
            </a:r>
          </a:p>
        </p:txBody>
      </p:sp>
      <p:sp>
        <p:nvSpPr>
          <p:cNvPr id="7" name="evidence-layer-2"/>
          <p:cNvSpPr>
            <a:spLocks noGrp="1"/>
          </p:cNvSpPr>
          <p:nvPr/>
        </p:nvSpPr>
        <p:spPr>
          <a:xfrm>
            <a:off x="1066800" y="3143250"/>
            <a:ext cx="6038850" cy="8763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8" name="evidence-layer-title-2"/>
          <p:cNvSpPr>
            <a:spLocks noGrp="1"/>
          </p:cNvSpPr>
          <p:nvPr/>
        </p:nvSpPr>
        <p:spPr>
          <a:xfrm>
            <a:off x="1295400" y="3295650"/>
            <a:ext cx="18097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系统资源</a:t>
            </a:r>
          </a:p>
        </p:txBody>
      </p:sp>
      <p:sp>
        <p:nvSpPr>
          <p:cNvPr id="9" name="evidence-layer-signals-2"/>
          <p:cNvSpPr>
            <a:spLocks noGrp="1"/>
          </p:cNvSpPr>
          <p:nvPr/>
        </p:nvSpPr>
        <p:spPr>
          <a:xfrm>
            <a:off x="3143250" y="3295650"/>
            <a:ext cx="37338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使用率 · 饱和 · 错误</a:t>
            </a:r>
          </a:p>
        </p:txBody>
      </p:sp>
      <p:sp>
        <p:nvSpPr>
          <p:cNvPr id="10" name="evidence-layer-question-2"/>
          <p:cNvSpPr>
            <a:spLocks noGrp="1"/>
          </p:cNvSpPr>
          <p:nvPr/>
        </p:nvSpPr>
        <p:spPr>
          <a:xfrm>
            <a:off x="1295400" y="3648075"/>
            <a:ext cx="55816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哪类资源可能正在限制服务？</a:t>
            </a:r>
          </a:p>
        </p:txBody>
      </p:sp>
      <p:sp>
        <p:nvSpPr>
          <p:cNvPr id="11" name="evidence-layer-3"/>
          <p:cNvSpPr>
            <a:spLocks noGrp="1"/>
          </p:cNvSpPr>
          <p:nvPr/>
        </p:nvSpPr>
        <p:spPr>
          <a:xfrm>
            <a:off x="1600200" y="4286250"/>
            <a:ext cx="5505450" cy="876300"/>
          </a:xfrm>
          <a:prstGeom prst="rect">
            <a:avLst/>
          </a:prstGeom>
          <a:solidFill>
            <a:srgbClr val="0F151B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2" name="evidence-layer-title-3"/>
          <p:cNvSpPr>
            <a:spLocks noGrp="1"/>
          </p:cNvSpPr>
          <p:nvPr/>
        </p:nvSpPr>
        <p:spPr>
          <a:xfrm>
            <a:off x="1828800" y="4438650"/>
            <a:ext cx="18097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 / 调用</a:t>
            </a:r>
          </a:p>
        </p:txBody>
      </p:sp>
      <p:sp>
        <p:nvSpPr>
          <p:cNvPr id="13" name="evidence-layer-signals-3"/>
          <p:cNvSpPr>
            <a:spLocks noGrp="1"/>
          </p:cNvSpPr>
          <p:nvPr/>
        </p:nvSpPr>
        <p:spPr>
          <a:xfrm>
            <a:off x="3676650" y="4438650"/>
            <a:ext cx="32004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状态 · I/O · 系统调用 · 依赖耗时</a:t>
            </a:r>
          </a:p>
        </p:txBody>
      </p:sp>
      <p:sp>
        <p:nvSpPr>
          <p:cNvPr id="14" name="evidence-layer-question-3"/>
          <p:cNvSpPr>
            <a:spLocks noGrp="1"/>
          </p:cNvSpPr>
          <p:nvPr/>
        </p:nvSpPr>
        <p:spPr>
          <a:xfrm>
            <a:off x="1828800" y="4791075"/>
            <a:ext cx="50482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压力为什么出现，谁在负责？</a:t>
            </a:r>
          </a:p>
        </p:txBody>
      </p:sp>
      <p:sp>
        <p:nvSpPr>
          <p:cNvPr id="15" name="rewrite-heading"/>
          <p:cNvSpPr>
            <a:spLocks noGrp="1"/>
          </p:cNvSpPr>
          <p:nvPr/>
        </p:nvSpPr>
        <p:spPr>
          <a:xfrm>
            <a:off x="7791450" y="1657350"/>
            <a:ext cx="3867150" cy="666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把模糊现象改写成可验证问题</a:t>
            </a:r>
          </a:p>
        </p:txBody>
      </p:sp>
      <p:sp>
        <p:nvSpPr>
          <p:cNvPr id="16" name="bad-question"/>
          <p:cNvSpPr>
            <a:spLocks noGrp="1"/>
          </p:cNvSpPr>
          <p:nvPr/>
        </p:nvSpPr>
        <p:spPr>
          <a:xfrm>
            <a:off x="7791450" y="2667000"/>
            <a:ext cx="3867150" cy="5143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“CPU 很高”</a:t>
            </a:r>
          </a:p>
        </p:txBody>
      </p:sp>
      <p:sp>
        <p:nvSpPr>
          <p:cNvPr id="17" name="bad-question-label"/>
          <p:cNvSpPr>
            <a:spLocks noGrp="1"/>
          </p:cNvSpPr>
          <p:nvPr/>
        </p:nvSpPr>
        <p:spPr>
          <a:xfrm>
            <a:off x="7791450" y="3219450"/>
            <a:ext cx="38671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66717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不是完整的用户问题</a:t>
            </a:r>
          </a:p>
        </p:txBody>
      </p:sp>
      <p:sp>
        <p:nvSpPr>
          <p:cNvPr id="18" name="rewrite-divider"/>
          <p:cNvSpPr>
            <a:spLocks noGrp="1"/>
          </p:cNvSpPr>
          <p:nvPr/>
        </p:nvSpPr>
        <p:spPr>
          <a:xfrm>
            <a:off x="7791450" y="3800475"/>
            <a:ext cx="38671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9" name="good-question"/>
          <p:cNvSpPr>
            <a:spLocks noGrp="1"/>
          </p:cNvSpPr>
          <p:nvPr/>
        </p:nvSpPr>
        <p:spPr>
          <a:xfrm>
            <a:off x="7791450" y="4143375"/>
            <a:ext cx="3867150" cy="8953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“相同流量下，接口 p95
从 80 ms 上升到 900 ms”</a:t>
            </a:r>
          </a:p>
        </p:txBody>
      </p:sp>
      <p:sp>
        <p:nvSpPr>
          <p:cNvPr id="20" name="good-question-label"/>
          <p:cNvSpPr>
            <a:spLocks noGrp="1"/>
          </p:cNvSpPr>
          <p:nvPr/>
        </p:nvSpPr>
        <p:spPr>
          <a:xfrm>
            <a:off x="7791450" y="5181600"/>
            <a:ext cx="38671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才是可以复测的问题描述</a:t>
            </a:r>
          </a:p>
        </p:txBody>
      </p:sp>
      <p:sp>
        <p:nvSpPr>
          <p:cNvPr id="21" name="evidence-takeaway"/>
          <p:cNvSpPr>
            <a:spLocks noGrp="1"/>
          </p:cNvSpPr>
          <p:nvPr/>
        </p:nvSpPr>
        <p:spPr>
          <a:xfrm>
            <a:off x="7791450" y="5857875"/>
            <a:ext cx="3867150" cy="457200"/>
          </a:xfrm>
          <a:prstGeom prst="rect">
            <a:avLst/>
          </a:prstGeom>
          <a:solidFill>
            <a:srgbClr val="10161D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22" name="evidence-takeaway-text"/>
          <p:cNvSpPr>
            <a:spLocks noGrp="1"/>
          </p:cNvSpPr>
          <p:nvPr/>
        </p:nvSpPr>
        <p:spPr>
          <a:xfrm>
            <a:off x="7981950" y="5943600"/>
            <a:ext cx="34861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没有用户指标，就没有验收标准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causal-connector-1"/>
          <p:cNvSpPr>
            <a:spLocks noGrp="1"/>
          </p:cNvSpPr>
          <p:nvPr/>
        </p:nvSpPr>
        <p:spPr>
          <a:xfrm>
            <a:off x="2705100" y="2514600"/>
            <a:ext cx="6477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2" name="causal-connector-2"/>
          <p:cNvSpPr>
            <a:spLocks noGrp="1"/>
          </p:cNvSpPr>
          <p:nvPr/>
        </p:nvSpPr>
        <p:spPr>
          <a:xfrm>
            <a:off x="5524500" y="2514600"/>
            <a:ext cx="6477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3" name="causal-connector-3"/>
          <p:cNvSpPr>
            <a:spLocks noGrp="1"/>
          </p:cNvSpPr>
          <p:nvPr/>
        </p:nvSpPr>
        <p:spPr>
          <a:xfrm>
            <a:off x="8572500" y="2514600"/>
            <a:ext cx="6477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" name="wait-branch-spine"/>
          <p:cNvSpPr>
            <a:spLocks noGrp="1"/>
          </p:cNvSpPr>
          <p:nvPr/>
        </p:nvSpPr>
        <p:spPr>
          <a:xfrm>
            <a:off x="1733550" y="4762500"/>
            <a:ext cx="8724900" cy="19050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5" name="wait-branch-connector-1"/>
          <p:cNvSpPr>
            <a:spLocks noGrp="1"/>
          </p:cNvSpPr>
          <p:nvPr/>
        </p:nvSpPr>
        <p:spPr>
          <a:xfrm>
            <a:off x="1790700" y="4762500"/>
            <a:ext cx="19050" cy="40957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6" name="wait-branch-connector-2"/>
          <p:cNvSpPr>
            <a:spLocks noGrp="1"/>
          </p:cNvSpPr>
          <p:nvPr/>
        </p:nvSpPr>
        <p:spPr>
          <a:xfrm>
            <a:off x="4419600" y="4762500"/>
            <a:ext cx="19050" cy="40957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7" name="wait-branch-connector-3"/>
          <p:cNvSpPr>
            <a:spLocks noGrp="1"/>
          </p:cNvSpPr>
          <p:nvPr/>
        </p:nvSpPr>
        <p:spPr>
          <a:xfrm>
            <a:off x="7048500" y="4762500"/>
            <a:ext cx="19050" cy="40957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8" name="wait-branch-connector-4"/>
          <p:cNvSpPr>
            <a:spLocks noGrp="1"/>
          </p:cNvSpPr>
          <p:nvPr/>
        </p:nvSpPr>
        <p:spPr>
          <a:xfrm>
            <a:off x="9677400" y="4762500"/>
            <a:ext cx="19050" cy="40957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9" name="slide-08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性能恶化通常从 </a:t>
            </a:r>
            <a:r>
              <a:rPr sz="3900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排队和等待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开始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10" name="causal-node-1"/>
          <p:cNvSpPr>
            <a:spLocks noGrp="1"/>
          </p:cNvSpPr>
          <p:nvPr/>
        </p:nvSpPr>
        <p:spPr>
          <a:xfrm>
            <a:off x="533400" y="1924050"/>
            <a:ext cx="2171700" cy="12001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1" name="causal-node-label-1"/>
          <p:cNvSpPr>
            <a:spLocks noGrp="1"/>
          </p:cNvSpPr>
          <p:nvPr/>
        </p:nvSpPr>
        <p:spPr>
          <a:xfrm>
            <a:off x="723900" y="2133600"/>
            <a:ext cx="17907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负载增长</a:t>
            </a:r>
          </a:p>
        </p:txBody>
      </p:sp>
      <p:sp>
        <p:nvSpPr>
          <p:cNvPr id="12" name="causal-arrow-1"/>
          <p:cNvSpPr>
            <a:spLocks noGrp="1"/>
          </p:cNvSpPr>
          <p:nvPr/>
        </p:nvSpPr>
        <p:spPr>
          <a:xfrm>
            <a:off x="2733675" y="2276475"/>
            <a:ext cx="5905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2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13" name="causal-node-2"/>
          <p:cNvSpPr>
            <a:spLocks noGrp="1"/>
          </p:cNvSpPr>
          <p:nvPr/>
        </p:nvSpPr>
        <p:spPr>
          <a:xfrm>
            <a:off x="3352800" y="1924050"/>
            <a:ext cx="2171700" cy="12001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4" name="causal-node-label-2"/>
          <p:cNvSpPr>
            <a:spLocks noGrp="1"/>
          </p:cNvSpPr>
          <p:nvPr/>
        </p:nvSpPr>
        <p:spPr>
          <a:xfrm>
            <a:off x="3543300" y="2133600"/>
            <a:ext cx="17907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资源逼近处理能力</a:t>
            </a:r>
          </a:p>
        </p:txBody>
      </p:sp>
      <p:sp>
        <p:nvSpPr>
          <p:cNvPr id="15" name="causal-arrow-2"/>
          <p:cNvSpPr>
            <a:spLocks noGrp="1"/>
          </p:cNvSpPr>
          <p:nvPr/>
        </p:nvSpPr>
        <p:spPr>
          <a:xfrm>
            <a:off x="5553075" y="2276475"/>
            <a:ext cx="5905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2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16" name="causal-node-3"/>
          <p:cNvSpPr>
            <a:spLocks noGrp="1"/>
          </p:cNvSpPr>
          <p:nvPr/>
        </p:nvSpPr>
        <p:spPr>
          <a:xfrm>
            <a:off x="6400800" y="1924050"/>
            <a:ext cx="2171700" cy="1200150"/>
          </a:xfrm>
          <a:prstGeom prst="rect">
            <a:avLst/>
          </a:prstGeom>
          <a:solidFill>
            <a:srgbClr val="211B12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7" name="causal-node-label-3"/>
          <p:cNvSpPr>
            <a:spLocks noGrp="1"/>
          </p:cNvSpPr>
          <p:nvPr/>
        </p:nvSpPr>
        <p:spPr>
          <a:xfrm>
            <a:off x="6591300" y="2133600"/>
            <a:ext cx="17907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100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队列、等待或失速增加</a:t>
            </a:r>
          </a:p>
        </p:txBody>
      </p:sp>
      <p:sp>
        <p:nvSpPr>
          <p:cNvPr id="18" name="causal-arrow-3"/>
          <p:cNvSpPr>
            <a:spLocks noGrp="1"/>
          </p:cNvSpPr>
          <p:nvPr/>
        </p:nvSpPr>
        <p:spPr>
          <a:xfrm>
            <a:off x="8601075" y="2276475"/>
            <a:ext cx="590550" cy="4762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2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→</a:t>
            </a:r>
          </a:p>
        </p:txBody>
      </p:sp>
      <p:sp>
        <p:nvSpPr>
          <p:cNvPr id="19" name="causal-node-4"/>
          <p:cNvSpPr>
            <a:spLocks noGrp="1"/>
          </p:cNvSpPr>
          <p:nvPr/>
        </p:nvSpPr>
        <p:spPr>
          <a:xfrm>
            <a:off x="9525000" y="1924050"/>
            <a:ext cx="2171700" cy="12001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0" name="causal-node-label-4"/>
          <p:cNvSpPr>
            <a:spLocks noGrp="1"/>
          </p:cNvSpPr>
          <p:nvPr/>
        </p:nvSpPr>
        <p:spPr>
          <a:xfrm>
            <a:off x="9715500" y="2133600"/>
            <a:ext cx="1790700" cy="781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延迟上升
吞吐下降
错误增加</a:t>
            </a:r>
          </a:p>
        </p:txBody>
      </p:sp>
      <p:sp>
        <p:nvSpPr>
          <p:cNvPr id="21" name="wait-location-heading"/>
          <p:cNvSpPr>
            <a:spLocks noGrp="1"/>
          </p:cNvSpPr>
          <p:nvPr/>
        </p:nvSpPr>
        <p:spPr>
          <a:xfrm>
            <a:off x="533400" y="3638550"/>
            <a:ext cx="11125200" cy="457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同一个“服务很慢”，等待可能发生在不同位置</a:t>
            </a:r>
          </a:p>
        </p:txBody>
      </p:sp>
      <p:sp>
        <p:nvSpPr>
          <p:cNvPr id="22" name="wait-branch-node-1"/>
          <p:cNvSpPr>
            <a:spLocks noGrp="1"/>
          </p:cNvSpPr>
          <p:nvPr/>
        </p:nvSpPr>
        <p:spPr>
          <a:xfrm>
            <a:off x="1714500" y="46767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3" name="wait-branch-title-1"/>
          <p:cNvSpPr>
            <a:spLocks noGrp="1"/>
          </p:cNvSpPr>
          <p:nvPr/>
        </p:nvSpPr>
        <p:spPr>
          <a:xfrm>
            <a:off x="914400" y="5219700"/>
            <a:ext cx="20955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CPU 调度</a:t>
            </a:r>
          </a:p>
        </p:txBody>
      </p:sp>
      <p:sp>
        <p:nvSpPr>
          <p:cNvPr id="24" name="wait-branch-detail-1"/>
          <p:cNvSpPr>
            <a:spLocks noGrp="1"/>
          </p:cNvSpPr>
          <p:nvPr/>
        </p:nvSpPr>
        <p:spPr>
          <a:xfrm>
            <a:off x="914400" y="5638800"/>
            <a:ext cx="2095500" cy="4953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任务等待运行</a:t>
            </a:r>
          </a:p>
        </p:txBody>
      </p:sp>
      <p:sp>
        <p:nvSpPr>
          <p:cNvPr id="25" name="wait-branch-node-2"/>
          <p:cNvSpPr>
            <a:spLocks noGrp="1"/>
          </p:cNvSpPr>
          <p:nvPr/>
        </p:nvSpPr>
        <p:spPr>
          <a:xfrm>
            <a:off x="4343400" y="46767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6" name="wait-branch-title-2"/>
          <p:cNvSpPr>
            <a:spLocks noGrp="1"/>
          </p:cNvSpPr>
          <p:nvPr/>
        </p:nvSpPr>
        <p:spPr>
          <a:xfrm>
            <a:off x="3543300" y="5219700"/>
            <a:ext cx="20955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存储 I/O</a:t>
            </a:r>
          </a:p>
        </p:txBody>
      </p:sp>
      <p:sp>
        <p:nvSpPr>
          <p:cNvPr id="27" name="wait-branch-detail-2"/>
          <p:cNvSpPr>
            <a:spLocks noGrp="1"/>
          </p:cNvSpPr>
          <p:nvPr/>
        </p:nvSpPr>
        <p:spPr>
          <a:xfrm>
            <a:off x="3543300" y="5638800"/>
            <a:ext cx="2095500" cy="4953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进程等待完成</a:t>
            </a:r>
          </a:p>
        </p:txBody>
      </p:sp>
      <p:sp>
        <p:nvSpPr>
          <p:cNvPr id="28" name="wait-branch-node-3"/>
          <p:cNvSpPr>
            <a:spLocks noGrp="1"/>
          </p:cNvSpPr>
          <p:nvPr/>
        </p:nvSpPr>
        <p:spPr>
          <a:xfrm>
            <a:off x="6972300" y="46767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wait-branch-title-3"/>
          <p:cNvSpPr>
            <a:spLocks noGrp="1"/>
          </p:cNvSpPr>
          <p:nvPr/>
        </p:nvSpPr>
        <p:spPr>
          <a:xfrm>
            <a:off x="6172200" y="5219700"/>
            <a:ext cx="20955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内存</a:t>
            </a:r>
          </a:p>
        </p:txBody>
      </p:sp>
      <p:sp>
        <p:nvSpPr>
          <p:cNvPr id="30" name="wait-branch-detail-3"/>
          <p:cNvSpPr>
            <a:spLocks noGrp="1"/>
          </p:cNvSpPr>
          <p:nvPr/>
        </p:nvSpPr>
        <p:spPr>
          <a:xfrm>
            <a:off x="6172200" y="5638800"/>
            <a:ext cx="2095500" cy="4953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回收、换页或分配失速</a:t>
            </a:r>
          </a:p>
        </p:txBody>
      </p:sp>
      <p:sp>
        <p:nvSpPr>
          <p:cNvPr id="31" name="wait-branch-node-4"/>
          <p:cNvSpPr>
            <a:spLocks noGrp="1"/>
          </p:cNvSpPr>
          <p:nvPr/>
        </p:nvSpPr>
        <p:spPr>
          <a:xfrm>
            <a:off x="9601200" y="4676775"/>
            <a:ext cx="171450" cy="171450"/>
          </a:xfrm>
          <a:prstGeom prst="ellipse">
            <a:avLst/>
          </a:prstGeom>
          <a:solidFill>
            <a:srgbClr val="0B0F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2" name="wait-branch-title-4"/>
          <p:cNvSpPr>
            <a:spLocks noGrp="1"/>
          </p:cNvSpPr>
          <p:nvPr/>
        </p:nvSpPr>
        <p:spPr>
          <a:xfrm>
            <a:off x="8801100" y="5219700"/>
            <a:ext cx="2095500" cy="3810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1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网络 / 依赖</a:t>
            </a:r>
          </a:p>
        </p:txBody>
      </p:sp>
      <p:sp>
        <p:nvSpPr>
          <p:cNvPr id="33" name="wait-branch-detail-4"/>
          <p:cNvSpPr>
            <a:spLocks noGrp="1"/>
          </p:cNvSpPr>
          <p:nvPr/>
        </p:nvSpPr>
        <p:spPr>
          <a:xfrm>
            <a:off x="8801100" y="5638800"/>
            <a:ext cx="2095500" cy="4953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建连、重传或响应等待</a:t>
            </a:r>
          </a:p>
        </p:txBody>
      </p:sp>
      <p:sp>
        <p:nvSpPr>
          <p:cNvPr id="34" name="wait-takeaway"/>
          <p:cNvSpPr>
            <a:spLocks noGrp="1"/>
          </p:cNvSpPr>
          <p:nvPr/>
        </p:nvSpPr>
        <p:spPr>
          <a:xfrm>
            <a:off x="533400" y="6257925"/>
            <a:ext cx="111252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不要先猜资源，先找工作卡在哪里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slide-09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Load 只能提示任务压力</a:t>
            </a: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，不能告诉你根因</a:t>
            </a:r>
            <a:endParaRPr sz="3900" b="1">
              <a:solidFill>
                <a:srgbClr val="4ADE80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load-metric-surface"/>
          <p:cNvSpPr>
            <a:spLocks noGrp="1"/>
          </p:cNvSpPr>
          <p:nvPr/>
        </p:nvSpPr>
        <p:spPr>
          <a:xfrm>
            <a:off x="533400" y="1809750"/>
            <a:ext cx="3429000" cy="39052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" name="load-machine"/>
          <p:cNvSpPr>
            <a:spLocks noGrp="1"/>
          </p:cNvSpPr>
          <p:nvPr/>
        </p:nvSpPr>
        <p:spPr>
          <a:xfrm>
            <a:off x="838200" y="2114550"/>
            <a:ext cx="281940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8 核机器</a:t>
            </a:r>
          </a:p>
        </p:txBody>
      </p:sp>
      <p:sp>
        <p:nvSpPr>
          <p:cNvPr id="4" name="load-value"/>
          <p:cNvSpPr>
            <a:spLocks noGrp="1"/>
          </p:cNvSpPr>
          <p:nvPr/>
        </p:nvSpPr>
        <p:spPr>
          <a:xfrm>
            <a:off x="838200" y="2743200"/>
            <a:ext cx="2819400" cy="742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43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Load 15</a:t>
            </a:r>
          </a:p>
        </p:txBody>
      </p:sp>
      <p:sp>
        <p:nvSpPr>
          <p:cNvPr id="5" name="load-not-equal"/>
          <p:cNvSpPr>
            <a:spLocks noGrp="1"/>
          </p:cNvSpPr>
          <p:nvPr/>
        </p:nvSpPr>
        <p:spPr>
          <a:xfrm>
            <a:off x="838200" y="3714750"/>
            <a:ext cx="666750" cy="685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405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≠</a:t>
            </a:r>
          </a:p>
        </p:txBody>
      </p:sp>
      <p:sp>
        <p:nvSpPr>
          <p:cNvPr id="6" name="load-not-conclusion"/>
          <p:cNvSpPr>
            <a:spLocks noGrp="1"/>
          </p:cNvSpPr>
          <p:nvPr/>
        </p:nvSpPr>
        <p:spPr>
          <a:xfrm>
            <a:off x="1504950" y="3790950"/>
            <a:ext cx="2152650" cy="5524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8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CPU 已满</a:t>
            </a:r>
          </a:p>
        </p:txBody>
      </p:sp>
      <p:sp>
        <p:nvSpPr>
          <p:cNvPr id="7" name="load-context"/>
          <p:cNvSpPr>
            <a:spLocks noGrp="1"/>
          </p:cNvSpPr>
          <p:nvPr/>
        </p:nvSpPr>
        <p:spPr>
          <a:xfrm>
            <a:off x="838200" y="4762500"/>
            <a:ext cx="2819400" cy="685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必须结合 CPU 数、用户指标、
进程状态和子系统证据</a:t>
            </a:r>
          </a:p>
        </p:txBody>
      </p:sp>
      <p:sp>
        <p:nvSpPr>
          <p:cNvPr id="8" name="joint-heading"/>
          <p:cNvSpPr>
            <a:spLocks noGrp="1"/>
          </p:cNvSpPr>
          <p:nvPr/>
        </p:nvSpPr>
        <p:spPr>
          <a:xfrm>
            <a:off x="4572000" y="1619250"/>
            <a:ext cx="7086600" cy="4762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相同的高 Load，可以指向不同方向</a:t>
            </a:r>
          </a:p>
        </p:txBody>
      </p:sp>
      <p:sp>
        <p:nvSpPr>
          <p:cNvPr id="9" name="load-scenario-rule-1"/>
          <p:cNvSpPr>
            <a:spLocks noGrp="1"/>
          </p:cNvSpPr>
          <p:nvPr/>
        </p:nvSpPr>
        <p:spPr>
          <a:xfrm>
            <a:off x="4572000" y="3009900"/>
            <a:ext cx="70866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0" name="load-scenario-index-1"/>
          <p:cNvSpPr>
            <a:spLocks noGrp="1"/>
          </p:cNvSpPr>
          <p:nvPr/>
        </p:nvSpPr>
        <p:spPr>
          <a:xfrm>
            <a:off x="4572000" y="2019300"/>
            <a:ext cx="6477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11" name="load-scenario-signals-1"/>
          <p:cNvSpPr>
            <a:spLocks noGrp="1"/>
          </p:cNvSpPr>
          <p:nvPr/>
        </p:nvSpPr>
        <p:spPr>
          <a:xfrm>
            <a:off x="5276850" y="2019300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高 Load  +  CPU 接近饱和 · 运行队列增长</a:t>
            </a:r>
          </a:p>
        </p:txBody>
      </p:sp>
      <p:sp>
        <p:nvSpPr>
          <p:cNvPr id="12" name="load-scenario-direction-1"/>
          <p:cNvSpPr>
            <a:spLocks noGrp="1"/>
          </p:cNvSpPr>
          <p:nvPr/>
        </p:nvSpPr>
        <p:spPr>
          <a:xfrm>
            <a:off x="5276850" y="2476500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更值得验证：计算或调度压力</a:t>
            </a:r>
          </a:p>
        </p:txBody>
      </p:sp>
      <p:sp>
        <p:nvSpPr>
          <p:cNvPr id="13" name="load-scenario-rule-2"/>
          <p:cNvSpPr>
            <a:spLocks noGrp="1"/>
          </p:cNvSpPr>
          <p:nvPr/>
        </p:nvSpPr>
        <p:spPr>
          <a:xfrm>
            <a:off x="4572000" y="4371975"/>
            <a:ext cx="70866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4" name="load-scenario-index-2"/>
          <p:cNvSpPr>
            <a:spLocks noGrp="1"/>
          </p:cNvSpPr>
          <p:nvPr/>
        </p:nvSpPr>
        <p:spPr>
          <a:xfrm>
            <a:off x="4572000" y="3381375"/>
            <a:ext cx="6477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15" name="load-scenario-signals-2"/>
          <p:cNvSpPr>
            <a:spLocks noGrp="1"/>
          </p:cNvSpPr>
          <p:nvPr/>
        </p:nvSpPr>
        <p:spPr>
          <a:xfrm>
            <a:off x="5276850" y="3381375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高 Load  +  长期 D 状态 · I/O 等待增长</a:t>
            </a:r>
          </a:p>
        </p:txBody>
      </p:sp>
      <p:sp>
        <p:nvSpPr>
          <p:cNvPr id="16" name="load-scenario-direction-2"/>
          <p:cNvSpPr>
            <a:spLocks noGrp="1"/>
          </p:cNvSpPr>
          <p:nvPr/>
        </p:nvSpPr>
        <p:spPr>
          <a:xfrm>
            <a:off x="5276850" y="3838575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更值得验证：I/O 路径压力</a:t>
            </a:r>
          </a:p>
        </p:txBody>
      </p:sp>
      <p:sp>
        <p:nvSpPr>
          <p:cNvPr id="17" name="load-scenario-rule-3"/>
          <p:cNvSpPr>
            <a:spLocks noGrp="1"/>
          </p:cNvSpPr>
          <p:nvPr/>
        </p:nvSpPr>
        <p:spPr>
          <a:xfrm>
            <a:off x="4572000" y="5734050"/>
            <a:ext cx="70866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8" name="load-scenario-index-3"/>
          <p:cNvSpPr>
            <a:spLocks noGrp="1"/>
          </p:cNvSpPr>
          <p:nvPr/>
        </p:nvSpPr>
        <p:spPr>
          <a:xfrm>
            <a:off x="4572000" y="4743450"/>
            <a:ext cx="6477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19" name="load-scenario-signals-3"/>
          <p:cNvSpPr>
            <a:spLocks noGrp="1"/>
          </p:cNvSpPr>
          <p:nvPr/>
        </p:nvSpPr>
        <p:spPr>
          <a:xfrm>
            <a:off x="5276850" y="4743450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高 Load  +  延迟和错误稳定</a:t>
            </a:r>
          </a:p>
        </p:txBody>
      </p:sp>
      <p:sp>
        <p:nvSpPr>
          <p:cNvPr id="20" name="load-scenario-direction-3"/>
          <p:cNvSpPr>
            <a:spLocks noGrp="1"/>
          </p:cNvSpPr>
          <p:nvPr/>
        </p:nvSpPr>
        <p:spPr>
          <a:xfrm>
            <a:off x="5276850" y="5200650"/>
            <a:ext cx="6381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更值得验证：短期波动，继续观察趋势</a:t>
            </a:r>
          </a:p>
        </p:txBody>
      </p:sp>
      <p:sp>
        <p:nvSpPr>
          <p:cNvPr id="21" name="load-takeaway-accent"/>
          <p:cNvSpPr>
            <a:spLocks noGrp="1"/>
          </p:cNvSpPr>
          <p:nvPr/>
        </p:nvSpPr>
        <p:spPr>
          <a:xfrm>
            <a:off x="4572000" y="6029325"/>
            <a:ext cx="38100" cy="428625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22" name="load-takeaway"/>
          <p:cNvSpPr>
            <a:spLocks noGrp="1"/>
          </p:cNvSpPr>
          <p:nvPr/>
        </p:nvSpPr>
        <p:spPr>
          <a:xfrm>
            <a:off x="4800600" y="5981700"/>
            <a:ext cx="6858000" cy="523875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1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Load 是调查入口，不是问题结论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slide-10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第一轮证据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：先把影响和现象分开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evidence-timeline"/>
          <p:cNvSpPr>
            <a:spLocks noGrp="1"/>
          </p:cNvSpPr>
          <p:nvPr/>
        </p:nvSpPr>
        <p:spPr>
          <a:xfrm>
            <a:off x="533400" y="1314450"/>
            <a:ext cx="111252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课堂模拟数据  ·  8 核机器  ·  异常从 14:00 开始</a:t>
            </a:r>
          </a:p>
        </p:txBody>
      </p:sp>
      <p:sp>
        <p:nvSpPr>
          <p:cNvPr id="3" name="user-signal-panel"/>
          <p:cNvSpPr>
            <a:spLocks noGrp="1"/>
          </p:cNvSpPr>
          <p:nvPr/>
        </p:nvSpPr>
        <p:spPr>
          <a:xfrm>
            <a:off x="533400" y="1809750"/>
            <a:ext cx="5257800" cy="24765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4" name="system-signal-panel"/>
          <p:cNvSpPr>
            <a:spLocks noGrp="1"/>
          </p:cNvSpPr>
          <p:nvPr/>
        </p:nvSpPr>
        <p:spPr>
          <a:xfrm>
            <a:off x="6400800" y="1809750"/>
            <a:ext cx="5257800" cy="24765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5" name="user-signal-heading"/>
          <p:cNvSpPr>
            <a:spLocks noGrp="1"/>
          </p:cNvSpPr>
          <p:nvPr/>
        </p:nvSpPr>
        <p:spPr>
          <a:xfrm>
            <a:off x="800100" y="2019300"/>
            <a:ext cx="20955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用户侧信号</a:t>
            </a:r>
          </a:p>
        </p:txBody>
      </p:sp>
      <p:sp>
        <p:nvSpPr>
          <p:cNvPr id="6" name="system-signal-heading"/>
          <p:cNvSpPr>
            <a:spLocks noGrp="1"/>
          </p:cNvSpPr>
          <p:nvPr/>
        </p:nvSpPr>
        <p:spPr>
          <a:xfrm>
            <a:off x="6667500" y="2019300"/>
            <a:ext cx="20955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系统侧信号</a:t>
            </a:r>
          </a:p>
        </p:txBody>
      </p:sp>
      <p:sp>
        <p:nvSpPr>
          <p:cNvPr id="7" name="user-signal-rule-0"/>
          <p:cNvSpPr>
            <a:spLocks noGrp="1"/>
          </p:cNvSpPr>
          <p:nvPr/>
        </p:nvSpPr>
        <p:spPr>
          <a:xfrm>
            <a:off x="800100" y="234315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8" name="user-signal-label-0"/>
          <p:cNvSpPr>
            <a:spLocks noGrp="1"/>
          </p:cNvSpPr>
          <p:nvPr/>
        </p:nvSpPr>
        <p:spPr>
          <a:xfrm>
            <a:off x="800100" y="2343150"/>
            <a:ext cx="20955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p95 延迟</a:t>
            </a:r>
          </a:p>
        </p:txBody>
      </p:sp>
      <p:sp>
        <p:nvSpPr>
          <p:cNvPr id="9" name="user-signal-value-0"/>
          <p:cNvSpPr>
            <a:spLocks noGrp="1"/>
          </p:cNvSpPr>
          <p:nvPr/>
        </p:nvSpPr>
        <p:spPr>
          <a:xfrm>
            <a:off x="2895600" y="2343150"/>
            <a:ext cx="26289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175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80 → 900 ms</a:t>
            </a:r>
          </a:p>
        </p:txBody>
      </p:sp>
      <p:sp>
        <p:nvSpPr>
          <p:cNvPr id="10" name="user-signal-rule-1"/>
          <p:cNvSpPr>
            <a:spLocks noGrp="1"/>
          </p:cNvSpPr>
          <p:nvPr/>
        </p:nvSpPr>
        <p:spPr>
          <a:xfrm>
            <a:off x="800100" y="2914650"/>
            <a:ext cx="47244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1" name="user-signal-label-1"/>
          <p:cNvSpPr>
            <a:spLocks noGrp="1"/>
          </p:cNvSpPr>
          <p:nvPr/>
        </p:nvSpPr>
        <p:spPr>
          <a:xfrm>
            <a:off x="800100" y="3028950"/>
            <a:ext cx="20955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吞吐量</a:t>
            </a:r>
          </a:p>
        </p:txBody>
      </p:sp>
      <p:sp>
        <p:nvSpPr>
          <p:cNvPr id="12" name="user-signal-value-1"/>
          <p:cNvSpPr>
            <a:spLocks noGrp="1"/>
          </p:cNvSpPr>
          <p:nvPr/>
        </p:nvSpPr>
        <p:spPr>
          <a:xfrm>
            <a:off x="2895600" y="3028950"/>
            <a:ext cx="26289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175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下降 35%</a:t>
            </a:r>
          </a:p>
        </p:txBody>
      </p:sp>
      <p:sp>
        <p:nvSpPr>
          <p:cNvPr id="13" name="user-signal-rule-2"/>
          <p:cNvSpPr>
            <a:spLocks noGrp="1"/>
          </p:cNvSpPr>
          <p:nvPr/>
        </p:nvSpPr>
        <p:spPr>
          <a:xfrm>
            <a:off x="800100" y="3600450"/>
            <a:ext cx="47244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4" name="user-signal-label-2"/>
          <p:cNvSpPr>
            <a:spLocks noGrp="1"/>
          </p:cNvSpPr>
          <p:nvPr/>
        </p:nvSpPr>
        <p:spPr>
          <a:xfrm>
            <a:off x="800100" y="3714750"/>
            <a:ext cx="20955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错误率</a:t>
            </a:r>
          </a:p>
        </p:txBody>
      </p:sp>
      <p:sp>
        <p:nvSpPr>
          <p:cNvPr id="15" name="user-signal-value-2"/>
          <p:cNvSpPr>
            <a:spLocks noGrp="1"/>
          </p:cNvSpPr>
          <p:nvPr/>
        </p:nvSpPr>
        <p:spPr>
          <a:xfrm>
            <a:off x="2895600" y="3714750"/>
            <a:ext cx="2628900" cy="4000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175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0.2% → 6.4%</a:t>
            </a:r>
          </a:p>
        </p:txBody>
      </p:sp>
      <p:sp>
        <p:nvSpPr>
          <p:cNvPr id="16" name="system-signal-rule-0"/>
          <p:cNvSpPr>
            <a:spLocks noGrp="1"/>
          </p:cNvSpPr>
          <p:nvPr/>
        </p:nvSpPr>
        <p:spPr>
          <a:xfrm>
            <a:off x="6667500" y="249555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7" name="system-signal-label-0"/>
          <p:cNvSpPr>
            <a:spLocks noGrp="1"/>
          </p:cNvSpPr>
          <p:nvPr/>
        </p:nvSpPr>
        <p:spPr>
          <a:xfrm>
            <a:off x="6667500" y="2495550"/>
            <a:ext cx="27622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CPU user + system</a:t>
            </a:r>
          </a:p>
        </p:txBody>
      </p:sp>
      <p:sp>
        <p:nvSpPr>
          <p:cNvPr id="18" name="system-signal-value-0"/>
          <p:cNvSpPr>
            <a:spLocks noGrp="1"/>
          </p:cNvSpPr>
          <p:nvPr/>
        </p:nvSpPr>
        <p:spPr>
          <a:xfrm>
            <a:off x="9429750" y="2495550"/>
            <a:ext cx="19621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550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42%</a:t>
            </a:r>
          </a:p>
        </p:txBody>
      </p:sp>
      <p:sp>
        <p:nvSpPr>
          <p:cNvPr id="19" name="system-signal-rule-1"/>
          <p:cNvSpPr>
            <a:spLocks noGrp="1"/>
          </p:cNvSpPr>
          <p:nvPr/>
        </p:nvSpPr>
        <p:spPr>
          <a:xfrm>
            <a:off x="6667500" y="3200400"/>
            <a:ext cx="47244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0" name="system-signal-label-1"/>
          <p:cNvSpPr>
            <a:spLocks noGrp="1"/>
          </p:cNvSpPr>
          <p:nvPr/>
        </p:nvSpPr>
        <p:spPr>
          <a:xfrm>
            <a:off x="6667500" y="3352800"/>
            <a:ext cx="27622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0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Load Average</a:t>
            </a:r>
          </a:p>
        </p:txBody>
      </p:sp>
      <p:sp>
        <p:nvSpPr>
          <p:cNvPr id="21" name="system-signal-value-1"/>
          <p:cNvSpPr>
            <a:spLocks noGrp="1"/>
          </p:cNvSpPr>
          <p:nvPr/>
        </p:nvSpPr>
        <p:spPr>
          <a:xfrm>
            <a:off x="9429750" y="3352800"/>
            <a:ext cx="19621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550" b="1">
                <a:solidFill>
                  <a:srgbClr val="F4F7FB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15</a:t>
            </a:r>
          </a:p>
        </p:txBody>
      </p:sp>
      <p:sp>
        <p:nvSpPr>
          <p:cNvPr id="22" name="evidence-question-heading"/>
          <p:cNvSpPr>
            <a:spLocks noGrp="1"/>
          </p:cNvSpPr>
          <p:nvPr/>
        </p:nvSpPr>
        <p:spPr>
          <a:xfrm>
            <a:off x="533400" y="4572000"/>
            <a:ext cx="40005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现在只问三个问题</a:t>
            </a:r>
          </a:p>
        </p:txBody>
      </p:sp>
      <p:sp>
        <p:nvSpPr>
          <p:cNvPr id="23" name="evidence-question-index-1"/>
          <p:cNvSpPr>
            <a:spLocks noGrp="1"/>
          </p:cNvSpPr>
          <p:nvPr/>
        </p:nvSpPr>
        <p:spPr>
          <a:xfrm>
            <a:off x="533400" y="5029200"/>
            <a:ext cx="59055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24" name="evidence-question-1"/>
          <p:cNvSpPr>
            <a:spLocks noGrp="1"/>
          </p:cNvSpPr>
          <p:nvPr/>
        </p:nvSpPr>
        <p:spPr>
          <a:xfrm>
            <a:off x="1162050" y="5010150"/>
            <a:ext cx="104965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7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哪些数字直接证明了用户影响？</a:t>
            </a:r>
          </a:p>
        </p:txBody>
      </p:sp>
      <p:sp>
        <p:nvSpPr>
          <p:cNvPr id="25" name="evidence-question-index-2"/>
          <p:cNvSpPr>
            <a:spLocks noGrp="1"/>
          </p:cNvSpPr>
          <p:nvPr/>
        </p:nvSpPr>
        <p:spPr>
          <a:xfrm>
            <a:off x="533400" y="5534025"/>
            <a:ext cx="59055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26" name="evidence-question-2"/>
          <p:cNvSpPr>
            <a:spLocks noGrp="1"/>
          </p:cNvSpPr>
          <p:nvPr/>
        </p:nvSpPr>
        <p:spPr>
          <a:xfrm>
            <a:off x="1162050" y="5514975"/>
            <a:ext cx="104965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7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哪些数字只是系统现象？</a:t>
            </a:r>
          </a:p>
        </p:txBody>
      </p:sp>
      <p:sp>
        <p:nvSpPr>
          <p:cNvPr id="27" name="evidence-question-index-3"/>
          <p:cNvSpPr>
            <a:spLocks noGrp="1"/>
          </p:cNvSpPr>
          <p:nvPr/>
        </p:nvSpPr>
        <p:spPr>
          <a:xfrm>
            <a:off x="533400" y="6038850"/>
            <a:ext cx="59055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28" name="evidence-question-3"/>
          <p:cNvSpPr>
            <a:spLocks noGrp="1"/>
          </p:cNvSpPr>
          <p:nvPr/>
        </p:nvSpPr>
        <p:spPr>
          <a:xfrm>
            <a:off x="1162050" y="6019800"/>
            <a:ext cx="104965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下一步要区分：任务究竟在等什么？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slide-11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6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第二轮证据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：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假设收敛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，但不要越界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runtime-map-label"/>
          <p:cNvSpPr>
            <a:spLocks noGrp="1"/>
          </p:cNvSpPr>
          <p:nvPr/>
        </p:nvSpPr>
        <p:spPr>
          <a:xfrm>
            <a:off x="533400" y="1428750"/>
            <a:ext cx="4000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复用运行时地图</a:t>
            </a:r>
          </a:p>
        </p:txBody>
      </p:sp>
      <p:sp>
        <p:nvSpPr>
          <p:cNvPr id="3" name="runtime-path-node-1"/>
          <p:cNvSpPr>
            <a:spLocks noGrp="1"/>
          </p:cNvSpPr>
          <p:nvPr/>
        </p:nvSpPr>
        <p:spPr>
          <a:xfrm>
            <a:off x="914400" y="1885950"/>
            <a:ext cx="38100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4" name="runtime-path-label-1"/>
          <p:cNvSpPr>
            <a:spLocks noGrp="1"/>
          </p:cNvSpPr>
          <p:nvPr/>
        </p:nvSpPr>
        <p:spPr>
          <a:xfrm>
            <a:off x="1200150" y="2047875"/>
            <a:ext cx="3238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1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服务进程</a:t>
            </a:r>
          </a:p>
        </p:txBody>
      </p:sp>
      <p:sp>
        <p:nvSpPr>
          <p:cNvPr id="5" name="runtime-path-link-1"/>
          <p:cNvSpPr>
            <a:spLocks noGrp="1"/>
          </p:cNvSpPr>
          <p:nvPr/>
        </p:nvSpPr>
        <p:spPr>
          <a:xfrm>
            <a:off x="2800350" y="2571750"/>
            <a:ext cx="38100" cy="457200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6" name="runtime-path-node-2"/>
          <p:cNvSpPr>
            <a:spLocks noGrp="1"/>
          </p:cNvSpPr>
          <p:nvPr/>
        </p:nvSpPr>
        <p:spPr>
          <a:xfrm>
            <a:off x="914400" y="3028950"/>
            <a:ext cx="38100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7" name="runtime-path-label-2"/>
          <p:cNvSpPr>
            <a:spLocks noGrp="1"/>
          </p:cNvSpPr>
          <p:nvPr/>
        </p:nvSpPr>
        <p:spPr>
          <a:xfrm>
            <a:off x="1200150" y="3190875"/>
            <a:ext cx="3238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1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系统调用</a:t>
            </a:r>
          </a:p>
        </p:txBody>
      </p:sp>
      <p:sp>
        <p:nvSpPr>
          <p:cNvPr id="8" name="runtime-path-link-2"/>
          <p:cNvSpPr>
            <a:spLocks noGrp="1"/>
          </p:cNvSpPr>
          <p:nvPr/>
        </p:nvSpPr>
        <p:spPr>
          <a:xfrm>
            <a:off x="2800350" y="3714750"/>
            <a:ext cx="38100" cy="457200"/>
          </a:xfrm>
          <a:prstGeom prst="rect">
            <a:avLst/>
          </a:prstGeom>
          <a:solidFill>
            <a:srgbClr val="FFB454"/>
          </a:solidFill>
          <a:ln w="0">
            <a:noFill/>
            <a:prstDash val="solid"/>
          </a:ln>
        </p:spPr>
      </p:sp>
      <p:sp>
        <p:nvSpPr>
          <p:cNvPr id="9" name="runtime-path-node-3"/>
          <p:cNvSpPr>
            <a:spLocks noGrp="1"/>
          </p:cNvSpPr>
          <p:nvPr/>
        </p:nvSpPr>
        <p:spPr>
          <a:xfrm>
            <a:off x="914400" y="4171950"/>
            <a:ext cx="38100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FFB454"/>
            </a:solidFill>
            <a:prstDash val="solid"/>
          </a:ln>
        </p:spPr>
      </p:sp>
      <p:sp>
        <p:nvSpPr>
          <p:cNvPr id="10" name="runtime-path-label-3"/>
          <p:cNvSpPr>
            <a:spLocks noGrp="1"/>
          </p:cNvSpPr>
          <p:nvPr/>
        </p:nvSpPr>
        <p:spPr>
          <a:xfrm>
            <a:off x="1200150" y="4333875"/>
            <a:ext cx="3238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21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存储路径</a:t>
            </a:r>
          </a:p>
        </p:txBody>
      </p:sp>
      <p:sp>
        <p:nvSpPr>
          <p:cNvPr id="11" name="runtime-path-link-end"/>
          <p:cNvSpPr>
            <a:spLocks noGrp="1"/>
          </p:cNvSpPr>
          <p:nvPr/>
        </p:nvSpPr>
        <p:spPr>
          <a:xfrm>
            <a:off x="2800350" y="485775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2" name="runtime-path-arrow-1"/>
          <p:cNvSpPr>
            <a:spLocks noGrp="1"/>
          </p:cNvSpPr>
          <p:nvPr/>
        </p:nvSpPr>
        <p:spPr>
          <a:xfrm>
            <a:off x="2647950" y="2628900"/>
            <a:ext cx="3429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↓</a:t>
            </a:r>
          </a:p>
        </p:txBody>
      </p:sp>
      <p:sp>
        <p:nvSpPr>
          <p:cNvPr id="13" name="runtime-path-arrow-2"/>
          <p:cNvSpPr>
            <a:spLocks noGrp="1"/>
          </p:cNvSpPr>
          <p:nvPr/>
        </p:nvSpPr>
        <p:spPr>
          <a:xfrm>
            <a:off x="2647950" y="3771900"/>
            <a:ext cx="3429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↓</a:t>
            </a:r>
          </a:p>
        </p:txBody>
      </p:sp>
      <p:sp>
        <p:nvSpPr>
          <p:cNvPr id="14" name="runtime-path-hypothesis"/>
          <p:cNvSpPr>
            <a:spLocks noGrp="1"/>
          </p:cNvSpPr>
          <p:nvPr/>
        </p:nvSpPr>
        <p:spPr>
          <a:xfrm>
            <a:off x="914400" y="5124450"/>
            <a:ext cx="3810000" cy="4191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值得验证：存储 I/O 路径</a:t>
            </a:r>
          </a:p>
        </p:txBody>
      </p:sp>
      <p:sp>
        <p:nvSpPr>
          <p:cNvPr id="15" name="second-evidence-panel"/>
          <p:cNvSpPr>
            <a:spLocks noGrp="1"/>
          </p:cNvSpPr>
          <p:nvPr/>
        </p:nvSpPr>
        <p:spPr>
          <a:xfrm>
            <a:off x="5715000" y="1466850"/>
            <a:ext cx="5943600" cy="245745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6" name="second-evidence-heading"/>
          <p:cNvSpPr>
            <a:spLocks noGrp="1"/>
          </p:cNvSpPr>
          <p:nvPr/>
        </p:nvSpPr>
        <p:spPr>
          <a:xfrm>
            <a:off x="5981700" y="1676400"/>
            <a:ext cx="20955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新增观测</a:t>
            </a:r>
          </a:p>
        </p:txBody>
      </p:sp>
      <p:sp>
        <p:nvSpPr>
          <p:cNvPr id="17" name="second-evidence-1"/>
          <p:cNvSpPr>
            <a:spLocks noGrp="1"/>
          </p:cNvSpPr>
          <p:nvPr/>
        </p:nvSpPr>
        <p:spPr>
          <a:xfrm>
            <a:off x="5981700" y="2076450"/>
            <a:ext cx="5410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•  iowait 升至 31%</a:t>
            </a:r>
          </a:p>
        </p:txBody>
      </p:sp>
      <p:sp>
        <p:nvSpPr>
          <p:cNvPr id="18" name="second-evidence-2"/>
          <p:cNvSpPr>
            <a:spLocks noGrp="1"/>
          </p:cNvSpPr>
          <p:nvPr/>
        </p:nvSpPr>
        <p:spPr>
          <a:xfrm>
            <a:off x="5981700" y="2409825"/>
            <a:ext cx="5410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•  vmstat：阻塞任务 b 持续上升</a:t>
            </a:r>
          </a:p>
        </p:txBody>
      </p:sp>
      <p:sp>
        <p:nvSpPr>
          <p:cNvPr id="19" name="second-evidence-3"/>
          <p:cNvSpPr>
            <a:spLocks noGrp="1"/>
          </p:cNvSpPr>
          <p:nvPr/>
        </p:nvSpPr>
        <p:spPr>
          <a:xfrm>
            <a:off x="5981700" y="2743200"/>
            <a:ext cx="5410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•  多个服务进程进入 D 状态</a:t>
            </a:r>
          </a:p>
        </p:txBody>
      </p:sp>
      <p:sp>
        <p:nvSpPr>
          <p:cNvPr id="20" name="second-evidence-4"/>
          <p:cNvSpPr>
            <a:spLocks noGrp="1"/>
          </p:cNvSpPr>
          <p:nvPr/>
        </p:nvSpPr>
        <p:spPr>
          <a:xfrm>
            <a:off x="5981700" y="3076575"/>
            <a:ext cx="5410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•  磁盘 await 与队列同时上升</a:t>
            </a:r>
          </a:p>
        </p:txBody>
      </p:sp>
      <p:sp>
        <p:nvSpPr>
          <p:cNvPr id="21" name="second-evidence-5"/>
          <p:cNvSpPr>
            <a:spLocks noGrp="1"/>
          </p:cNvSpPr>
          <p:nvPr/>
        </p:nvSpPr>
        <p:spPr>
          <a:xfrm>
            <a:off x="5981700" y="3409950"/>
            <a:ext cx="5410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•  网络错误、TCP 重传没有变化</a:t>
            </a:r>
          </a:p>
        </p:txBody>
      </p:sp>
      <p:sp>
        <p:nvSpPr>
          <p:cNvPr id="22" name="claim-can"/>
          <p:cNvSpPr>
            <a:spLocks noGrp="1"/>
          </p:cNvSpPr>
          <p:nvPr/>
        </p:nvSpPr>
        <p:spPr>
          <a:xfrm>
            <a:off x="5715000" y="4152900"/>
            <a:ext cx="5943600" cy="628650"/>
          </a:xfrm>
          <a:prstGeom prst="rect">
            <a:avLst/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23" name="claim-can-label"/>
          <p:cNvSpPr>
            <a:spLocks noGrp="1"/>
          </p:cNvSpPr>
          <p:nvPr/>
        </p:nvSpPr>
        <p:spPr>
          <a:xfrm>
            <a:off x="5943600" y="4324350"/>
            <a:ext cx="1047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可以说</a:t>
            </a:r>
          </a:p>
        </p:txBody>
      </p:sp>
      <p:sp>
        <p:nvSpPr>
          <p:cNvPr id="24" name="claim-can-text"/>
          <p:cNvSpPr>
            <a:spLocks noGrp="1"/>
          </p:cNvSpPr>
          <p:nvPr/>
        </p:nvSpPr>
        <p:spPr>
          <a:xfrm>
            <a:off x="7124700" y="4286250"/>
            <a:ext cx="42672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存储 I/O 路径值得优先验证</a:t>
            </a:r>
          </a:p>
        </p:txBody>
      </p:sp>
      <p:sp>
        <p:nvSpPr>
          <p:cNvPr id="25" name="claim-cannot"/>
          <p:cNvSpPr>
            <a:spLocks noGrp="1"/>
          </p:cNvSpPr>
          <p:nvPr/>
        </p:nvSpPr>
        <p:spPr>
          <a:xfrm>
            <a:off x="5715000" y="4933950"/>
            <a:ext cx="5943600" cy="628650"/>
          </a:xfrm>
          <a:prstGeom prst="rect">
            <a:avLst/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6" name="claim-cannot-label"/>
          <p:cNvSpPr>
            <a:spLocks noGrp="1"/>
          </p:cNvSpPr>
          <p:nvPr/>
        </p:nvSpPr>
        <p:spPr>
          <a:xfrm>
            <a:off x="5943600" y="5105400"/>
            <a:ext cx="1047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不能说</a:t>
            </a:r>
          </a:p>
        </p:txBody>
      </p:sp>
      <p:sp>
        <p:nvSpPr>
          <p:cNvPr id="27" name="claim-cannot-text"/>
          <p:cNvSpPr>
            <a:spLocks noGrp="1"/>
          </p:cNvSpPr>
          <p:nvPr/>
        </p:nvSpPr>
        <p:spPr>
          <a:xfrm>
            <a:off x="7124700" y="5067300"/>
            <a:ext cx="42672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磁盘已经被证明是唯一根因</a:t>
            </a:r>
          </a:p>
        </p:txBody>
      </p:sp>
      <p:sp>
        <p:nvSpPr>
          <p:cNvPr id="28" name="second-evidence-question-rule"/>
          <p:cNvSpPr>
            <a:spLocks noGrp="1"/>
          </p:cNvSpPr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9" name="second-evidence-question"/>
          <p:cNvSpPr>
            <a:spLocks noGrp="1"/>
          </p:cNvSpPr>
          <p:nvPr/>
        </p:nvSpPr>
        <p:spPr>
          <a:xfrm>
            <a:off x="533400" y="6134100"/>
            <a:ext cx="11125200" cy="4000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2175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下一问：谁在产生 I/O？它正在访问哪个对象？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slide-12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6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第三轮证据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：锁定主体、对象与时间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timeline-line"/>
          <p:cNvSpPr>
            <a:spLocks noGrp="1"/>
          </p:cNvSpPr>
          <p:nvPr/>
        </p:nvSpPr>
        <p:spPr>
          <a:xfrm>
            <a:off x="1219200" y="1752600"/>
            <a:ext cx="9753600" cy="19050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3" name="timeline-start-dot"/>
          <p:cNvSpPr>
            <a:spLocks noGrp="1"/>
          </p:cNvSpPr>
          <p:nvPr/>
        </p:nvSpPr>
        <p:spPr>
          <a:xfrm>
            <a:off x="1676400" y="1676400"/>
            <a:ext cx="171450" cy="171450"/>
          </a:xfrm>
          <a:prstGeom prst="ellipse">
            <a:avLst/>
          </a:prstGeom>
          <a:solidFill>
            <a:srgbClr val="FFB454"/>
          </a:solidFill>
          <a:ln w="9525">
            <a:solidFill>
              <a:srgbClr val="FFB454"/>
            </a:solidFill>
            <a:prstDash val="solid"/>
          </a:ln>
        </p:spPr>
      </p:sp>
      <p:sp>
        <p:nvSpPr>
          <p:cNvPr id="4" name="timeline-anomaly-dot"/>
          <p:cNvSpPr>
            <a:spLocks noGrp="1"/>
          </p:cNvSpPr>
          <p:nvPr/>
        </p:nvSpPr>
        <p:spPr>
          <a:xfrm>
            <a:off x="8591550" y="1676400"/>
            <a:ext cx="171450" cy="171450"/>
          </a:xfrm>
          <a:prstGeom prst="ellipse">
            <a:avLst/>
          </a:prstGeom>
          <a:solidFill>
            <a:srgbClr val="4ADE8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" name="timeline-start-time"/>
          <p:cNvSpPr>
            <a:spLocks noGrp="1"/>
          </p:cNvSpPr>
          <p:nvPr/>
        </p:nvSpPr>
        <p:spPr>
          <a:xfrm>
            <a:off x="1219200" y="1257300"/>
            <a:ext cx="110490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13:58</a:t>
            </a:r>
          </a:p>
        </p:txBody>
      </p:sp>
      <p:sp>
        <p:nvSpPr>
          <p:cNvPr id="6" name="timeline-start-text"/>
          <p:cNvSpPr>
            <a:spLocks noGrp="1"/>
          </p:cNvSpPr>
          <p:nvPr/>
        </p:nvSpPr>
        <p:spPr>
          <a:xfrm>
            <a:off x="838200" y="1924050"/>
            <a:ext cx="19050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备份任务启动</a:t>
            </a:r>
          </a:p>
        </p:txBody>
      </p:sp>
      <p:sp>
        <p:nvSpPr>
          <p:cNvPr id="7" name="timeline-anomaly-time"/>
          <p:cNvSpPr>
            <a:spLocks noGrp="1"/>
          </p:cNvSpPr>
          <p:nvPr/>
        </p:nvSpPr>
        <p:spPr>
          <a:xfrm>
            <a:off x="8115300" y="1257300"/>
            <a:ext cx="110490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14:00</a:t>
            </a:r>
          </a:p>
        </p:txBody>
      </p:sp>
      <p:sp>
        <p:nvSpPr>
          <p:cNvPr id="8" name="timeline-anomaly-text"/>
          <p:cNvSpPr>
            <a:spLocks noGrp="1"/>
          </p:cNvSpPr>
          <p:nvPr/>
        </p:nvSpPr>
        <p:spPr>
          <a:xfrm>
            <a:off x="7696200" y="1924050"/>
            <a:ext cx="20955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57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服务异常开始</a:t>
            </a:r>
          </a:p>
        </p:txBody>
      </p:sp>
      <p:sp>
        <p:nvSpPr>
          <p:cNvPr id="9" name="object-path-heading"/>
          <p:cNvSpPr>
            <a:spLocks noGrp="1"/>
          </p:cNvSpPr>
          <p:nvPr/>
        </p:nvSpPr>
        <p:spPr>
          <a:xfrm>
            <a:off x="533400" y="2457450"/>
            <a:ext cx="247650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对象证据链</a:t>
            </a:r>
          </a:p>
        </p:txBody>
      </p:sp>
      <p:sp>
        <p:nvSpPr>
          <p:cNvPr id="10" name="object-path-node-1"/>
          <p:cNvSpPr>
            <a:spLocks noGrp="1"/>
          </p:cNvSpPr>
          <p:nvPr/>
        </p:nvSpPr>
        <p:spPr>
          <a:xfrm>
            <a:off x="533400" y="29527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1" name="object-path-label-1"/>
          <p:cNvSpPr>
            <a:spLocks noGrp="1"/>
          </p:cNvSpPr>
          <p:nvPr/>
        </p:nvSpPr>
        <p:spPr>
          <a:xfrm>
            <a:off x="647700" y="3105150"/>
            <a:ext cx="186690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backup-worker</a:t>
            </a:r>
          </a:p>
        </p:txBody>
      </p:sp>
      <p:sp>
        <p:nvSpPr>
          <p:cNvPr id="12" name="object-path-arrow-1"/>
          <p:cNvSpPr>
            <a:spLocks noGrp="1"/>
          </p:cNvSpPr>
          <p:nvPr/>
        </p:nvSpPr>
        <p:spPr>
          <a:xfrm>
            <a:off x="2686050" y="3114675"/>
            <a:ext cx="3619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3" name="object-path-node-2"/>
          <p:cNvSpPr>
            <a:spLocks noGrp="1"/>
          </p:cNvSpPr>
          <p:nvPr/>
        </p:nvSpPr>
        <p:spPr>
          <a:xfrm>
            <a:off x="3105150" y="2952750"/>
            <a:ext cx="13335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4" name="object-path-label-2"/>
          <p:cNvSpPr>
            <a:spLocks noGrp="1"/>
          </p:cNvSpPr>
          <p:nvPr/>
        </p:nvSpPr>
        <p:spPr>
          <a:xfrm>
            <a:off x="3219450" y="3105150"/>
            <a:ext cx="110490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FD</a:t>
            </a:r>
          </a:p>
        </p:txBody>
      </p:sp>
      <p:sp>
        <p:nvSpPr>
          <p:cNvPr id="15" name="object-path-arrow-2"/>
          <p:cNvSpPr>
            <a:spLocks noGrp="1"/>
          </p:cNvSpPr>
          <p:nvPr/>
        </p:nvSpPr>
        <p:spPr>
          <a:xfrm>
            <a:off x="4495800" y="3114675"/>
            <a:ext cx="3619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6" name="object-path-node-3"/>
          <p:cNvSpPr>
            <a:spLocks noGrp="1"/>
          </p:cNvSpPr>
          <p:nvPr/>
        </p:nvSpPr>
        <p:spPr>
          <a:xfrm>
            <a:off x="4914900" y="295275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7" name="object-path-label-3"/>
          <p:cNvSpPr>
            <a:spLocks noGrp="1"/>
          </p:cNvSpPr>
          <p:nvPr/>
        </p:nvSpPr>
        <p:spPr>
          <a:xfrm>
            <a:off x="5029200" y="3105150"/>
            <a:ext cx="272415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575" b="1">
                <a:solidFill>
                  <a:srgbClr val="F4F7FB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/data/backup/full.tar</a:t>
            </a:r>
          </a:p>
        </p:txBody>
      </p:sp>
      <p:sp>
        <p:nvSpPr>
          <p:cNvPr id="18" name="object-path-arrow-3"/>
          <p:cNvSpPr>
            <a:spLocks noGrp="1"/>
          </p:cNvSpPr>
          <p:nvPr/>
        </p:nvSpPr>
        <p:spPr>
          <a:xfrm>
            <a:off x="7924800" y="3114675"/>
            <a:ext cx="3619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9" name="object-path-node-4"/>
          <p:cNvSpPr>
            <a:spLocks noGrp="1"/>
          </p:cNvSpPr>
          <p:nvPr/>
        </p:nvSpPr>
        <p:spPr>
          <a:xfrm>
            <a:off x="8343900" y="2952750"/>
            <a:ext cx="3314700" cy="685800"/>
          </a:xfrm>
          <a:prstGeom prst="roundRect">
            <a:avLst>
              <a:gd name="adj" fmla="val 11111"/>
            </a:avLst>
          </a:prstGeom>
          <a:solidFill>
            <a:srgbClr val="151D25"/>
          </a:solidFill>
          <a:ln w="9525">
            <a:solidFill>
              <a:srgbClr val="FFB454"/>
            </a:solidFill>
            <a:prstDash val="solid"/>
          </a:ln>
        </p:spPr>
      </p:sp>
      <p:sp>
        <p:nvSpPr>
          <p:cNvPr id="20" name="object-path-label-4"/>
          <p:cNvSpPr>
            <a:spLocks noGrp="1"/>
          </p:cNvSpPr>
          <p:nvPr/>
        </p:nvSpPr>
        <p:spPr>
          <a:xfrm>
            <a:off x="8458200" y="3105150"/>
            <a:ext cx="3086100" cy="381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共享存储路径</a:t>
            </a:r>
          </a:p>
        </p:txBody>
      </p:sp>
      <p:sp>
        <p:nvSpPr>
          <p:cNvPr id="21" name="object-path-end"/>
          <p:cNvSpPr>
            <a:spLocks noGrp="1"/>
          </p:cNvSpPr>
          <p:nvPr/>
        </p:nvSpPr>
        <p:spPr>
          <a:xfrm>
            <a:off x="11658600" y="32766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2" name="causal-path-heading"/>
          <p:cNvSpPr>
            <a:spLocks noGrp="1"/>
          </p:cNvSpPr>
          <p:nvPr/>
        </p:nvSpPr>
        <p:spPr>
          <a:xfrm>
            <a:off x="533400" y="3981450"/>
            <a:ext cx="2476500" cy="3429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可检验的解释</a:t>
            </a:r>
          </a:p>
        </p:txBody>
      </p:sp>
      <p:sp>
        <p:nvSpPr>
          <p:cNvPr id="23" name="causal-path-node-1"/>
          <p:cNvSpPr>
            <a:spLocks noGrp="1"/>
          </p:cNvSpPr>
          <p:nvPr/>
        </p:nvSpPr>
        <p:spPr>
          <a:xfrm>
            <a:off x="533400" y="4457700"/>
            <a:ext cx="2952750" cy="6477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4" name="causal-path-label-1"/>
          <p:cNvSpPr>
            <a:spLocks noGrp="1"/>
          </p:cNvSpPr>
          <p:nvPr/>
        </p:nvSpPr>
        <p:spPr>
          <a:xfrm>
            <a:off x="704850" y="4610100"/>
            <a:ext cx="2609850" cy="342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备份顺序写入</a:t>
            </a:r>
          </a:p>
        </p:txBody>
      </p:sp>
      <p:sp>
        <p:nvSpPr>
          <p:cNvPr id="25" name="causal-path-arrow-1"/>
          <p:cNvSpPr>
            <a:spLocks noGrp="1"/>
          </p:cNvSpPr>
          <p:nvPr/>
        </p:nvSpPr>
        <p:spPr>
          <a:xfrm>
            <a:off x="3562350" y="4619625"/>
            <a:ext cx="36195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26" name="causal-path-node-2"/>
          <p:cNvSpPr>
            <a:spLocks noGrp="1"/>
          </p:cNvSpPr>
          <p:nvPr/>
        </p:nvSpPr>
        <p:spPr>
          <a:xfrm>
            <a:off x="3886200" y="4457700"/>
            <a:ext cx="2952750" cy="6477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7" name="causal-path-label-2"/>
          <p:cNvSpPr>
            <a:spLocks noGrp="1"/>
          </p:cNvSpPr>
          <p:nvPr/>
        </p:nvSpPr>
        <p:spPr>
          <a:xfrm>
            <a:off x="4057650" y="4610100"/>
            <a:ext cx="2609850" cy="342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队列增长 / 等待</a:t>
            </a:r>
          </a:p>
        </p:txBody>
      </p:sp>
      <p:sp>
        <p:nvSpPr>
          <p:cNvPr id="28" name="causal-path-arrow-2"/>
          <p:cNvSpPr>
            <a:spLocks noGrp="1"/>
          </p:cNvSpPr>
          <p:nvPr/>
        </p:nvSpPr>
        <p:spPr>
          <a:xfrm>
            <a:off x="6915150" y="4619625"/>
            <a:ext cx="36195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29" name="causal-path-node-3"/>
          <p:cNvSpPr>
            <a:spLocks noGrp="1"/>
          </p:cNvSpPr>
          <p:nvPr/>
        </p:nvSpPr>
        <p:spPr>
          <a:xfrm>
            <a:off x="7239000" y="4457700"/>
            <a:ext cx="4419600" cy="647700"/>
          </a:xfrm>
          <a:prstGeom prst="rect">
            <a:avLst/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30" name="causal-path-label-3"/>
          <p:cNvSpPr>
            <a:spLocks noGrp="1"/>
          </p:cNvSpPr>
          <p:nvPr/>
        </p:nvSpPr>
        <p:spPr>
          <a:xfrm>
            <a:off x="7410450" y="4610100"/>
            <a:ext cx="4076700" cy="342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延迟上升 / 错误增加</a:t>
            </a:r>
          </a:p>
        </p:txBody>
      </p:sp>
      <p:sp>
        <p:nvSpPr>
          <p:cNvPr id="31" name="causal-path-end"/>
          <p:cNvSpPr>
            <a:spLocks noGrp="1"/>
          </p:cNvSpPr>
          <p:nvPr/>
        </p:nvSpPr>
        <p:spPr>
          <a:xfrm>
            <a:off x="11658600" y="47625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2" name="minimal-test-panel"/>
          <p:cNvSpPr>
            <a:spLocks noGrp="1"/>
          </p:cNvSpPr>
          <p:nvPr/>
        </p:nvSpPr>
        <p:spPr>
          <a:xfrm>
            <a:off x="533400" y="5581650"/>
            <a:ext cx="11125200" cy="800100"/>
          </a:xfrm>
          <a:prstGeom prst="rect">
            <a:avLst/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33" name="minimal-test-label"/>
          <p:cNvSpPr>
            <a:spLocks noGrp="1"/>
          </p:cNvSpPr>
          <p:nvPr/>
        </p:nvSpPr>
        <p:spPr>
          <a:xfrm>
            <a:off x="781050" y="5829300"/>
            <a:ext cx="142875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725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最小验证</a:t>
            </a:r>
          </a:p>
        </p:txBody>
      </p:sp>
      <p:sp>
        <p:nvSpPr>
          <p:cNvPr id="34" name="minimal-test-text"/>
          <p:cNvSpPr>
            <a:spLocks noGrp="1"/>
          </p:cNvSpPr>
          <p:nvPr/>
        </p:nvSpPr>
        <p:spPr>
          <a:xfrm>
            <a:off x="2324100" y="5762625"/>
            <a:ext cx="90106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02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暂停备份任务  →  保持同样负载  →  对比用户与系统指标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slide-13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复测不是收尾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，而是诊断的一部分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retest-table-heading"/>
          <p:cNvSpPr>
            <a:spLocks noGrp="1"/>
          </p:cNvSpPr>
          <p:nvPr/>
        </p:nvSpPr>
        <p:spPr>
          <a:xfrm>
            <a:off x="533400" y="1409700"/>
            <a:ext cx="52387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02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暂停备份后的同负载复测</a:t>
            </a:r>
          </a:p>
        </p:txBody>
      </p:sp>
      <p:sp>
        <p:nvSpPr>
          <p:cNvPr id="3" name="retest-table"/>
          <p:cNvSpPr>
            <a:spLocks noGrp="1"/>
          </p:cNvSpPr>
          <p:nvPr/>
        </p:nvSpPr>
        <p:spPr>
          <a:xfrm>
            <a:off x="533400" y="1924050"/>
            <a:ext cx="5429250" cy="34290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4" name="retest-table-header"/>
          <p:cNvSpPr>
            <a:spLocks noGrp="1"/>
          </p:cNvSpPr>
          <p:nvPr/>
        </p:nvSpPr>
        <p:spPr>
          <a:xfrm>
            <a:off x="533400" y="1924050"/>
            <a:ext cx="5429250" cy="533400"/>
          </a:xfrm>
          <a:prstGeom prst="rect">
            <a:avLst/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5" name="retest-header-metric"/>
          <p:cNvSpPr>
            <a:spLocks noGrp="1"/>
          </p:cNvSpPr>
          <p:nvPr/>
        </p:nvSpPr>
        <p:spPr>
          <a:xfrm>
            <a:off x="762000" y="2076450"/>
            <a:ext cx="21907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75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指标</a:t>
            </a:r>
          </a:p>
        </p:txBody>
      </p:sp>
      <p:sp>
        <p:nvSpPr>
          <p:cNvPr id="6" name="retest-header-before"/>
          <p:cNvSpPr>
            <a:spLocks noGrp="1"/>
          </p:cNvSpPr>
          <p:nvPr/>
        </p:nvSpPr>
        <p:spPr>
          <a:xfrm>
            <a:off x="3105150" y="2076450"/>
            <a:ext cx="10477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575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暂停前</a:t>
            </a:r>
          </a:p>
        </p:txBody>
      </p:sp>
      <p:sp>
        <p:nvSpPr>
          <p:cNvPr id="7" name="retest-header-after"/>
          <p:cNvSpPr>
            <a:spLocks noGrp="1"/>
          </p:cNvSpPr>
          <p:nvPr/>
        </p:nvSpPr>
        <p:spPr>
          <a:xfrm>
            <a:off x="4476750" y="2076450"/>
            <a:ext cx="10477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575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暂停后</a:t>
            </a:r>
          </a:p>
        </p:txBody>
      </p:sp>
      <p:sp>
        <p:nvSpPr>
          <p:cNvPr id="8" name="retest-row-rule-0"/>
          <p:cNvSpPr>
            <a:spLocks noGrp="1"/>
          </p:cNvSpPr>
          <p:nvPr/>
        </p:nvSpPr>
        <p:spPr>
          <a:xfrm>
            <a:off x="762000" y="264795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9" name="retest-label-1"/>
          <p:cNvSpPr>
            <a:spLocks noGrp="1"/>
          </p:cNvSpPr>
          <p:nvPr/>
        </p:nvSpPr>
        <p:spPr>
          <a:xfrm>
            <a:off x="762000" y="2647950"/>
            <a:ext cx="21907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p95 延迟</a:t>
            </a:r>
          </a:p>
        </p:txBody>
      </p:sp>
      <p:sp>
        <p:nvSpPr>
          <p:cNvPr id="10" name="retest-before-1"/>
          <p:cNvSpPr>
            <a:spLocks noGrp="1"/>
          </p:cNvSpPr>
          <p:nvPr/>
        </p:nvSpPr>
        <p:spPr>
          <a:xfrm>
            <a:off x="3009900" y="2647950"/>
            <a:ext cx="12382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900 ms</a:t>
            </a:r>
          </a:p>
        </p:txBody>
      </p:sp>
      <p:sp>
        <p:nvSpPr>
          <p:cNvPr id="11" name="retest-after-1"/>
          <p:cNvSpPr>
            <a:spLocks noGrp="1"/>
          </p:cNvSpPr>
          <p:nvPr/>
        </p:nvSpPr>
        <p:spPr>
          <a:xfrm>
            <a:off x="4381500" y="2647950"/>
            <a:ext cx="1333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120 ms</a:t>
            </a:r>
          </a:p>
        </p:txBody>
      </p:sp>
      <p:sp>
        <p:nvSpPr>
          <p:cNvPr id="12" name="retest-row-rule-1"/>
          <p:cNvSpPr>
            <a:spLocks noGrp="1"/>
          </p:cNvSpPr>
          <p:nvPr/>
        </p:nvSpPr>
        <p:spPr>
          <a:xfrm>
            <a:off x="762000" y="3181350"/>
            <a:ext cx="49339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3" name="retest-label-2"/>
          <p:cNvSpPr>
            <a:spLocks noGrp="1"/>
          </p:cNvSpPr>
          <p:nvPr/>
        </p:nvSpPr>
        <p:spPr>
          <a:xfrm>
            <a:off x="762000" y="3295650"/>
            <a:ext cx="21907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错误率</a:t>
            </a:r>
          </a:p>
        </p:txBody>
      </p:sp>
      <p:sp>
        <p:nvSpPr>
          <p:cNvPr id="14" name="retest-before-2"/>
          <p:cNvSpPr>
            <a:spLocks noGrp="1"/>
          </p:cNvSpPr>
          <p:nvPr/>
        </p:nvSpPr>
        <p:spPr>
          <a:xfrm>
            <a:off x="3009900" y="3295650"/>
            <a:ext cx="12382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6.4%</a:t>
            </a:r>
          </a:p>
        </p:txBody>
      </p:sp>
      <p:sp>
        <p:nvSpPr>
          <p:cNvPr id="15" name="retest-after-2"/>
          <p:cNvSpPr>
            <a:spLocks noGrp="1"/>
          </p:cNvSpPr>
          <p:nvPr/>
        </p:nvSpPr>
        <p:spPr>
          <a:xfrm>
            <a:off x="4381500" y="3295650"/>
            <a:ext cx="1333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0.3%</a:t>
            </a:r>
          </a:p>
        </p:txBody>
      </p:sp>
      <p:sp>
        <p:nvSpPr>
          <p:cNvPr id="16" name="retest-row-rule-2"/>
          <p:cNvSpPr>
            <a:spLocks noGrp="1"/>
          </p:cNvSpPr>
          <p:nvPr/>
        </p:nvSpPr>
        <p:spPr>
          <a:xfrm>
            <a:off x="762000" y="3829050"/>
            <a:ext cx="49339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7" name="retest-label-3"/>
          <p:cNvSpPr>
            <a:spLocks noGrp="1"/>
          </p:cNvSpPr>
          <p:nvPr/>
        </p:nvSpPr>
        <p:spPr>
          <a:xfrm>
            <a:off x="762000" y="3943350"/>
            <a:ext cx="21907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磁盘 await</a:t>
            </a:r>
          </a:p>
        </p:txBody>
      </p:sp>
      <p:sp>
        <p:nvSpPr>
          <p:cNvPr id="18" name="retest-before-3"/>
          <p:cNvSpPr>
            <a:spLocks noGrp="1"/>
          </p:cNvSpPr>
          <p:nvPr/>
        </p:nvSpPr>
        <p:spPr>
          <a:xfrm>
            <a:off x="3009900" y="3943350"/>
            <a:ext cx="12382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78 ms</a:t>
            </a:r>
          </a:p>
        </p:txBody>
      </p:sp>
      <p:sp>
        <p:nvSpPr>
          <p:cNvPr id="19" name="retest-after-3"/>
          <p:cNvSpPr>
            <a:spLocks noGrp="1"/>
          </p:cNvSpPr>
          <p:nvPr/>
        </p:nvSpPr>
        <p:spPr>
          <a:xfrm>
            <a:off x="4381500" y="3943350"/>
            <a:ext cx="1333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9 ms</a:t>
            </a:r>
          </a:p>
        </p:txBody>
      </p:sp>
      <p:sp>
        <p:nvSpPr>
          <p:cNvPr id="20" name="retest-row-rule-3"/>
          <p:cNvSpPr>
            <a:spLocks noGrp="1"/>
          </p:cNvSpPr>
          <p:nvPr/>
        </p:nvSpPr>
        <p:spPr>
          <a:xfrm>
            <a:off x="762000" y="4476750"/>
            <a:ext cx="493395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1" name="retest-label-4"/>
          <p:cNvSpPr>
            <a:spLocks noGrp="1"/>
          </p:cNvSpPr>
          <p:nvPr/>
        </p:nvSpPr>
        <p:spPr>
          <a:xfrm>
            <a:off x="762000" y="4591050"/>
            <a:ext cx="21907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长时间 D 状态任务</a:t>
            </a:r>
          </a:p>
        </p:txBody>
      </p:sp>
      <p:sp>
        <p:nvSpPr>
          <p:cNvPr id="22" name="retest-before-4"/>
          <p:cNvSpPr>
            <a:spLocks noGrp="1"/>
          </p:cNvSpPr>
          <p:nvPr/>
        </p:nvSpPr>
        <p:spPr>
          <a:xfrm>
            <a:off x="3009900" y="4591050"/>
            <a:ext cx="12382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FFB454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14</a:t>
            </a:r>
          </a:p>
        </p:txBody>
      </p:sp>
      <p:sp>
        <p:nvSpPr>
          <p:cNvPr id="23" name="retest-after-4"/>
          <p:cNvSpPr>
            <a:spLocks noGrp="1"/>
          </p:cNvSpPr>
          <p:nvPr/>
        </p:nvSpPr>
        <p:spPr>
          <a:xfrm>
            <a:off x="4381500" y="4591050"/>
            <a:ext cx="1333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0–1</a:t>
            </a:r>
          </a:p>
        </p:txBody>
      </p:sp>
      <p:sp>
        <p:nvSpPr>
          <p:cNvPr id="24" name="retest-flow-heading"/>
          <p:cNvSpPr>
            <a:spLocks noGrp="1"/>
          </p:cNvSpPr>
          <p:nvPr/>
        </p:nvSpPr>
        <p:spPr>
          <a:xfrm>
            <a:off x="6572250" y="1409700"/>
            <a:ext cx="508635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202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把处置变成闭环</a:t>
            </a:r>
          </a:p>
        </p:txBody>
      </p:sp>
      <p:sp>
        <p:nvSpPr>
          <p:cNvPr id="25" name="retest-flow-node-1"/>
          <p:cNvSpPr>
            <a:spLocks noGrp="1"/>
          </p:cNvSpPr>
          <p:nvPr/>
        </p:nvSpPr>
        <p:spPr>
          <a:xfrm>
            <a:off x="6572250" y="1924050"/>
            <a:ext cx="508635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6" name="retest-flow-index-1"/>
          <p:cNvSpPr>
            <a:spLocks noGrp="1"/>
          </p:cNvSpPr>
          <p:nvPr/>
        </p:nvSpPr>
        <p:spPr>
          <a:xfrm>
            <a:off x="6800850" y="2047875"/>
            <a:ext cx="5143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27" name="retest-flow-label-1"/>
          <p:cNvSpPr>
            <a:spLocks noGrp="1"/>
          </p:cNvSpPr>
          <p:nvPr/>
        </p:nvSpPr>
        <p:spPr>
          <a:xfrm>
            <a:off x="7448550" y="2019300"/>
            <a:ext cx="39433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记录基线</a:t>
            </a:r>
          </a:p>
        </p:txBody>
      </p:sp>
      <p:sp>
        <p:nvSpPr>
          <p:cNvPr id="28" name="retest-flow-node-2"/>
          <p:cNvSpPr>
            <a:spLocks noGrp="1"/>
          </p:cNvSpPr>
          <p:nvPr/>
        </p:nvSpPr>
        <p:spPr>
          <a:xfrm>
            <a:off x="6572250" y="2609850"/>
            <a:ext cx="508635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9" name="retest-flow-index-2"/>
          <p:cNvSpPr>
            <a:spLocks noGrp="1"/>
          </p:cNvSpPr>
          <p:nvPr/>
        </p:nvSpPr>
        <p:spPr>
          <a:xfrm>
            <a:off x="6800850" y="2733675"/>
            <a:ext cx="5143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30" name="retest-flow-label-2"/>
          <p:cNvSpPr>
            <a:spLocks noGrp="1"/>
          </p:cNvSpPr>
          <p:nvPr/>
        </p:nvSpPr>
        <p:spPr>
          <a:xfrm>
            <a:off x="7448550" y="2705100"/>
            <a:ext cx="39433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只改变一个变量</a:t>
            </a:r>
          </a:p>
        </p:txBody>
      </p:sp>
      <p:sp>
        <p:nvSpPr>
          <p:cNvPr id="31" name="retest-flow-node-3"/>
          <p:cNvSpPr>
            <a:spLocks noGrp="1"/>
          </p:cNvSpPr>
          <p:nvPr/>
        </p:nvSpPr>
        <p:spPr>
          <a:xfrm>
            <a:off x="6572250" y="3295650"/>
            <a:ext cx="508635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2" name="retest-flow-index-3"/>
          <p:cNvSpPr>
            <a:spLocks noGrp="1"/>
          </p:cNvSpPr>
          <p:nvPr/>
        </p:nvSpPr>
        <p:spPr>
          <a:xfrm>
            <a:off x="6800850" y="3419475"/>
            <a:ext cx="5143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33" name="retest-flow-label-3"/>
          <p:cNvSpPr>
            <a:spLocks noGrp="1"/>
          </p:cNvSpPr>
          <p:nvPr/>
        </p:nvSpPr>
        <p:spPr>
          <a:xfrm>
            <a:off x="7448550" y="3390900"/>
            <a:ext cx="39433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相同负载复测</a:t>
            </a:r>
          </a:p>
        </p:txBody>
      </p:sp>
      <p:sp>
        <p:nvSpPr>
          <p:cNvPr id="34" name="retest-flow-node-4"/>
          <p:cNvSpPr>
            <a:spLocks noGrp="1"/>
          </p:cNvSpPr>
          <p:nvPr/>
        </p:nvSpPr>
        <p:spPr>
          <a:xfrm>
            <a:off x="6572250" y="3981450"/>
            <a:ext cx="508635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5" name="retest-flow-index-4"/>
          <p:cNvSpPr>
            <a:spLocks noGrp="1"/>
          </p:cNvSpPr>
          <p:nvPr/>
        </p:nvSpPr>
        <p:spPr>
          <a:xfrm>
            <a:off x="6800850" y="4105275"/>
            <a:ext cx="5143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04</a:t>
            </a:r>
          </a:p>
        </p:txBody>
      </p:sp>
      <p:sp>
        <p:nvSpPr>
          <p:cNvPr id="36" name="retest-flow-label-4"/>
          <p:cNvSpPr>
            <a:spLocks noGrp="1"/>
          </p:cNvSpPr>
          <p:nvPr/>
        </p:nvSpPr>
        <p:spPr>
          <a:xfrm>
            <a:off x="7448550" y="4076700"/>
            <a:ext cx="39433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检查改善与回归</a:t>
            </a:r>
          </a:p>
        </p:txBody>
      </p:sp>
      <p:sp>
        <p:nvSpPr>
          <p:cNvPr id="37" name="retest-flow-node-5"/>
          <p:cNvSpPr>
            <a:spLocks noGrp="1"/>
          </p:cNvSpPr>
          <p:nvPr/>
        </p:nvSpPr>
        <p:spPr>
          <a:xfrm>
            <a:off x="6572250" y="4667250"/>
            <a:ext cx="508635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38" name="retest-flow-index-5"/>
          <p:cNvSpPr>
            <a:spLocks noGrp="1"/>
          </p:cNvSpPr>
          <p:nvPr/>
        </p:nvSpPr>
        <p:spPr>
          <a:xfrm>
            <a:off x="6800850" y="4791075"/>
            <a:ext cx="5143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05</a:t>
            </a:r>
          </a:p>
        </p:txBody>
      </p:sp>
      <p:sp>
        <p:nvSpPr>
          <p:cNvPr id="39" name="retest-flow-label-5"/>
          <p:cNvSpPr>
            <a:spLocks noGrp="1"/>
          </p:cNvSpPr>
          <p:nvPr/>
        </p:nvSpPr>
        <p:spPr>
          <a:xfrm>
            <a:off x="7448550" y="4762500"/>
            <a:ext cx="3943350" cy="3238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保留 / 调整 / 回退</a:t>
            </a:r>
          </a:p>
        </p:txBody>
      </p:sp>
      <p:sp>
        <p:nvSpPr>
          <p:cNvPr id="40" name="retest-conclusion-panel"/>
          <p:cNvSpPr>
            <a:spLocks noGrp="1"/>
          </p:cNvSpPr>
          <p:nvPr/>
        </p:nvSpPr>
        <p:spPr>
          <a:xfrm>
            <a:off x="533400" y="5772150"/>
            <a:ext cx="11125200" cy="723900"/>
          </a:xfrm>
          <a:prstGeom prst="rect">
            <a:avLst/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41" name="retest-conclusion-label"/>
          <p:cNvSpPr>
            <a:spLocks noGrp="1"/>
          </p:cNvSpPr>
          <p:nvPr/>
        </p:nvSpPr>
        <p:spPr>
          <a:xfrm>
            <a:off x="762000" y="5991225"/>
            <a:ext cx="142875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当前结论</a:t>
            </a:r>
          </a:p>
        </p:txBody>
      </p:sp>
      <p:sp>
        <p:nvSpPr>
          <p:cNvPr id="42" name="retest-conclusion"/>
          <p:cNvSpPr>
            <a:spLocks noGrp="1"/>
          </p:cNvSpPr>
          <p:nvPr/>
        </p:nvSpPr>
        <p:spPr>
          <a:xfrm>
            <a:off x="2266950" y="5905500"/>
            <a:ext cx="9048750" cy="457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共享存储竞争已有强证据；下一步评估调度、I/O 限额与隔离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slide-14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换成端口问题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，证据链仍然一样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network-layer-1"/>
          <p:cNvSpPr>
            <a:spLocks noGrp="1"/>
          </p:cNvSpPr>
          <p:nvPr/>
        </p:nvSpPr>
        <p:spPr>
          <a:xfrm>
            <a:off x="533400" y="1466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3" name="network-layer-label-1"/>
          <p:cNvSpPr>
            <a:spLocks noGrp="1"/>
          </p:cNvSpPr>
          <p:nvPr/>
        </p:nvSpPr>
        <p:spPr>
          <a:xfrm>
            <a:off x="685800" y="1657350"/>
            <a:ext cx="201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客户端</a:t>
            </a:r>
          </a:p>
        </p:txBody>
      </p:sp>
      <p:sp>
        <p:nvSpPr>
          <p:cNvPr id="4" name="network-layer-evidence-1"/>
          <p:cNvSpPr>
            <a:spLocks noGrp="1"/>
          </p:cNvSpPr>
          <p:nvPr/>
        </p:nvSpPr>
        <p:spPr>
          <a:xfrm>
            <a:off x="685800" y="2000250"/>
            <a:ext cx="2019300" cy="228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350">
                <a:solidFill>
                  <a:srgbClr val="8995A3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curl</a:t>
            </a:r>
          </a:p>
        </p:txBody>
      </p:sp>
      <p:sp>
        <p:nvSpPr>
          <p:cNvPr id="5" name="network-layer-arrow-1"/>
          <p:cNvSpPr>
            <a:spLocks noGrp="1"/>
          </p:cNvSpPr>
          <p:nvPr/>
        </p:nvSpPr>
        <p:spPr>
          <a:xfrm>
            <a:off x="2933700" y="1752600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6" name="network-layer-2"/>
          <p:cNvSpPr>
            <a:spLocks noGrp="1"/>
          </p:cNvSpPr>
          <p:nvPr/>
        </p:nvSpPr>
        <p:spPr>
          <a:xfrm>
            <a:off x="3390900" y="1466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7" name="network-layer-label-2"/>
          <p:cNvSpPr>
            <a:spLocks noGrp="1"/>
          </p:cNvSpPr>
          <p:nvPr/>
        </p:nvSpPr>
        <p:spPr>
          <a:xfrm>
            <a:off x="3543300" y="1657350"/>
            <a:ext cx="201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网络路径</a:t>
            </a:r>
          </a:p>
        </p:txBody>
      </p:sp>
      <p:sp>
        <p:nvSpPr>
          <p:cNvPr id="8" name="network-layer-evidence-2"/>
          <p:cNvSpPr>
            <a:spLocks noGrp="1"/>
          </p:cNvSpPr>
          <p:nvPr/>
        </p:nvSpPr>
        <p:spPr>
          <a:xfrm>
            <a:off x="3543300" y="2000250"/>
            <a:ext cx="2019300" cy="228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350">
                <a:solidFill>
                  <a:srgbClr val="8995A3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route / firewall</a:t>
            </a:r>
          </a:p>
        </p:txBody>
      </p:sp>
      <p:sp>
        <p:nvSpPr>
          <p:cNvPr id="9" name="network-layer-arrow-2"/>
          <p:cNvSpPr>
            <a:spLocks noGrp="1"/>
          </p:cNvSpPr>
          <p:nvPr/>
        </p:nvSpPr>
        <p:spPr>
          <a:xfrm>
            <a:off x="5791200" y="1752600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0" name="network-layer-3"/>
          <p:cNvSpPr>
            <a:spLocks noGrp="1"/>
          </p:cNvSpPr>
          <p:nvPr/>
        </p:nvSpPr>
        <p:spPr>
          <a:xfrm>
            <a:off x="6248400" y="1466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11" name="network-layer-label-3"/>
          <p:cNvSpPr>
            <a:spLocks noGrp="1"/>
          </p:cNvSpPr>
          <p:nvPr/>
        </p:nvSpPr>
        <p:spPr>
          <a:xfrm>
            <a:off x="6400800" y="1657350"/>
            <a:ext cx="201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监听 Socket</a:t>
            </a:r>
          </a:p>
        </p:txBody>
      </p:sp>
      <p:sp>
        <p:nvSpPr>
          <p:cNvPr id="12" name="network-layer-evidence-3"/>
          <p:cNvSpPr>
            <a:spLocks noGrp="1"/>
          </p:cNvSpPr>
          <p:nvPr/>
        </p:nvSpPr>
        <p:spPr>
          <a:xfrm>
            <a:off x="6400800" y="2000250"/>
            <a:ext cx="2019300" cy="228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350">
                <a:solidFill>
                  <a:srgbClr val="8995A3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ss</a:t>
            </a:r>
          </a:p>
        </p:txBody>
      </p:sp>
      <p:sp>
        <p:nvSpPr>
          <p:cNvPr id="13" name="network-layer-arrow-3"/>
          <p:cNvSpPr>
            <a:spLocks noGrp="1"/>
          </p:cNvSpPr>
          <p:nvPr/>
        </p:nvSpPr>
        <p:spPr>
          <a:xfrm>
            <a:off x="8648700" y="1752600"/>
            <a:ext cx="3429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→</a:t>
            </a:r>
          </a:p>
        </p:txBody>
      </p:sp>
      <p:sp>
        <p:nvSpPr>
          <p:cNvPr id="14" name="network-layer-4"/>
          <p:cNvSpPr>
            <a:spLocks noGrp="1"/>
          </p:cNvSpPr>
          <p:nvPr/>
        </p:nvSpPr>
        <p:spPr>
          <a:xfrm>
            <a:off x="9105900" y="1466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151D25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5" name="network-layer-label-4"/>
          <p:cNvSpPr>
            <a:spLocks noGrp="1"/>
          </p:cNvSpPr>
          <p:nvPr/>
        </p:nvSpPr>
        <p:spPr>
          <a:xfrm>
            <a:off x="9258300" y="1657350"/>
            <a:ext cx="201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87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服务进程</a:t>
            </a:r>
          </a:p>
        </p:txBody>
      </p:sp>
      <p:sp>
        <p:nvSpPr>
          <p:cNvPr id="16" name="network-layer-evidence-4"/>
          <p:cNvSpPr>
            <a:spLocks noGrp="1"/>
          </p:cNvSpPr>
          <p:nvPr/>
        </p:nvSpPr>
        <p:spPr>
          <a:xfrm>
            <a:off x="9258300" y="2000250"/>
            <a:ext cx="2019300" cy="228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350">
                <a:solidFill>
                  <a:srgbClr val="8995A3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systemctl / log</a:t>
            </a:r>
          </a:p>
        </p:txBody>
      </p:sp>
      <p:sp>
        <p:nvSpPr>
          <p:cNvPr id="17" name="network-layer-end"/>
          <p:cNvSpPr>
            <a:spLocks noGrp="1"/>
          </p:cNvSpPr>
          <p:nvPr/>
        </p:nvSpPr>
        <p:spPr>
          <a:xfrm>
            <a:off x="11430000" y="190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8" name="port-scenario"/>
          <p:cNvSpPr>
            <a:spLocks noGrp="1"/>
          </p:cNvSpPr>
          <p:nvPr/>
        </p:nvSpPr>
        <p:spPr>
          <a:xfrm>
            <a:off x="533400" y="2724150"/>
            <a:ext cx="4762500" cy="27813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9" name="port-scenario-heading"/>
          <p:cNvSpPr>
            <a:spLocks noGrp="1"/>
          </p:cNvSpPr>
          <p:nvPr/>
        </p:nvSpPr>
        <p:spPr>
          <a:xfrm>
            <a:off x="781050" y="2952750"/>
            <a:ext cx="952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72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现场</a:t>
            </a:r>
          </a:p>
        </p:txBody>
      </p:sp>
      <p:sp>
        <p:nvSpPr>
          <p:cNvPr id="20" name="port-command"/>
          <p:cNvSpPr>
            <a:spLocks noGrp="1"/>
          </p:cNvSpPr>
          <p:nvPr/>
        </p:nvSpPr>
        <p:spPr>
          <a:xfrm>
            <a:off x="781050" y="3429000"/>
            <a:ext cx="42672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4ADE80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$ curl http://server:8080/health</a:t>
            </a:r>
          </a:p>
        </p:txBody>
      </p:sp>
      <p:sp>
        <p:nvSpPr>
          <p:cNvPr id="21" name="port-error"/>
          <p:cNvSpPr>
            <a:spLocks noGrp="1"/>
          </p:cNvSpPr>
          <p:nvPr/>
        </p:nvSpPr>
        <p:spPr>
          <a:xfrm>
            <a:off x="781050" y="3867150"/>
            <a:ext cx="42672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FFB454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curl: (7) Connection refused</a:t>
            </a:r>
          </a:p>
        </p:txBody>
      </p:sp>
      <p:sp>
        <p:nvSpPr>
          <p:cNvPr id="22" name="port-observations"/>
          <p:cNvSpPr>
            <a:spLocks noGrp="1"/>
          </p:cNvSpPr>
          <p:nvPr/>
        </p:nvSpPr>
        <p:spPr>
          <a:xfrm>
            <a:off x="781050" y="4400550"/>
            <a:ext cx="4267200" cy="5905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ping 正常
ps 显示服务进程存在</a:t>
            </a:r>
          </a:p>
        </p:txBody>
      </p:sp>
      <p:sp>
        <p:nvSpPr>
          <p:cNvPr id="23" name="port-inequality"/>
          <p:cNvSpPr>
            <a:spLocks noGrp="1"/>
          </p:cNvSpPr>
          <p:nvPr/>
        </p:nvSpPr>
        <p:spPr>
          <a:xfrm>
            <a:off x="781050" y="5124450"/>
            <a:ext cx="426720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进程存在  ≠  正在监听  ≠  协议正常</a:t>
            </a:r>
          </a:p>
        </p:txBody>
      </p:sp>
      <p:sp>
        <p:nvSpPr>
          <p:cNvPr id="24" name="port-evidence-panel"/>
          <p:cNvSpPr>
            <a:spLocks noGrp="1"/>
          </p:cNvSpPr>
          <p:nvPr/>
        </p:nvSpPr>
        <p:spPr>
          <a:xfrm>
            <a:off x="5905500" y="2724150"/>
            <a:ext cx="5753100" cy="2781300"/>
          </a:xfrm>
          <a:prstGeom prst="rect">
            <a:avLst/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25" name="port-evidence-heading"/>
          <p:cNvSpPr>
            <a:spLocks noGrp="1"/>
          </p:cNvSpPr>
          <p:nvPr/>
        </p:nvSpPr>
        <p:spPr>
          <a:xfrm>
            <a:off x="6153150" y="2952750"/>
            <a:ext cx="17145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725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证据顺序</a:t>
            </a:r>
          </a:p>
        </p:txBody>
      </p:sp>
      <p:sp>
        <p:nvSpPr>
          <p:cNvPr id="26" name="port-step-index-1"/>
          <p:cNvSpPr>
            <a:spLocks noGrp="1"/>
          </p:cNvSpPr>
          <p:nvPr/>
        </p:nvSpPr>
        <p:spPr>
          <a:xfrm>
            <a:off x="6153150" y="3390900"/>
            <a:ext cx="4762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3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27" name="port-step-command-1"/>
          <p:cNvSpPr>
            <a:spLocks noGrp="1"/>
          </p:cNvSpPr>
          <p:nvPr/>
        </p:nvSpPr>
        <p:spPr>
          <a:xfrm>
            <a:off x="6705600" y="3390900"/>
            <a:ext cx="17145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 b="1">
                <a:solidFill>
                  <a:srgbClr val="B7F5CE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ss -lntp</a:t>
            </a:r>
          </a:p>
        </p:txBody>
      </p:sp>
      <p:sp>
        <p:nvSpPr>
          <p:cNvPr id="28" name="port-step-question-1"/>
          <p:cNvSpPr>
            <a:spLocks noGrp="1"/>
          </p:cNvSpPr>
          <p:nvPr/>
        </p:nvSpPr>
        <p:spPr>
          <a:xfrm>
            <a:off x="8458200" y="3390900"/>
            <a:ext cx="2952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是否监听？监听在哪个地址？</a:t>
            </a:r>
          </a:p>
        </p:txBody>
      </p:sp>
      <p:sp>
        <p:nvSpPr>
          <p:cNvPr id="29" name="port-step-index-2"/>
          <p:cNvSpPr>
            <a:spLocks noGrp="1"/>
          </p:cNvSpPr>
          <p:nvPr/>
        </p:nvSpPr>
        <p:spPr>
          <a:xfrm>
            <a:off x="6153150" y="3876675"/>
            <a:ext cx="4762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3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30" name="port-step-command-2"/>
          <p:cNvSpPr>
            <a:spLocks noGrp="1"/>
          </p:cNvSpPr>
          <p:nvPr/>
        </p:nvSpPr>
        <p:spPr>
          <a:xfrm>
            <a:off x="6705600" y="3876675"/>
            <a:ext cx="17145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 b="1">
                <a:solidFill>
                  <a:srgbClr val="B7F5CE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systemctl / 日志</a:t>
            </a:r>
          </a:p>
        </p:txBody>
      </p:sp>
      <p:sp>
        <p:nvSpPr>
          <p:cNvPr id="31" name="port-step-question-2"/>
          <p:cNvSpPr>
            <a:spLocks noGrp="1"/>
          </p:cNvSpPr>
          <p:nvPr/>
        </p:nvSpPr>
        <p:spPr>
          <a:xfrm>
            <a:off x="8458200" y="3876675"/>
            <a:ext cx="2952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进程为何没有建立预期监听？</a:t>
            </a:r>
          </a:p>
        </p:txBody>
      </p:sp>
      <p:sp>
        <p:nvSpPr>
          <p:cNvPr id="32" name="port-step-index-3"/>
          <p:cNvSpPr>
            <a:spLocks noGrp="1"/>
          </p:cNvSpPr>
          <p:nvPr/>
        </p:nvSpPr>
        <p:spPr>
          <a:xfrm>
            <a:off x="6153150" y="4362450"/>
            <a:ext cx="4762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3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33" name="port-step-command-3"/>
          <p:cNvSpPr>
            <a:spLocks noGrp="1"/>
          </p:cNvSpPr>
          <p:nvPr/>
        </p:nvSpPr>
        <p:spPr>
          <a:xfrm>
            <a:off x="6705600" y="4362450"/>
            <a:ext cx="17145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 b="1">
                <a:solidFill>
                  <a:srgbClr val="B7F5CE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curl -v</a:t>
            </a:r>
          </a:p>
        </p:txBody>
      </p:sp>
      <p:sp>
        <p:nvSpPr>
          <p:cNvPr id="34" name="port-step-question-3"/>
          <p:cNvSpPr>
            <a:spLocks noGrp="1"/>
          </p:cNvSpPr>
          <p:nvPr/>
        </p:nvSpPr>
        <p:spPr>
          <a:xfrm>
            <a:off x="8458200" y="4362450"/>
            <a:ext cx="2952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连接建立后协议是否正常？</a:t>
            </a:r>
          </a:p>
        </p:txBody>
      </p:sp>
      <p:sp>
        <p:nvSpPr>
          <p:cNvPr id="35" name="port-step-index-4"/>
          <p:cNvSpPr>
            <a:spLocks noGrp="1"/>
          </p:cNvSpPr>
          <p:nvPr/>
        </p:nvSpPr>
        <p:spPr>
          <a:xfrm>
            <a:off x="6153150" y="4848225"/>
            <a:ext cx="47625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35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04</a:t>
            </a:r>
          </a:p>
        </p:txBody>
      </p:sp>
      <p:sp>
        <p:nvSpPr>
          <p:cNvPr id="36" name="port-step-command-4"/>
          <p:cNvSpPr>
            <a:spLocks noGrp="1"/>
          </p:cNvSpPr>
          <p:nvPr/>
        </p:nvSpPr>
        <p:spPr>
          <a:xfrm>
            <a:off x="6705600" y="4848225"/>
            <a:ext cx="17145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 b="1">
                <a:solidFill>
                  <a:srgbClr val="B7F5CE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若是超时</a:t>
            </a:r>
          </a:p>
        </p:txBody>
      </p:sp>
      <p:sp>
        <p:nvSpPr>
          <p:cNvPr id="37" name="port-step-question-4"/>
          <p:cNvSpPr>
            <a:spLocks noGrp="1"/>
          </p:cNvSpPr>
          <p:nvPr/>
        </p:nvSpPr>
        <p:spPr>
          <a:xfrm>
            <a:off x="8458200" y="4848225"/>
            <a:ext cx="2952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425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再查路由、防火墙、丢包与链路</a:t>
            </a:r>
          </a:p>
        </p:txBody>
      </p:sp>
      <p:sp>
        <p:nvSpPr>
          <p:cNvPr id="38" name="port-reveal-panel"/>
          <p:cNvSpPr>
            <a:spLocks noGrp="1"/>
          </p:cNvSpPr>
          <p:nvPr/>
        </p:nvSpPr>
        <p:spPr>
          <a:xfrm>
            <a:off x="533400" y="5848350"/>
            <a:ext cx="11125200" cy="666750"/>
          </a:xfrm>
          <a:prstGeom prst="rect">
            <a:avLst/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39" name="port-reveal-label"/>
          <p:cNvSpPr>
            <a:spLocks noGrp="1"/>
          </p:cNvSpPr>
          <p:nvPr/>
        </p:nvSpPr>
        <p:spPr>
          <a:xfrm>
            <a:off x="781050" y="6048375"/>
            <a:ext cx="14287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65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证据揭示</a:t>
            </a:r>
          </a:p>
        </p:txBody>
      </p:sp>
      <p:sp>
        <p:nvSpPr>
          <p:cNvPr id="40" name="port-reveal-command"/>
          <p:cNvSpPr>
            <a:spLocks noGrp="1"/>
          </p:cNvSpPr>
          <p:nvPr/>
        </p:nvSpPr>
        <p:spPr>
          <a:xfrm>
            <a:off x="2324100" y="6000750"/>
            <a:ext cx="400050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1725" b="1">
                <a:solidFill>
                  <a:srgbClr val="F4F7FB"/>
                </a:solidFill>
                <a:latin typeface="Menlo" panose="020B0609030804020204"/>
                <a:ea typeface="Menlo" panose="020B0609030804020204"/>
                <a:cs typeface="Menlo" panose="020B0609030804020204"/>
              </a:defRPr>
            </a:pPr>
            <a:r>
              <a:t>ss -lntp  →  127.0.0.1:8080</a:t>
            </a:r>
          </a:p>
        </p:txBody>
      </p:sp>
      <p:sp>
        <p:nvSpPr>
          <p:cNvPr id="41" name="port-reveal-result"/>
          <p:cNvSpPr>
            <a:spLocks noGrp="1"/>
          </p:cNvSpPr>
          <p:nvPr/>
        </p:nvSpPr>
        <p:spPr>
          <a:xfrm>
            <a:off x="6534150" y="6000750"/>
            <a:ext cx="4781550" cy="3619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r">
              <a:buNone/>
              <a:defRPr sz="2025" b="1">
                <a:solidFill>
                  <a:srgbClr val="FFB454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服务只监听回环地址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slide-15-title"/>
          <p:cNvSpPr>
            <a:spLocks noGrp="1"/>
          </p:cNvSpPr>
          <p:nvPr/>
        </p:nvSpPr>
        <p:spPr>
          <a:xfrm>
            <a:off x="533400" y="457200"/>
            <a:ext cx="11125200" cy="723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375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rPr sz="3900" b="1">
                <a:solidFill>
                  <a:srgbClr val="4ADE8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知道下一步该查什么</a:t>
            </a:r>
            <a:r>
              <a:rPr sz="39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，就是工程视角</a:t>
            </a:r>
            <a:endParaRPr sz="3900" b="1">
              <a:solidFill>
                <a:srgbClr val="F4F7FB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</p:txBody>
      </p:sp>
      <p:sp>
        <p:nvSpPr>
          <p:cNvPr id="2" name="closing-map-heading"/>
          <p:cNvSpPr>
            <a:spLocks noGrp="1"/>
          </p:cNvSpPr>
          <p:nvPr/>
        </p:nvSpPr>
        <p:spPr>
          <a:xfrm>
            <a:off x="533400" y="1428750"/>
            <a:ext cx="40005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一张运行时地图</a:t>
            </a:r>
          </a:p>
        </p:txBody>
      </p:sp>
      <p:sp>
        <p:nvSpPr>
          <p:cNvPr id="3" name="closing-map-node-1"/>
          <p:cNvSpPr>
            <a:spLocks noGrp="1"/>
          </p:cNvSpPr>
          <p:nvPr/>
        </p:nvSpPr>
        <p:spPr>
          <a:xfrm>
            <a:off x="533400" y="1962150"/>
            <a:ext cx="4000500" cy="514350"/>
          </a:xfrm>
          <a:prstGeom prst="roundRect">
            <a:avLst>
              <a:gd name="adj" fmla="val 14815"/>
            </a:avLst>
          </a:prstGeom>
          <a:solidFill>
            <a:srgbClr val="151D25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4" name="closing-map-label-1"/>
          <p:cNvSpPr>
            <a:spLocks noGrp="1"/>
          </p:cNvSpPr>
          <p:nvPr/>
        </p:nvSpPr>
        <p:spPr>
          <a:xfrm>
            <a:off x="723900" y="2066925"/>
            <a:ext cx="3619500" cy="30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725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用户体验</a:t>
            </a:r>
          </a:p>
        </p:txBody>
      </p:sp>
      <p:sp>
        <p:nvSpPr>
          <p:cNvPr id="5" name="closing-map-link-1"/>
          <p:cNvSpPr>
            <a:spLocks noGrp="1"/>
          </p:cNvSpPr>
          <p:nvPr/>
        </p:nvSpPr>
        <p:spPr>
          <a:xfrm>
            <a:off x="2514600" y="2476500"/>
            <a:ext cx="38100" cy="209550"/>
          </a:xfrm>
          <a:prstGeom prst="rect">
            <a:avLst/>
          </a:prstGeom>
          <a:solidFill>
            <a:srgbClr val="4ADE80"/>
          </a:solidFill>
          <a:ln w="0">
            <a:noFill/>
            <a:prstDash val="solid"/>
          </a:ln>
        </p:spPr>
      </p:sp>
      <p:sp>
        <p:nvSpPr>
          <p:cNvPr id="6" name="closing-map-node-2"/>
          <p:cNvSpPr>
            <a:spLocks noGrp="1"/>
          </p:cNvSpPr>
          <p:nvPr/>
        </p:nvSpPr>
        <p:spPr>
          <a:xfrm>
            <a:off x="533400" y="2686050"/>
            <a:ext cx="4000500" cy="514350"/>
          </a:xfrm>
          <a:prstGeom prst="roundRect">
            <a:avLst>
              <a:gd name="adj" fmla="val 14815"/>
            </a:avLst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7" name="closing-map-label-2"/>
          <p:cNvSpPr>
            <a:spLocks noGrp="1"/>
          </p:cNvSpPr>
          <p:nvPr/>
        </p:nvSpPr>
        <p:spPr>
          <a:xfrm>
            <a:off x="723900" y="2790825"/>
            <a:ext cx="3619500" cy="30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服务进程</a:t>
            </a:r>
          </a:p>
        </p:txBody>
      </p:sp>
      <p:sp>
        <p:nvSpPr>
          <p:cNvPr id="8" name="closing-map-link-2"/>
          <p:cNvSpPr>
            <a:spLocks noGrp="1"/>
          </p:cNvSpPr>
          <p:nvPr/>
        </p:nvSpPr>
        <p:spPr>
          <a:xfrm>
            <a:off x="2514600" y="3200400"/>
            <a:ext cx="38100" cy="209550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9" name="closing-map-node-3"/>
          <p:cNvSpPr>
            <a:spLocks noGrp="1"/>
          </p:cNvSpPr>
          <p:nvPr/>
        </p:nvSpPr>
        <p:spPr>
          <a:xfrm>
            <a:off x="533400" y="3409950"/>
            <a:ext cx="4000500" cy="514350"/>
          </a:xfrm>
          <a:prstGeom prst="roundRect">
            <a:avLst>
              <a:gd name="adj" fmla="val 14815"/>
            </a:avLst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0" name="closing-map-label-3"/>
          <p:cNvSpPr>
            <a:spLocks noGrp="1"/>
          </p:cNvSpPr>
          <p:nvPr/>
        </p:nvSpPr>
        <p:spPr>
          <a:xfrm>
            <a:off x="723900" y="3514725"/>
            <a:ext cx="3619500" cy="30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FD / Socket</a:t>
            </a:r>
          </a:p>
        </p:txBody>
      </p:sp>
      <p:sp>
        <p:nvSpPr>
          <p:cNvPr id="11" name="closing-map-link-3"/>
          <p:cNvSpPr>
            <a:spLocks noGrp="1"/>
          </p:cNvSpPr>
          <p:nvPr/>
        </p:nvSpPr>
        <p:spPr>
          <a:xfrm>
            <a:off x="2514600" y="3924300"/>
            <a:ext cx="38100" cy="209550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2" name="closing-map-node-4"/>
          <p:cNvSpPr>
            <a:spLocks noGrp="1"/>
          </p:cNvSpPr>
          <p:nvPr/>
        </p:nvSpPr>
        <p:spPr>
          <a:xfrm>
            <a:off x="533400" y="4133850"/>
            <a:ext cx="4000500" cy="514350"/>
          </a:xfrm>
          <a:prstGeom prst="roundRect">
            <a:avLst>
              <a:gd name="adj" fmla="val 14815"/>
            </a:avLst>
          </a:prstGeom>
          <a:solidFill>
            <a:srgbClr val="10161D"/>
          </a:solidFill>
          <a:ln w="9525">
            <a:solidFill>
              <a:srgbClr val="26323E"/>
            </a:solidFill>
            <a:prstDash val="solid"/>
          </a:ln>
        </p:spPr>
      </p:sp>
      <p:sp>
        <p:nvSpPr>
          <p:cNvPr id="13" name="closing-map-label-4"/>
          <p:cNvSpPr>
            <a:spLocks noGrp="1"/>
          </p:cNvSpPr>
          <p:nvPr/>
        </p:nvSpPr>
        <p:spPr>
          <a:xfrm>
            <a:off x="723900" y="4238625"/>
            <a:ext cx="3619500" cy="30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725" b="0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系统调用</a:t>
            </a:r>
          </a:p>
        </p:txBody>
      </p:sp>
      <p:sp>
        <p:nvSpPr>
          <p:cNvPr id="14" name="closing-map-link-4"/>
          <p:cNvSpPr>
            <a:spLocks noGrp="1"/>
          </p:cNvSpPr>
          <p:nvPr/>
        </p:nvSpPr>
        <p:spPr>
          <a:xfrm>
            <a:off x="2514600" y="4648200"/>
            <a:ext cx="38100" cy="209550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15" name="closing-map-node-5"/>
          <p:cNvSpPr>
            <a:spLocks noGrp="1"/>
          </p:cNvSpPr>
          <p:nvPr/>
        </p:nvSpPr>
        <p:spPr>
          <a:xfrm>
            <a:off x="533400" y="4857750"/>
            <a:ext cx="4000500" cy="514350"/>
          </a:xfrm>
          <a:prstGeom prst="roundRect">
            <a:avLst>
              <a:gd name="adj" fmla="val 14815"/>
            </a:avLst>
          </a:prstGeom>
          <a:solidFill>
            <a:srgbClr val="10161D"/>
          </a:solidFill>
          <a:ln w="9525">
            <a:solidFill>
              <a:srgbClr val="244236"/>
            </a:solidFill>
            <a:prstDash val="solid"/>
          </a:ln>
        </p:spPr>
      </p:sp>
      <p:sp>
        <p:nvSpPr>
          <p:cNvPr id="16" name="closing-map-label-5"/>
          <p:cNvSpPr>
            <a:spLocks noGrp="1"/>
          </p:cNvSpPr>
          <p:nvPr/>
        </p:nvSpPr>
        <p:spPr>
          <a:xfrm>
            <a:off x="723900" y="4962525"/>
            <a:ext cx="3619500" cy="30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1500" b="1">
                <a:solidFill>
                  <a:srgbClr val="D5DCE5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计算 · 内存 · 存储 · 网络</a:t>
            </a:r>
          </a:p>
        </p:txBody>
      </p:sp>
      <p:sp>
        <p:nvSpPr>
          <p:cNvPr id="17" name="closing-map-end"/>
          <p:cNvSpPr>
            <a:spLocks noGrp="1"/>
          </p:cNvSpPr>
          <p:nvPr/>
        </p:nvSpPr>
        <p:spPr>
          <a:xfrm>
            <a:off x="2514600" y="5334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8" name="closing-question-heading"/>
          <p:cNvSpPr>
            <a:spLocks noGrp="1"/>
          </p:cNvSpPr>
          <p:nvPr/>
        </p:nvSpPr>
        <p:spPr>
          <a:xfrm>
            <a:off x="5143500" y="1428750"/>
            <a:ext cx="6515100" cy="3238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五个工程判断</a:t>
            </a:r>
          </a:p>
        </p:txBody>
      </p:sp>
      <p:sp>
        <p:nvSpPr>
          <p:cNvPr id="19" name="closing-question-index-1"/>
          <p:cNvSpPr>
            <a:spLocks noGrp="1"/>
          </p:cNvSpPr>
          <p:nvPr/>
        </p:nvSpPr>
        <p:spPr>
          <a:xfrm>
            <a:off x="5143500" y="2019300"/>
            <a:ext cx="5524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01</a:t>
            </a:r>
          </a:p>
        </p:txBody>
      </p:sp>
      <p:sp>
        <p:nvSpPr>
          <p:cNvPr id="20" name="closing-question-title-1"/>
          <p:cNvSpPr>
            <a:spLocks noGrp="1"/>
          </p:cNvSpPr>
          <p:nvPr/>
        </p:nvSpPr>
        <p:spPr>
          <a:xfrm>
            <a:off x="5829300" y="1943100"/>
            <a:ext cx="582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问题是什么？</a:t>
            </a:r>
          </a:p>
        </p:txBody>
      </p:sp>
      <p:sp>
        <p:nvSpPr>
          <p:cNvPr id="21" name="closing-question-detail-1"/>
          <p:cNvSpPr>
            <a:spLocks noGrp="1"/>
          </p:cNvSpPr>
          <p:nvPr/>
        </p:nvSpPr>
        <p:spPr>
          <a:xfrm>
            <a:off x="5829300" y="2266950"/>
            <a:ext cx="58293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对象、范围、时间、用户指标</a:t>
            </a:r>
          </a:p>
        </p:txBody>
      </p:sp>
      <p:sp>
        <p:nvSpPr>
          <p:cNvPr id="22" name="closing-question-rule-1"/>
          <p:cNvSpPr>
            <a:spLocks noGrp="1"/>
          </p:cNvSpPr>
          <p:nvPr/>
        </p:nvSpPr>
        <p:spPr>
          <a:xfrm>
            <a:off x="5829300" y="2590800"/>
            <a:ext cx="58293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3" name="closing-question-index-2"/>
          <p:cNvSpPr>
            <a:spLocks noGrp="1"/>
          </p:cNvSpPr>
          <p:nvPr/>
        </p:nvSpPr>
        <p:spPr>
          <a:xfrm>
            <a:off x="5143500" y="2752725"/>
            <a:ext cx="5524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02</a:t>
            </a:r>
          </a:p>
        </p:txBody>
      </p:sp>
      <p:sp>
        <p:nvSpPr>
          <p:cNvPr id="24" name="closing-question-title-2"/>
          <p:cNvSpPr>
            <a:spLocks noGrp="1"/>
          </p:cNvSpPr>
          <p:nvPr/>
        </p:nvSpPr>
        <p:spPr>
          <a:xfrm>
            <a:off x="5829300" y="2676525"/>
            <a:ext cx="582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它发生在哪一层？</a:t>
            </a:r>
          </a:p>
        </p:txBody>
      </p:sp>
      <p:sp>
        <p:nvSpPr>
          <p:cNvPr id="25" name="closing-question-detail-2"/>
          <p:cNvSpPr>
            <a:spLocks noGrp="1"/>
          </p:cNvSpPr>
          <p:nvPr/>
        </p:nvSpPr>
        <p:spPr>
          <a:xfrm>
            <a:off x="5829300" y="3000375"/>
            <a:ext cx="58293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进程、FD、Socket、文件、资源</a:t>
            </a:r>
          </a:p>
        </p:txBody>
      </p:sp>
      <p:sp>
        <p:nvSpPr>
          <p:cNvPr id="26" name="closing-question-rule-2"/>
          <p:cNvSpPr>
            <a:spLocks noGrp="1"/>
          </p:cNvSpPr>
          <p:nvPr/>
        </p:nvSpPr>
        <p:spPr>
          <a:xfrm>
            <a:off x="5829300" y="3324225"/>
            <a:ext cx="58293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27" name="closing-question-index-3"/>
          <p:cNvSpPr>
            <a:spLocks noGrp="1"/>
          </p:cNvSpPr>
          <p:nvPr/>
        </p:nvSpPr>
        <p:spPr>
          <a:xfrm>
            <a:off x="5143500" y="3486150"/>
            <a:ext cx="5524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03</a:t>
            </a:r>
          </a:p>
        </p:txBody>
      </p:sp>
      <p:sp>
        <p:nvSpPr>
          <p:cNvPr id="28" name="closing-question-title-3"/>
          <p:cNvSpPr>
            <a:spLocks noGrp="1"/>
          </p:cNvSpPr>
          <p:nvPr/>
        </p:nvSpPr>
        <p:spPr>
          <a:xfrm>
            <a:off x="5829300" y="3409950"/>
            <a:ext cx="582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什么证据支持或反驳？</a:t>
            </a:r>
          </a:p>
        </p:txBody>
      </p:sp>
      <p:sp>
        <p:nvSpPr>
          <p:cNvPr id="29" name="closing-question-detail-3"/>
          <p:cNvSpPr>
            <a:spLocks noGrp="1"/>
          </p:cNvSpPr>
          <p:nvPr/>
        </p:nvSpPr>
        <p:spPr>
          <a:xfrm>
            <a:off x="5829300" y="3733800"/>
            <a:ext cx="58293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把指标放进同一条因果链</a:t>
            </a:r>
          </a:p>
        </p:txBody>
      </p:sp>
      <p:sp>
        <p:nvSpPr>
          <p:cNvPr id="30" name="closing-question-rule-3"/>
          <p:cNvSpPr>
            <a:spLocks noGrp="1"/>
          </p:cNvSpPr>
          <p:nvPr/>
        </p:nvSpPr>
        <p:spPr>
          <a:xfrm>
            <a:off x="5829300" y="4057650"/>
            <a:ext cx="58293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31" name="closing-question-index-4"/>
          <p:cNvSpPr>
            <a:spLocks noGrp="1"/>
          </p:cNvSpPr>
          <p:nvPr/>
        </p:nvSpPr>
        <p:spPr>
          <a:xfrm>
            <a:off x="5143500" y="4219575"/>
            <a:ext cx="5524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8995A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04</a:t>
            </a:r>
          </a:p>
        </p:txBody>
      </p:sp>
      <p:sp>
        <p:nvSpPr>
          <p:cNvPr id="32" name="closing-question-title-4"/>
          <p:cNvSpPr>
            <a:spLocks noGrp="1"/>
          </p:cNvSpPr>
          <p:nvPr/>
        </p:nvSpPr>
        <p:spPr>
          <a:xfrm>
            <a:off x="5829300" y="4143375"/>
            <a:ext cx="582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最小且安全的动作？</a:t>
            </a:r>
          </a:p>
        </p:txBody>
      </p:sp>
      <p:sp>
        <p:nvSpPr>
          <p:cNvPr id="33" name="closing-question-detail-4"/>
          <p:cNvSpPr>
            <a:spLocks noGrp="1"/>
          </p:cNvSpPr>
          <p:nvPr/>
        </p:nvSpPr>
        <p:spPr>
          <a:xfrm>
            <a:off x="5829300" y="4467225"/>
            <a:ext cx="58293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8995A3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只改变一个变量，并且可回退</a:t>
            </a:r>
          </a:p>
        </p:txBody>
      </p:sp>
      <p:sp>
        <p:nvSpPr>
          <p:cNvPr id="34" name="closing-question-rule-4"/>
          <p:cNvSpPr>
            <a:spLocks noGrp="1"/>
          </p:cNvSpPr>
          <p:nvPr/>
        </p:nvSpPr>
        <p:spPr>
          <a:xfrm>
            <a:off x="5829300" y="4791075"/>
            <a:ext cx="5829300" cy="9525"/>
          </a:xfrm>
          <a:prstGeom prst="rect">
            <a:avLst/>
          </a:prstGeom>
          <a:solidFill>
            <a:srgbClr val="26323E"/>
          </a:solidFill>
          <a:ln w="0">
            <a:noFill/>
            <a:prstDash val="solid"/>
          </a:ln>
        </p:spPr>
      </p:sp>
      <p:sp>
        <p:nvSpPr>
          <p:cNvPr id="35" name="closing-question-index-5"/>
          <p:cNvSpPr>
            <a:spLocks noGrp="1"/>
          </p:cNvSpPr>
          <p:nvPr/>
        </p:nvSpPr>
        <p:spPr>
          <a:xfrm>
            <a:off x="5143500" y="4953000"/>
            <a:ext cx="552450" cy="2857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 b="1">
                <a:solidFill>
                  <a:srgbClr val="4ADE8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t>05</a:t>
            </a:r>
          </a:p>
        </p:txBody>
      </p:sp>
      <p:sp>
        <p:nvSpPr>
          <p:cNvPr id="36" name="closing-question-title-5"/>
          <p:cNvSpPr>
            <a:spLocks noGrp="1"/>
          </p:cNvSpPr>
          <p:nvPr/>
        </p:nvSpPr>
        <p:spPr>
          <a:xfrm>
            <a:off x="5829300" y="4876800"/>
            <a:ext cx="5829300" cy="3048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800" b="1">
                <a:solidFill>
                  <a:srgbClr val="F4F7FB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如何证明真的改善？</a:t>
            </a:r>
          </a:p>
        </p:txBody>
      </p:sp>
      <p:sp>
        <p:nvSpPr>
          <p:cNvPr id="37" name="closing-question-detail-5"/>
          <p:cNvSpPr>
            <a:spLocks noGrp="1"/>
          </p:cNvSpPr>
          <p:nvPr/>
        </p:nvSpPr>
        <p:spPr>
          <a:xfrm>
            <a:off x="5829300" y="5200650"/>
            <a:ext cx="5829300" cy="2667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buNone/>
              <a:defRPr sz="1500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同负载复测用户与系统指标</a:t>
            </a:r>
          </a:p>
        </p:txBody>
      </p:sp>
      <p:sp>
        <p:nvSpPr>
          <p:cNvPr id="38" name="closing-question-end"/>
          <p:cNvSpPr>
            <a:spLocks noGrp="1"/>
          </p:cNvSpPr>
          <p:nvPr/>
        </p:nvSpPr>
        <p:spPr>
          <a:xfrm>
            <a:off x="5829300" y="55245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9" name="closing-quote-rule"/>
          <p:cNvSpPr>
            <a:spLocks noGrp="1"/>
          </p:cNvSpPr>
          <p:nvPr/>
        </p:nvSpPr>
        <p:spPr>
          <a:xfrm>
            <a:off x="533400" y="6019800"/>
            <a:ext cx="11125200" cy="9525"/>
          </a:xfrm>
          <a:prstGeom prst="rect">
            <a:avLst/>
          </a:prstGeom>
          <a:solidFill>
            <a:srgbClr val="244236"/>
          </a:solidFill>
          <a:ln w="0">
            <a:noFill/>
            <a:prstDash val="solid"/>
          </a:ln>
        </p:spPr>
      </p:sp>
      <p:sp>
        <p:nvSpPr>
          <p:cNvPr id="40" name="closing-quote"/>
          <p:cNvSpPr>
            <a:spLocks noGrp="1"/>
          </p:cNvSpPr>
          <p:nvPr/>
        </p:nvSpPr>
        <p:spPr>
          <a:xfrm>
            <a:off x="533400" y="6191250"/>
            <a:ext cx="11125200" cy="361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>
              <a:buNone/>
              <a:defRPr sz="1950" b="1">
                <a:solidFill>
                  <a:srgbClr val="B7F5CE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defRPr>
            </a:pPr>
            <a:r>
              <a:t>AI 可以帮你找命令；你要决定问什么、信什么，以及怎样证明它有效。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3014</Words>
  <Application>WPS 演示</Application>
  <PresentationFormat>Converted Presentation</PresentationFormat>
  <Paragraphs>656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宋体</vt:lpstr>
      <vt:lpstr>Wingdings</vt:lpstr>
      <vt:lpstr>PingFang SC</vt:lpstr>
      <vt:lpstr>Helvetica Neue</vt:lpstr>
      <vt:lpstr>Menlo</vt:lpstr>
      <vt:lpstr>微软雅黑</vt:lpstr>
      <vt:lpstr>方正雅意黑 GB18030L2</vt:lpstr>
      <vt:lpstr>宋体</vt:lpstr>
      <vt:lpstr>Arial Unicode MS</vt:lpstr>
      <vt:lpstr>汉仪书宋二KW</vt:lpstr>
      <vt:lpstr>Calibri</vt:lpstr>
      <vt:lpstr>Helvetica Neue</vt:lpstr>
      <vt:lpstr>Menlo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曾宏</cp:lastModifiedBy>
  <cp:revision>1</cp:revision>
  <dcterms:created xsi:type="dcterms:W3CDTF">2026-08-17T01:04:53Z</dcterms:created>
  <dcterms:modified xsi:type="dcterms:W3CDTF">2026-08-17T01:04:53Z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C6B23E37ACA2F1BE355E826AEEB0B82C_42</vt:lpwstr>
  </property>
  <property fmtid="{D5CDD505-2E9C-101B-9397-08002B2CF9AE}" pid="3" name="KSOProductBuildVer">
    <vt:lpwstr>2052-12.1.26046.26046</vt:lpwstr>
  </property>
</Properties>
</file>