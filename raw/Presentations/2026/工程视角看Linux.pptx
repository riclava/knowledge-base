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ca109423e248f8" /><Relationship Type="http://schemas.openxmlformats.org/officeDocument/2006/relationships/extended-properties" Target="/docProps/app.xml" Id="R48222944a8a24b48" /><Relationship Type="http://schemas.openxmlformats.org/officeDocument/2006/relationships/officeDocument" Target="/ppt/presentation.xml" Id="Rb8b9059ca217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a355eee1c4430"/>
  </p:sldMasterIdLst>
  <p:notesMasterIdLst>
    <p:notesMasterId xmlns:r="http://schemas.openxmlformats.org/officeDocument/2006/relationships" r:id="Rf91ca73e4e8e48dc"/>
  </p:notesMasterIdLst>
  <p:sldIdLst>
    <p:sldId xmlns:r="http://schemas.openxmlformats.org/officeDocument/2006/relationships" id="256" r:id="R96ec7b89a8b24ef5"/>
    <p:sldId xmlns:r="http://schemas.openxmlformats.org/officeDocument/2006/relationships" id="257" r:id="Rdb5f7dd78e1743db"/>
    <p:sldId xmlns:r="http://schemas.openxmlformats.org/officeDocument/2006/relationships" id="258" r:id="R291101545df347fa"/>
    <p:sldId xmlns:r="http://schemas.openxmlformats.org/officeDocument/2006/relationships" id="259" r:id="Red1fe2dcc171482e"/>
    <p:sldId xmlns:r="http://schemas.openxmlformats.org/officeDocument/2006/relationships" id="260" r:id="R227ef2885f854be1"/>
    <p:sldId xmlns:r="http://schemas.openxmlformats.org/officeDocument/2006/relationships" id="261" r:id="R47b44e220997440e"/>
    <p:sldId xmlns:r="http://schemas.openxmlformats.org/officeDocument/2006/relationships" id="262" r:id="R98bd240c25f44563"/>
    <p:sldId xmlns:r="http://schemas.openxmlformats.org/officeDocument/2006/relationships" id="263" r:id="Rfe1c9d06ce3c4dc9"/>
    <p:sldId xmlns:r="http://schemas.openxmlformats.org/officeDocument/2006/relationships" id="264" r:id="R3261aa11a0784f91"/>
    <p:sldId xmlns:r="http://schemas.openxmlformats.org/officeDocument/2006/relationships" id="265" r:id="R1bc0ae546bc847bf"/>
    <p:sldId xmlns:r="http://schemas.openxmlformats.org/officeDocument/2006/relationships" id="266" r:id="R2c1b7deeec9f4077"/>
    <p:sldId xmlns:r="http://schemas.openxmlformats.org/officeDocument/2006/relationships" id="267" r:id="Rebd486855c35437b"/>
    <p:sldId xmlns:r="http://schemas.openxmlformats.org/officeDocument/2006/relationships" id="268" r:id="R304d109b1972454b"/>
    <p:sldId xmlns:r="http://schemas.openxmlformats.org/officeDocument/2006/relationships" id="269" r:id="R74df0777b7134849"/>
    <p:sldId xmlns:r="http://schemas.openxmlformats.org/officeDocument/2006/relationships" id="270" r:id="Rae15fccc35b14ba0"/>
    <p:sldId xmlns:r="http://schemas.openxmlformats.org/officeDocument/2006/relationships" id="271" r:id="Rd7c81334589c43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696b4c38a446f" /><Relationship Type="http://schemas.openxmlformats.org/officeDocument/2006/relationships/slideMaster" Target="/ppt/slideMasters/slideMaster1.xml" Id="R0eea355eee1c4430" /><Relationship Type="http://schemas.openxmlformats.org/officeDocument/2006/relationships/notesMaster" Target="/ppt/notesMasters/notesMaster1.xml" Id="Rf91ca73e4e8e48dc" /><Relationship Type="http://schemas.openxmlformats.org/officeDocument/2006/relationships/presProps" Target="/ppt/presProps.xml" Id="Rc21fe8a44a5b4941" /><Relationship Type="http://schemas.openxmlformats.org/officeDocument/2006/relationships/tableStyles" Target="/ppt/tableStyles.xml" Id="R7492ecda7d29475d" /><Relationship Type="http://schemas.openxmlformats.org/officeDocument/2006/relationships/slide" Target="/ppt/slides/slide1.xml" Id="R96ec7b89a8b24ef5" /><Relationship Type="http://schemas.openxmlformats.org/officeDocument/2006/relationships/slide" Target="/ppt/slides/slide2.xml" Id="Rdb5f7dd78e1743db" /><Relationship Type="http://schemas.openxmlformats.org/officeDocument/2006/relationships/slide" Target="/ppt/slides/slide3.xml" Id="R291101545df347fa" /><Relationship Type="http://schemas.openxmlformats.org/officeDocument/2006/relationships/slide" Target="/ppt/slides/slide4.xml" Id="Red1fe2dcc171482e" /><Relationship Type="http://schemas.openxmlformats.org/officeDocument/2006/relationships/slide" Target="/ppt/slides/slide5.xml" Id="R227ef2885f854be1" /><Relationship Type="http://schemas.openxmlformats.org/officeDocument/2006/relationships/slide" Target="/ppt/slides/slide6.xml" Id="R47b44e220997440e" /><Relationship Type="http://schemas.openxmlformats.org/officeDocument/2006/relationships/slide" Target="/ppt/slides/slide7.xml" Id="R98bd240c25f44563" /><Relationship Type="http://schemas.openxmlformats.org/officeDocument/2006/relationships/slide" Target="/ppt/slides/slide8.xml" Id="Rfe1c9d06ce3c4dc9" /><Relationship Type="http://schemas.openxmlformats.org/officeDocument/2006/relationships/slide" Target="/ppt/slides/slide9.xml" Id="R3261aa11a0784f91" /><Relationship Type="http://schemas.openxmlformats.org/officeDocument/2006/relationships/slide" Target="/ppt/slides/slide10.xml" Id="R1bc0ae546bc847bf" /><Relationship Type="http://schemas.openxmlformats.org/officeDocument/2006/relationships/slide" Target="/ppt/slides/slide11.xml" Id="R2c1b7deeec9f4077" /><Relationship Type="http://schemas.openxmlformats.org/officeDocument/2006/relationships/slide" Target="/ppt/slides/slide12.xml" Id="Rebd486855c35437b" /><Relationship Type="http://schemas.openxmlformats.org/officeDocument/2006/relationships/slide" Target="/ppt/slides/slide13.xml" Id="R304d109b1972454b" /><Relationship Type="http://schemas.openxmlformats.org/officeDocument/2006/relationships/slide" Target="/ppt/slides/slide14.xml" Id="R74df0777b7134849" /><Relationship Type="http://schemas.openxmlformats.org/officeDocument/2006/relationships/slide" Target="/ppt/slides/slide15.xml" Id="Rae15fccc35b14ba0" /><Relationship Type="http://schemas.openxmlformats.org/officeDocument/2006/relationships/slide" Target="/ppt/slides/slide16.xml" Id="Rd7c81334589c43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8cb44a8c7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427a946dd414f" /><Relationship Type="http://schemas.openxmlformats.org/officeDocument/2006/relationships/notesMaster" Target="/ppt/notesMasters/notesMaster1.xml" Id="R2c01de3683e6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d2750e2244abe" /><Relationship Type="http://schemas.openxmlformats.org/officeDocument/2006/relationships/notesMaster" Target="/ppt/notesMasters/notesMaster1.xml" Id="R827d10725f0b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04e77343234afc" /><Relationship Type="http://schemas.openxmlformats.org/officeDocument/2006/relationships/notesMaster" Target="/ppt/notesMasters/notesMaster1.xml" Id="R5a3b38a2e870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a9792855c4b36" /><Relationship Type="http://schemas.openxmlformats.org/officeDocument/2006/relationships/notesMaster" Target="/ppt/notesMasters/notesMaster1.xml" Id="R79f773ddb1c345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303bdfcc46446b" /><Relationship Type="http://schemas.openxmlformats.org/officeDocument/2006/relationships/notesMaster" Target="/ppt/notesMasters/notesMaster1.xml" Id="R82197dd72ff5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a70aca4684401f" /><Relationship Type="http://schemas.openxmlformats.org/officeDocument/2006/relationships/notesMaster" Target="/ppt/notesMasters/notesMaster1.xml" Id="R932700502e39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f0b4a5bb444401" /><Relationship Type="http://schemas.openxmlformats.org/officeDocument/2006/relationships/notesMaster" Target="/ppt/notesMasters/notesMaster1.xml" Id="R08b9803b16b844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a0a0d4dee143b7" /><Relationship Type="http://schemas.openxmlformats.org/officeDocument/2006/relationships/notesMaster" Target="/ppt/notesMasters/notesMaster1.xml" Id="R5fc5f2c657d041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b244307714de2" /><Relationship Type="http://schemas.openxmlformats.org/officeDocument/2006/relationships/notesMaster" Target="/ppt/notesMasters/notesMaster1.xml" Id="R68ee8ac3158a4a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0dd33ac85e4f2e" /><Relationship Type="http://schemas.openxmlformats.org/officeDocument/2006/relationships/notesMaster" Target="/ppt/notesMasters/notesMaster1.xml" Id="R808b00edd5a3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3529bd4d1747c6" /><Relationship Type="http://schemas.openxmlformats.org/officeDocument/2006/relationships/notesMaster" Target="/ppt/notesMasters/notesMaster1.xml" Id="R916cdfc0c89340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ca47775d524d32" /><Relationship Type="http://schemas.openxmlformats.org/officeDocument/2006/relationships/notesMaster" Target="/ppt/notesMasters/notesMaster1.xml" Id="R99adaa7f5f2e41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128819d2e04fbe" /><Relationship Type="http://schemas.openxmlformats.org/officeDocument/2006/relationships/notesMaster" Target="/ppt/notesMasters/notesMaster1.xml" Id="Rb43333109b1143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a285990be847ee" /><Relationship Type="http://schemas.openxmlformats.org/officeDocument/2006/relationships/notesMaster" Target="/ppt/notesMasters/notesMaster1.xml" Id="R3af1679ed28e40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ef0acf13554fa8" /><Relationship Type="http://schemas.openxmlformats.org/officeDocument/2006/relationships/notesMaster" Target="/ppt/notesMasters/notesMaster1.xml" Id="R3a1301c3b7dd40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e185900f0e4eb9" /><Relationship Type="http://schemas.openxmlformats.org/officeDocument/2006/relationships/notesMaster" Target="/ppt/notesMasters/notesMaster1.xml" Id="Rb913a3013acf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今天不做命令速查，也不追求把 Linux 的每个子系统讲一遍。课程只解决一个问题：遇到模糊故障时，怎样判断下一步最值得查什么。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过渡：先用一个看似矛盾的现象开始——CPU 只有 42%，服务却很慢。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01 页，用户提供）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请学生先选择一个动作，并说明这个动作想确认什么。保留两到三种不同答案，不判断对错。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继续追问：哪些数字直接说明用户真的感到变慢？CPU 只有 42%，能不能排除系统压力？什么观察结果会让你改变刚才的判断？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讲述重点：重启、扩容、看日志、执行 top 和检查网络都不是中性的动作，它们背后隐含着对问题位置和原因的判断。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02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让学生把“接口变慢”放到路径最上方，然后问：从用户现象到硬件资源，中间哪些节点能够留下证据？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这张图不是 Linux 架构全景，而是一张调查导航图。下一页把这条通用路径落到案例项目。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讲述重点：命令的价值在于暴露某个节点的对象或状态。观察运行问题时，持续追问对象、状态和边界。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03 页，用户提供）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把上一页的通用运行路径落到本课程的案例项目：在线请求经过接入层和在线服务，后台任务由定时任务启动；两条路径都会留下进程、Socket、FD、文件与资源证据。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这一页只建立中性的项目地图，不提前指出故障位置。后面的存储案例沿下方路径逐步收敛，端口迁移题沿上方路径定位监听 Socket。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讲述重点：逻辑架构帮助我们知道有哪些责任对象；Linux 运行时证据帮助我们判断对象此刻处于什么状态。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/Users/ricl/github.com/riclava/knowledge-base/raw/Presentations/2026/工程视角看Linux.md（综合第 03、12、14 页，用户提供）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回到项目地图，给出“CPU 高”“磁盘慢”“端口占用”三个现象，让学生回答：最终是否都需要落到具体进程或服务？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进程把运行现象和责任对象连接起来。一个进程同时拥有身份、父子关系、地址空间、FD 与网络连接，以及当前状态。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这里不要求学生背进程状态码，只要求知道：状态描述进程此刻能否继续推进，以及它可能在等待什么。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04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现场运行两个短命令。让学生先预测标准输出、标准错误和终端分别会对应哪些 FD，再观察结果。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应用日志解释业务语义；FD 和系统调用解释进程正在操作什么、在哪里等待。不要把 strace 讲成万能工具，生产环境还要考虑附加开销和观察范围。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05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问学生：如果程序可以启动，但只能使用 root、日志写在临时目录、收到停止命令就丢请求，它是否已经可以交付？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systemd 为进程补充运行契约。最小权限限制故障与攻击半径；优雅退出让部署、重启和恢复可控。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06 页，用户提供）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让学生把“系统很卡”“内存不够”“网络不好”分别改写成包含对象、范围、时间和指标的问题。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先确认用户侧症状，再解释资源侧原因。如果没有可比较的用户指标，后面的优化就没有验收标准。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07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把“增加 CPU”作为建议抛给学生：如果真正增加的是 I/O 等待，这个动作为什么可能没有效果？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这一页只建立统一模型，不分别展开 CPU、存储、内存和网络指标。后续用存储 I/O 案例把模型走通。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08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先只展示“8 核、Load 15”，请学生投票 CPU 是否一定满载；再逐行揭示三组联合现象。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Linux Load Average 反映可运行任务和不可中断睡眠任务数量的变化。它不是百分比，也不会自动按 CPU 数归一化。单个指标不负责证明根因。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09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先给数据，不给答案颜色。让学生把‘用户影响’和‘系统现象’分成两组：延迟、吞吐量、错误率直接描述服务结果；CPU 和 Load 描述运行环境。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关键追问：CPU 只有 42%，为什么服务仍然变慢？下一轮证据要回答任务在等待什么，而不是继续堆指标。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10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逐项加入新证据，强调网络侧没有同步恶化也是证据，它帮助我们缩小调查范围。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此时只能形成‘存储路径值得验证’的工作假设，不能把相关性写成唯一根因。下一步要从资源返回到对象和主体：谁在写、写到哪里。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11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证据包括四个维度：pidstat 识别 backup-worker 的顺序写；/proc/2718/fd 指向 /data/backup/full.tar；任务比异常早两分钟启动；应用数据和备份共用存储路径。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把证据写成可证伪的解释，再做最小验证：暂停备份、保持同样负载、观察结果。暂停必须可恢复，并提前确认业务风险。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12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复测要求与基线尽量同条件，只改变一个变量。用户指标和系统指标同步改善，才形成更强的因果证据。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结论应写到证据能够支持的位置：共享存储竞争已有强证据。永久方案仍需评估备份调度、I/O 限额、独立存储或数据路径隔离，并保留回退路径。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13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先只展示现场，请学生回答第一条命令。Connection refused 通常意味着目标主动拒绝连接，第一步应确认监听 Socket，而不是先查应用协议。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揭示 ss 结果：服务只监听 127.0.0.1:8080。ping 正常只能说明部分网络可达；进程存在不等于监听存在，监听存在也不等于协议正常。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14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用左侧运行时地图回扣全课：从用户影响出发，经由进程和对象进入内核资源，再沿证据链返回可控动作。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收束到五个判断。工具和 AI 可以快速给出命令，但工程师负责定义问题、判断证据强度、控制动作风险，并用复测证明改善。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/Users/ricl/github.com/riclava/knowledge-base/raw/Presentations/2026/工程视角看Linux.md（第 15 页，用户提供）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https://linux.holdon.work/#chapter-57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be9ecbc08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e7297b71f545ac" /><Relationship Type="http://schemas.openxmlformats.org/officeDocument/2006/relationships/slideLayout" Target="/ppt/slideLayouts/slideLayout1.xml" Id="R0ab8d1bd0aa0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8d1bd0aa0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1d9d121f4116" /><Relationship Type="http://schemas.openxmlformats.org/officeDocument/2006/relationships/notesSlide" Target="/ppt/notesSlides/notesSlide1.xml" Id="Radac171d5ca94a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da2a48244448" /><Relationship Type="http://schemas.openxmlformats.org/officeDocument/2006/relationships/notesSlide" Target="/ppt/notesSlides/notesSlide2.xml" Id="Rf22d0d766d45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93a83d9484406" /><Relationship Type="http://schemas.openxmlformats.org/officeDocument/2006/relationships/notesSlide" Target="/ppt/notesSlides/notesSlide3.xml" Id="Rf9f4d862321a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a0c3e0d3d4b96" /><Relationship Type="http://schemas.openxmlformats.org/officeDocument/2006/relationships/notesSlide" Target="/ppt/notesSlides/notesSlide4.xml" Id="R4b1644d2dcbb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832a141bb4840" /><Relationship Type="http://schemas.openxmlformats.org/officeDocument/2006/relationships/notesSlide" Target="/ppt/notesSlides/notesSlide5.xml" Id="R5d37cac970a84a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6e06e9cd14607" /><Relationship Type="http://schemas.openxmlformats.org/officeDocument/2006/relationships/notesSlide" Target="/ppt/notesSlides/notesSlide6.xml" Id="R72370d9c9210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027309b614ed0" /><Relationship Type="http://schemas.openxmlformats.org/officeDocument/2006/relationships/notesSlide" Target="/ppt/notesSlides/notesSlide7.xml" Id="R603275e7400049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02bb66e674157" /><Relationship Type="http://schemas.openxmlformats.org/officeDocument/2006/relationships/notesSlide" Target="/ppt/notesSlides/notesSlide8.xml" Id="R258af036bb2949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09933959a43d6" /><Relationship Type="http://schemas.openxmlformats.org/officeDocument/2006/relationships/notesSlide" Target="/ppt/notesSlides/notesSlide9.xml" Id="R8ccd5a591ae547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69aadf1b84e93" /><Relationship Type="http://schemas.openxmlformats.org/officeDocument/2006/relationships/notesSlide" Target="/ppt/notesSlides/notesSlide10.xml" Id="R523bf523a16348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50b8cbfb64e1f" /><Relationship Type="http://schemas.openxmlformats.org/officeDocument/2006/relationships/notesSlide" Target="/ppt/notesSlides/notesSlide11.xml" Id="R22203739c18a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c0a6a51b74dcd" /><Relationship Type="http://schemas.openxmlformats.org/officeDocument/2006/relationships/notesSlide" Target="/ppt/notesSlides/notesSlide12.xml" Id="R501dd7f022a245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315b165c0408d" /><Relationship Type="http://schemas.openxmlformats.org/officeDocument/2006/relationships/notesSlide" Target="/ppt/notesSlides/notesSlide13.xml" Id="R035e23bfeecb46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261456e7b491d" /><Relationship Type="http://schemas.openxmlformats.org/officeDocument/2006/relationships/notesSlide" Target="/ppt/notesSlides/notesSlide14.xml" Id="R818896ba734f44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53c7d6e6342db" /><Relationship Type="http://schemas.openxmlformats.org/officeDocument/2006/relationships/notesSlide" Target="/ppt/notesSlides/notesSlide15.xml" Id="R42099102cd664d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0a06e276042eb" /><Relationship Type="http://schemas.openxmlformats.org/officeDocument/2006/relationships/notesSlide" Target="/ppt/notesSlides/notesSlide16.xml" Id="Re6e73b7dfb16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untime-path-connector">
            <a:extLst xmlns:a="http://schemas.openxmlformats.org/drawingml/2006/main">
              <a:ext uri="{FF2B5EF4-FFF2-40B4-BE49-F238E27FC236}">
                <a16:creationId xmlns:a16="http://schemas.microsoft.com/office/drawing/2014/main" id="{DB927099-3E9D-4745-B388-28E57A4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09600"/>
            <a:ext cx="3209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ntime-path-app-node">
            <a:extLst xmlns:a="http://schemas.openxmlformats.org/drawingml/2006/main">
              <a:ext uri="{FF2B5EF4-FFF2-40B4-BE49-F238E27FC236}">
                <a16:creationId xmlns:a16="http://schemas.microsoft.com/office/drawing/2014/main" id="{53501BDA-D6BB-4D9F-AFED-07B1D63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29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3" name="runtime-path-kernel-node">
            <a:extLst xmlns:a="http://schemas.openxmlformats.org/drawingml/2006/main">
              <a:ext uri="{FF2B5EF4-FFF2-40B4-BE49-F238E27FC236}">
                <a16:creationId xmlns:a16="http://schemas.microsoft.com/office/drawing/2014/main" id="{28332BD6-3E83-4D07-9276-73E242B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4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A7F3C3"/>
            </a:solidFill>
            <a:prstDash val="solid"/>
          </a:ln>
        </p:spPr>
      </p:sp>
      <p:sp>
        <p:nvSpPr>
          <p:cNvPr id="4" name="runtime-path-hardware-node">
            <a:extLst xmlns:a="http://schemas.openxmlformats.org/drawingml/2006/main">
              <a:ext uri="{FF2B5EF4-FFF2-40B4-BE49-F238E27FC236}">
                <a16:creationId xmlns:a16="http://schemas.microsoft.com/office/drawing/2014/main" id="{4EA3373C-EA28-4B38-A60E-7AAA43B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14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29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5" name="runtime-path-app-label">
            <a:extLst xmlns:a="http://schemas.openxmlformats.org/drawingml/2006/main">
              <a:ext uri="{FF2B5EF4-FFF2-40B4-BE49-F238E27FC236}">
                <a16:creationId xmlns:a16="http://schemas.microsoft.com/office/drawing/2014/main" id="{114D51F9-4884-4367-9663-F508A029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693A1"/>
                </a:solidFill>
                <a:latin typeface="PingFang SC"/>
                <a:ea typeface="PingFang SC"/>
                <a:cs typeface="PingFang SC"/>
              </a:defRPr>
            </a:pPr>
            <a:r>
              <a:t>应用</a:t>
            </a:r>
          </a:p>
        </p:txBody>
      </p:sp>
      <p:sp>
        <p:nvSpPr>
          <p:cNvPr id="6" name="runtime-path-kernel-label">
            <a:extLst xmlns:a="http://schemas.openxmlformats.org/drawingml/2006/main">
              <a:ext uri="{FF2B5EF4-FFF2-40B4-BE49-F238E27FC236}">
                <a16:creationId xmlns:a16="http://schemas.microsoft.com/office/drawing/2014/main" id="{B0C248ED-A4F2-4BE1-B6DD-69ED8B55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001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Linux 内核</a:t>
            </a:r>
          </a:p>
        </p:txBody>
      </p:sp>
      <p:sp>
        <p:nvSpPr>
          <p:cNvPr id="7" name="runtime-path-hardware-label">
            <a:extLst xmlns:a="http://schemas.openxmlformats.org/drawingml/2006/main">
              <a:ext uri="{FF2B5EF4-FFF2-40B4-BE49-F238E27FC236}">
                <a16:creationId xmlns:a16="http://schemas.microsoft.com/office/drawing/2014/main" id="{7DA64629-B67C-4EA1-8FCE-A0572D68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80010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693A1"/>
                </a:solidFill>
                <a:latin typeface="PingFang SC"/>
                <a:ea typeface="PingFang SC"/>
                <a:cs typeface="PingFang SC"/>
              </a:defRPr>
            </a:pPr>
            <a:r>
              <a:t>硬件</a:t>
            </a:r>
          </a:p>
        </p:txBody>
      </p:sp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0421FEA-B54C-4AAD-8B99-29D113C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E29B"/>
                </a:solidFill>
                <a:latin typeface="PingFang SC"/>
                <a:ea typeface="PingFang SC"/>
                <a:cs typeface="PingFang SC"/>
              </a:defRPr>
            </a:pPr>
            <a:r>
              <a:t>系统化排障入门 · 60 分钟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8092BF-EC59-423C-809B-5100AC1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工程视角看 </a:t>
            </a:r>
            <a:r>
              <a:rPr sz="60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Linux</a:t>
            </a:r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C1160B-2D78-4124-BD6D-2437FED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6286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4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看懂系统在做什么，知道下一步该查什么</a:t>
            </a:r>
            <a:r>
              <a:rPr sz="1800">
                <a:solidFill>
                  <a:srgbClr val="8995A3"/>
                </a:solidFill>
                <a:latin typeface="PingFang SC"/>
                <a:ea typeface="PingFang SC"/>
                <a:cs typeface="PingFang SC"/>
              </a:rPr>
              <a:t>
主讲人：曾宏</a:t>
            </a:r>
          </a:p>
        </p:txBody>
      </p:sp>
    </p:spTree>
    <p:extLst>
      <p:ext uri="{BB962C8B-B14F-4D97-AF65-F5344CB8AC3E}">
        <p14:creationId xmlns:p14="http://schemas.microsoft.com/office/powerpoint/2010/main" val="185996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vidence-surface">
            <a:extLst xmlns:a="http://schemas.openxmlformats.org/drawingml/2006/main">
              <a:ext uri="{FF2B5EF4-FFF2-40B4-BE49-F238E27FC236}">
                <a16:creationId xmlns:a16="http://schemas.microsoft.com/office/drawing/2014/main" id="{BE4E2A59-3AC9-4015-BFFD-E87670B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191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B4690270-44FC-4521-97E1-2B146F5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7A7212A2-A813-490D-80AB-F86EF630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0FDA1EE-12EC-4E84-8874-747C1CC1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tion-rule-1">
            <a:extLst xmlns:a="http://schemas.openxmlformats.org/drawingml/2006/main">
              <a:ext uri="{FF2B5EF4-FFF2-40B4-BE49-F238E27FC236}">
                <a16:creationId xmlns:a16="http://schemas.microsoft.com/office/drawing/2014/main" id="{F34DFB4B-D209-44AF-9854-B3A8F9A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52725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ption-rule-2">
            <a:extLst xmlns:a="http://schemas.openxmlformats.org/drawingml/2006/main">
              <a:ext uri="{FF2B5EF4-FFF2-40B4-BE49-F238E27FC236}">
                <a16:creationId xmlns:a16="http://schemas.microsoft.com/office/drawing/2014/main" id="{E05A42CD-38E3-4319-8B3A-074759C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528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ption-rule-3">
            <a:extLst xmlns:a="http://schemas.openxmlformats.org/drawingml/2006/main">
              <a:ext uri="{FF2B5EF4-FFF2-40B4-BE49-F238E27FC236}">
                <a16:creationId xmlns:a16="http://schemas.microsoft.com/office/drawing/2014/main" id="{91120417-6649-4497-87A8-D4FAF279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52875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tion-rule-4">
            <a:extLst xmlns:a="http://schemas.openxmlformats.org/drawingml/2006/main">
              <a:ext uri="{FF2B5EF4-FFF2-40B4-BE49-F238E27FC236}">
                <a16:creationId xmlns:a16="http://schemas.microsoft.com/office/drawing/2014/main" id="{FE4D0D6B-450D-4DA6-BFB4-B4E4E42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882D640F-F14A-4763-B827-83AA0EE3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4832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02-title">
            <a:extLst xmlns:a="http://schemas.openxmlformats.org/drawingml/2006/main">
              <a:ext uri="{FF2B5EF4-FFF2-40B4-BE49-F238E27FC236}">
                <a16:creationId xmlns:a16="http://schemas.microsoft.com/office/drawing/2014/main" id="{31246FC2-B9B8-4943-AA12-6FB33B05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CPU 只有 </a:t>
            </a:r>
            <a:r>
              <a:rPr sz="39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42%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，服务为什么仍然很慢？</a:t>
            </a:r>
          </a:p>
        </p:txBody>
      </p:sp>
      <p:sp>
        <p:nvSpPr>
          <p:cNvPr id="11" name="evidence-eyebrow">
            <a:extLst xmlns:a="http://schemas.openxmlformats.org/drawingml/2006/main">
              <a:ext uri="{FF2B5EF4-FFF2-40B4-BE49-F238E27FC236}">
                <a16:creationId xmlns:a16="http://schemas.microsoft.com/office/drawing/2014/main" id="{DA5CBFED-C642-4836-8E7E-EE5346B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E29B"/>
                </a:solidFill>
                <a:latin typeface="PingFang SC"/>
                <a:ea typeface="PingFang SC"/>
                <a:cs typeface="PingFang SC"/>
              </a:defRPr>
            </a:pPr>
            <a:r>
              <a:t>课堂模拟数据  ｜  8 核机器</a:t>
            </a:r>
          </a:p>
        </p:txBody>
      </p:sp>
      <p:sp>
        <p:nvSpPr>
          <p:cNvPr id="12" name="p95-label">
            <a:extLst xmlns:a="http://schemas.openxmlformats.org/drawingml/2006/main">
              <a:ext uri="{FF2B5EF4-FFF2-40B4-BE49-F238E27FC236}">
                <a16:creationId xmlns:a16="http://schemas.microsoft.com/office/drawing/2014/main" id="{4C4AF760-1CC8-4087-9F6D-8BAF2FF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接口 p95 延迟</a:t>
            </a:r>
          </a:p>
        </p:txBody>
      </p:sp>
      <p:sp>
        <p:nvSpPr>
          <p:cNvPr id="13" name="p95-value">
            <a:extLst xmlns:a="http://schemas.openxmlformats.org/drawingml/2006/main">
              <a:ext uri="{FF2B5EF4-FFF2-40B4-BE49-F238E27FC236}">
                <a16:creationId xmlns:a16="http://schemas.microsoft.com/office/drawing/2014/main" id="{0E6A3F8D-6B56-455E-8CDF-CC3FD196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D5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5DCE5"/>
                </a:solidFill>
                <a:latin typeface="Helvetica Neue"/>
                <a:ea typeface="Helvetica Neue"/>
                <a:cs typeface="Helvetica Neue"/>
              </a:rPr>
              <a:t>80 ms</a:t>
            </a:r>
            <a:r>
              <a:rPr sz="2700">
                <a:solidFill>
                  <a:srgbClr val="66717E"/>
                </a:solidFill>
                <a:latin typeface="Helvetica Neue"/>
                <a:ea typeface="Helvetica Neue"/>
                <a:cs typeface="Helvetica Neue"/>
              </a:rPr>
              <a:t>  →  </a:t>
            </a:r>
            <a:r>
              <a:rPr sz="375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rPr>
              <a:t>900 ms</a:t>
            </a:r>
          </a:p>
        </p:txBody>
      </p:sp>
      <p:sp>
        <p:nvSpPr>
          <p:cNvPr id="14" name="throughput-label">
            <a:extLst xmlns:a="http://schemas.openxmlformats.org/drawingml/2006/main">
              <a:ext uri="{FF2B5EF4-FFF2-40B4-BE49-F238E27FC236}">
                <a16:creationId xmlns:a16="http://schemas.microsoft.com/office/drawing/2014/main" id="{40EB1267-4856-4CE1-9212-E5B5C0AF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吞吐量</a:t>
            </a:r>
          </a:p>
        </p:txBody>
      </p:sp>
      <p:sp>
        <p:nvSpPr>
          <p:cNvPr id="15" name="throughput-value">
            <a:extLst xmlns:a="http://schemas.openxmlformats.org/drawingml/2006/main">
              <a:ext uri="{FF2B5EF4-FFF2-40B4-BE49-F238E27FC236}">
                <a16:creationId xmlns:a16="http://schemas.microsoft.com/office/drawing/2014/main" id="{191A078D-2B25-44E5-8F90-9622C6A3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下降 35%</a:t>
            </a:r>
          </a:p>
        </p:txBody>
      </p:sp>
      <p:sp>
        <p:nvSpPr>
          <p:cNvPr id="16" name="cpu-label">
            <a:extLst xmlns:a="http://schemas.openxmlformats.org/drawingml/2006/main">
              <a:ext uri="{FF2B5EF4-FFF2-40B4-BE49-F238E27FC236}">
                <a16:creationId xmlns:a16="http://schemas.microsoft.com/office/drawing/2014/main" id="{13151F84-BE54-4C5F-8690-20F6DAF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CPU  user + system</a:t>
            </a:r>
          </a:p>
        </p:txBody>
      </p:sp>
      <p:sp>
        <p:nvSpPr>
          <p:cNvPr id="17" name="cpu-value">
            <a:extLst xmlns:a="http://schemas.openxmlformats.org/drawingml/2006/main">
              <a:ext uri="{FF2B5EF4-FFF2-40B4-BE49-F238E27FC236}">
                <a16:creationId xmlns:a16="http://schemas.microsoft.com/office/drawing/2014/main" id="{1E5641C8-AB8C-4E49-9D0A-C099866C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42%</a:t>
            </a:r>
          </a:p>
        </p:txBody>
      </p:sp>
      <p:sp>
        <p:nvSpPr>
          <p:cNvPr id="18" name="load-label">
            <a:extLst xmlns:a="http://schemas.openxmlformats.org/drawingml/2006/main">
              <a:ext uri="{FF2B5EF4-FFF2-40B4-BE49-F238E27FC236}">
                <a16:creationId xmlns:a16="http://schemas.microsoft.com/office/drawing/2014/main" id="{8B11C9B1-1008-4928-A437-24B6F3C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2912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Load Average</a:t>
            </a:r>
          </a:p>
        </p:txBody>
      </p:sp>
      <p:sp>
        <p:nvSpPr>
          <p:cNvPr id="19" name="load-value">
            <a:extLst xmlns:a="http://schemas.openxmlformats.org/drawingml/2006/main">
              <a:ext uri="{FF2B5EF4-FFF2-40B4-BE49-F238E27FC236}">
                <a16:creationId xmlns:a16="http://schemas.microsoft.com/office/drawing/2014/main" id="{167F4F56-B4A9-4B7C-BBB7-B35EBF7C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95825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0" name="action-heading">
            <a:extLst xmlns:a="http://schemas.openxmlformats.org/drawingml/2006/main">
              <a:ext uri="{FF2B5EF4-FFF2-40B4-BE49-F238E27FC236}">
                <a16:creationId xmlns:a16="http://schemas.microsoft.com/office/drawing/2014/main" id="{441C5B8D-8AA2-4EA5-AD55-7DDA417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28775"/>
            <a:ext cx="436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你准备先做什么？</a:t>
            </a:r>
          </a:p>
        </p:txBody>
      </p:sp>
      <p:sp>
        <p:nvSpPr>
          <p:cNvPr id="21" name="action-a">
            <a:extLst xmlns:a="http://schemas.openxmlformats.org/drawingml/2006/main">
              <a:ext uri="{FF2B5EF4-FFF2-40B4-BE49-F238E27FC236}">
                <a16:creationId xmlns:a16="http://schemas.microsoft.com/office/drawing/2014/main" id="{D277A269-22DF-4179-9DA9-54F6CC9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19325"/>
            <a:ext cx="436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A  </a:t>
            </a:r>
            <a:r>
              <a: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重启服务</a:t>
            </a:r>
          </a:p>
        </p:txBody>
      </p:sp>
      <p:sp>
        <p:nvSpPr>
          <p:cNvPr id="22" name="action-b">
            <a:extLst xmlns:a="http://schemas.openxmlformats.org/drawingml/2006/main">
              <a:ext uri="{FF2B5EF4-FFF2-40B4-BE49-F238E27FC236}">
                <a16:creationId xmlns:a16="http://schemas.microsoft.com/office/drawing/2014/main" id="{400D4D41-E4F6-493D-97AD-F85576CE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19400"/>
            <a:ext cx="436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B  </a:t>
            </a:r>
            <a:r>
              <a: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增加资源</a:t>
            </a:r>
          </a:p>
        </p:txBody>
      </p:sp>
      <p:sp>
        <p:nvSpPr>
          <p:cNvPr id="23" name="action-c">
            <a:extLst xmlns:a="http://schemas.openxmlformats.org/drawingml/2006/main">
              <a:ext uri="{FF2B5EF4-FFF2-40B4-BE49-F238E27FC236}">
                <a16:creationId xmlns:a16="http://schemas.microsoft.com/office/drawing/2014/main" id="{D67AAA87-1509-425E-BA75-ABD7CB2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19475"/>
            <a:ext cx="436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C  </a:t>
            </a:r>
            <a:r>
              <a: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查看日志</a:t>
            </a:r>
          </a:p>
        </p:txBody>
      </p:sp>
      <p:sp>
        <p:nvSpPr>
          <p:cNvPr id="24" name="action-d">
            <a:extLst xmlns:a="http://schemas.openxmlformats.org/drawingml/2006/main">
              <a:ext uri="{FF2B5EF4-FFF2-40B4-BE49-F238E27FC236}">
                <a16:creationId xmlns:a16="http://schemas.microsoft.com/office/drawing/2014/main" id="{DF518F5C-6ADC-4738-B741-49A904D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436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D  </a:t>
            </a:r>
            <a:r>
              <a: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执行 top</a:t>
            </a:r>
          </a:p>
        </p:txBody>
      </p:sp>
      <p:sp>
        <p:nvSpPr>
          <p:cNvPr id="25" name="action-e">
            <a:extLst xmlns:a="http://schemas.openxmlformats.org/drawingml/2006/main">
              <a:ext uri="{FF2B5EF4-FFF2-40B4-BE49-F238E27FC236}">
                <a16:creationId xmlns:a16="http://schemas.microsoft.com/office/drawing/2014/main" id="{1A0B676D-844E-4E10-96B3-179EFAE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9625"/>
            <a:ext cx="436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E  </a:t>
            </a:r>
            <a:r>
              <a:rPr sz="2100">
                <a:solidFill>
                  <a:srgbClr val="D5DCE5"/>
                </a:solidFill>
                <a:latin typeface="PingFang SC"/>
                <a:ea typeface="PingFang SC"/>
                <a:cs typeface="PingFang SC"/>
              </a:rPr>
              <a:t>检查网络</a:t>
            </a:r>
          </a:p>
        </p:txBody>
      </p:sp>
      <p:sp>
        <p:nvSpPr>
          <p:cNvPr id="26" name="reflection-prompt">
            <a:extLst xmlns:a="http://schemas.openxmlformats.org/drawingml/2006/main">
              <a:ext uri="{FF2B5EF4-FFF2-40B4-BE49-F238E27FC236}">
                <a16:creationId xmlns:a16="http://schemas.microsoft.com/office/drawing/2014/main" id="{84592317-27BB-4E16-9AB1-A9BBEA8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619750"/>
            <a:ext cx="4095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rPr>
              <a:t>先别找标准答案
</a:t>
            </a:r>
            <a:r>
              <a: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这个动作想确认什么？</a:t>
            </a:r>
          </a:p>
        </p:txBody>
      </p:sp>
    </p:spTree>
    <p:extLst>
      <p:ext uri="{BB962C8B-B14F-4D97-AF65-F5344CB8AC3E}">
        <p14:creationId xmlns:p14="http://schemas.microsoft.com/office/powerpoint/2010/main" val="1800690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untime-map-spine">
            <a:extLst xmlns:a="http://schemas.openxmlformats.org/drawingml/2006/main">
              <a:ext uri="{FF2B5EF4-FFF2-40B4-BE49-F238E27FC236}">
                <a16:creationId xmlns:a16="http://schemas.microsoft.com/office/drawing/2014/main" id="{9E8914C3-6FFF-428A-9ABC-402B8E7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145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stion-separator-1">
            <a:extLst xmlns:a="http://schemas.openxmlformats.org/drawingml/2006/main">
              <a:ext uri="{FF2B5EF4-FFF2-40B4-BE49-F238E27FC236}">
                <a16:creationId xmlns:a16="http://schemas.microsoft.com/office/drawing/2014/main" id="{C2F0DD25-99EF-4FED-BEF9-EA590862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separator-2">
            <a:extLst xmlns:a="http://schemas.openxmlformats.org/drawingml/2006/main">
              <a:ext uri="{FF2B5EF4-FFF2-40B4-BE49-F238E27FC236}">
                <a16:creationId xmlns:a16="http://schemas.microsoft.com/office/drawing/2014/main" id="{02EB2657-3E99-4EA4-B09D-D7AB41E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03-title">
            <a:extLst xmlns:a="http://schemas.openxmlformats.org/drawingml/2006/main">
              <a:ext uri="{FF2B5EF4-FFF2-40B4-BE49-F238E27FC236}">
                <a16:creationId xmlns:a16="http://schemas.microsoft.com/office/drawing/2014/main" id="{34DC0794-D682-417D-957B-955A2F1C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先跟 </a:t>
            </a: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一条请求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 走一遍 Linux</a:t>
            </a:r>
          </a:p>
        </p:txBody>
      </p:sp>
      <p:sp>
        <p:nvSpPr>
          <p:cNvPr id="5" name="runtime-map-heading">
            <a:extLst xmlns:a="http://schemas.openxmlformats.org/drawingml/2006/main">
              <a:ext uri="{FF2B5EF4-FFF2-40B4-BE49-F238E27FC236}">
                <a16:creationId xmlns:a16="http://schemas.microsoft.com/office/drawing/2014/main" id="{D380FB1A-39F0-44E8-86E0-C5FD5942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E29B"/>
                </a:solidFill>
                <a:latin typeface="PingFang SC"/>
                <a:ea typeface="PingFang SC"/>
                <a:cs typeface="PingFang SC"/>
              </a:defRPr>
            </a:pPr>
            <a:r>
              <a:t>请求的运行路径</a:t>
            </a:r>
          </a:p>
        </p:txBody>
      </p:sp>
      <p:sp>
        <p:nvSpPr>
          <p:cNvPr id="6" name="runtime-map-node-1">
            <a:extLst xmlns:a="http://schemas.openxmlformats.org/drawingml/2006/main">
              <a:ext uri="{FF2B5EF4-FFF2-40B4-BE49-F238E27FC236}">
                <a16:creationId xmlns:a16="http://schemas.microsoft.com/office/drawing/2014/main" id="{8D81D525-9FF0-4C05-9472-B57FC516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7" name="runtime-map-label-1">
            <a:extLst xmlns:a="http://schemas.openxmlformats.org/drawingml/2006/main">
              <a:ext uri="{FF2B5EF4-FFF2-40B4-BE49-F238E27FC236}">
                <a16:creationId xmlns:a16="http://schemas.microsoft.com/office/drawing/2014/main" id="{62649FB4-B245-47EA-AE2B-1AB47D7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客户端请求</a:t>
            </a:r>
          </a:p>
        </p:txBody>
      </p:sp>
      <p:sp>
        <p:nvSpPr>
          <p:cNvPr id="8" name="runtime-map-node-2">
            <a:extLst xmlns:a="http://schemas.openxmlformats.org/drawingml/2006/main">
              <a:ext uri="{FF2B5EF4-FFF2-40B4-BE49-F238E27FC236}">
                <a16:creationId xmlns:a16="http://schemas.microsoft.com/office/drawing/2014/main" id="{D10F4583-D56C-4B8D-836B-A9EA1B0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9" name="runtime-map-label-2">
            <a:extLst xmlns:a="http://schemas.openxmlformats.org/drawingml/2006/main">
              <a:ext uri="{FF2B5EF4-FFF2-40B4-BE49-F238E27FC236}">
                <a16:creationId xmlns:a16="http://schemas.microsoft.com/office/drawing/2014/main" id="{210661A2-8E52-4BD4-8F77-1B5FDF3D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Socket / 文件描述符</a:t>
            </a:r>
          </a:p>
        </p:txBody>
      </p:sp>
      <p:sp>
        <p:nvSpPr>
          <p:cNvPr id="10" name="runtime-map-node-3">
            <a:extLst xmlns:a="http://schemas.openxmlformats.org/drawingml/2006/main">
              <a:ext uri="{FF2B5EF4-FFF2-40B4-BE49-F238E27FC236}">
                <a16:creationId xmlns:a16="http://schemas.microsoft.com/office/drawing/2014/main" id="{F8BE1555-E397-4E61-B52B-55C80B8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1" name="runtime-map-label-3">
            <a:extLst xmlns:a="http://schemas.openxmlformats.org/drawingml/2006/main">
              <a:ext uri="{FF2B5EF4-FFF2-40B4-BE49-F238E27FC236}">
                <a16:creationId xmlns:a16="http://schemas.microsoft.com/office/drawing/2014/main" id="{FFDE6BB2-14E4-465D-8F7D-3DE5109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0517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应用进程或线程</a:t>
            </a:r>
          </a:p>
        </p:txBody>
      </p:sp>
      <p:sp>
        <p:nvSpPr>
          <p:cNvPr id="12" name="runtime-map-node-4">
            <a:extLst xmlns:a="http://schemas.openxmlformats.org/drawingml/2006/main">
              <a:ext uri="{FF2B5EF4-FFF2-40B4-BE49-F238E27FC236}">
                <a16:creationId xmlns:a16="http://schemas.microsoft.com/office/drawing/2014/main" id="{B7779016-A520-4767-94FF-2EED7F1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3" name="runtime-map-label-4">
            <a:extLst xmlns:a="http://schemas.openxmlformats.org/drawingml/2006/main">
              <a:ext uri="{FF2B5EF4-FFF2-40B4-BE49-F238E27FC236}">
                <a16:creationId xmlns:a16="http://schemas.microsoft.com/office/drawing/2014/main" id="{A55AAF94-9860-4742-9D5C-7F8DD55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8622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系统调用</a:t>
            </a:r>
          </a:p>
        </p:txBody>
      </p:sp>
      <p:sp>
        <p:nvSpPr>
          <p:cNvPr id="14" name="runtime-map-node-5">
            <a:extLst xmlns:a="http://schemas.openxmlformats.org/drawingml/2006/main">
              <a:ext uri="{FF2B5EF4-FFF2-40B4-BE49-F238E27FC236}">
                <a16:creationId xmlns:a16="http://schemas.microsoft.com/office/drawing/2014/main" id="{E226A344-4096-4C36-ACC0-EDFF0FF8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19050">
            <a:solidFill>
              <a:srgbClr val="A7F3C3"/>
            </a:solidFill>
            <a:prstDash val="solid"/>
          </a:ln>
        </p:spPr>
      </p:sp>
      <p:sp>
        <p:nvSpPr>
          <p:cNvPr id="15" name="runtime-map-label-5">
            <a:extLst xmlns:a="http://schemas.openxmlformats.org/drawingml/2006/main">
              <a:ext uri="{FF2B5EF4-FFF2-40B4-BE49-F238E27FC236}">
                <a16:creationId xmlns:a16="http://schemas.microsoft.com/office/drawing/2014/main" id="{35BE2C6A-6DDD-45D1-821E-A669ED6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Linux 内核</a:t>
            </a:r>
          </a:p>
        </p:txBody>
      </p:sp>
      <p:sp>
        <p:nvSpPr>
          <p:cNvPr id="16" name="runtime-map-node-6">
            <a:extLst xmlns:a="http://schemas.openxmlformats.org/drawingml/2006/main">
              <a:ext uri="{FF2B5EF4-FFF2-40B4-BE49-F238E27FC236}">
                <a16:creationId xmlns:a16="http://schemas.microsoft.com/office/drawing/2014/main" id="{3A6997F7-C25F-4AFC-B481-2CB808D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7" name="runtime-map-label-6">
            <a:extLst xmlns:a="http://schemas.openxmlformats.org/drawingml/2006/main">
              <a:ext uri="{FF2B5EF4-FFF2-40B4-BE49-F238E27FC236}">
                <a16:creationId xmlns:a16="http://schemas.microsoft.com/office/drawing/2014/main" id="{12D3148F-841B-4815-9914-281ECEFF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48325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CPU / 内存 / 存储 / 网络</a:t>
            </a:r>
          </a:p>
        </p:txBody>
      </p:sp>
      <p:sp>
        <p:nvSpPr>
          <p:cNvPr id="18" name="investigation-heading">
            <a:extLst xmlns:a="http://schemas.openxmlformats.org/drawingml/2006/main">
              <a:ext uri="{FF2B5EF4-FFF2-40B4-BE49-F238E27FC236}">
                <a16:creationId xmlns:a16="http://schemas.microsoft.com/office/drawing/2014/main" id="{742D643A-51F5-42C4-BE56-64199B2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800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观察运行问题，只追问三件事</a:t>
            </a:r>
          </a:p>
        </p:txBody>
      </p:sp>
      <p:sp>
        <p:nvSpPr>
          <p:cNvPr id="19" name="question-number-01">
            <a:extLst xmlns:a="http://schemas.openxmlformats.org/drawingml/2006/main">
              <a:ext uri="{FF2B5EF4-FFF2-40B4-BE49-F238E27FC236}">
                <a16:creationId xmlns:a16="http://schemas.microsoft.com/office/drawing/2014/main" id="{9C535BA5-5512-44A9-9DAE-7C5AD64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0" name="question-keyword-01">
            <a:extLst xmlns:a="http://schemas.openxmlformats.org/drawingml/2006/main">
              <a:ext uri="{FF2B5EF4-FFF2-40B4-BE49-F238E27FC236}">
                <a16:creationId xmlns:a16="http://schemas.microsoft.com/office/drawing/2014/main" id="{C51C3B51-727F-4C7A-B66A-8D2E57C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对象</a:t>
            </a:r>
          </a:p>
        </p:txBody>
      </p:sp>
      <p:sp>
        <p:nvSpPr>
          <p:cNvPr id="21" name="question-body-01">
            <a:extLst xmlns:a="http://schemas.openxmlformats.org/drawingml/2006/main">
              <a:ext uri="{FF2B5EF4-FFF2-40B4-BE49-F238E27FC236}">
                <a16:creationId xmlns:a16="http://schemas.microsoft.com/office/drawing/2014/main" id="{FED64DA9-4A3F-4AB7-95B9-7074283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210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哪个进程、FD、Socket、文件或设备？</a:t>
            </a:r>
          </a:p>
        </p:txBody>
      </p:sp>
      <p:sp>
        <p:nvSpPr>
          <p:cNvPr id="22" name="question-number-02">
            <a:extLst xmlns:a="http://schemas.openxmlformats.org/drawingml/2006/main">
              <a:ext uri="{FF2B5EF4-FFF2-40B4-BE49-F238E27FC236}">
                <a16:creationId xmlns:a16="http://schemas.microsoft.com/office/drawing/2014/main" id="{B24241E1-7AE5-4F1B-A992-9D3E9134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3" name="question-keyword-02">
            <a:extLst xmlns:a="http://schemas.openxmlformats.org/drawingml/2006/main">
              <a:ext uri="{FF2B5EF4-FFF2-40B4-BE49-F238E27FC236}">
                <a16:creationId xmlns:a16="http://schemas.microsoft.com/office/drawing/2014/main" id="{4D8E7F63-4CAB-485C-AEC7-B5253A87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8075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状态</a:t>
            </a:r>
          </a:p>
        </p:txBody>
      </p:sp>
      <p:sp>
        <p:nvSpPr>
          <p:cNvPr id="24" name="question-body-02">
            <a:extLst xmlns:a="http://schemas.openxmlformats.org/drawingml/2006/main">
              <a:ext uri="{FF2B5EF4-FFF2-40B4-BE49-F238E27FC236}">
                <a16:creationId xmlns:a16="http://schemas.microsoft.com/office/drawing/2014/main" id="{9E32F941-3072-4487-8EA2-BE591DAB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24325"/>
            <a:ext cx="4210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它在运行、等待、排队，还是已经失败？</a:t>
            </a:r>
          </a:p>
        </p:txBody>
      </p:sp>
      <p:sp>
        <p:nvSpPr>
          <p:cNvPr id="25" name="question-number-03">
            <a:extLst xmlns:a="http://schemas.openxmlformats.org/drawingml/2006/main">
              <a:ext uri="{FF2B5EF4-FFF2-40B4-BE49-F238E27FC236}">
                <a16:creationId xmlns:a16="http://schemas.microsoft.com/office/drawing/2014/main" id="{277BD28C-C9E4-4215-AB20-45268FE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6" name="question-keyword-03">
            <a:extLst xmlns:a="http://schemas.openxmlformats.org/drawingml/2006/main">
              <a:ext uri="{FF2B5EF4-FFF2-40B4-BE49-F238E27FC236}">
                <a16:creationId xmlns:a16="http://schemas.microsoft.com/office/drawing/2014/main" id="{205D92B9-D2D5-411C-928D-7D1DB2A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3395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27" name="question-body-03">
            <a:extLst xmlns:a="http://schemas.openxmlformats.org/drawingml/2006/main">
              <a:ext uri="{FF2B5EF4-FFF2-40B4-BE49-F238E27FC236}">
                <a16:creationId xmlns:a16="http://schemas.microsoft.com/office/drawing/2014/main" id="{89BA74D3-FBCC-46D3-B618-ED2FB7CA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10200"/>
            <a:ext cx="4210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问题发生在应用、内核、资源还是外部依赖？</a:t>
            </a:r>
          </a:p>
        </p:txBody>
      </p:sp>
    </p:spTree>
    <p:extLst>
      <p:ext uri="{BB962C8B-B14F-4D97-AF65-F5344CB8AC3E}">
        <p14:creationId xmlns:p14="http://schemas.microsoft.com/office/powerpoint/2010/main" val="325675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online-client-ingress-line">
            <a:extLst xmlns:a="http://schemas.openxmlformats.org/drawingml/2006/main">
              <a:ext uri="{FF2B5EF4-FFF2-40B4-BE49-F238E27FC236}">
                <a16:creationId xmlns:a16="http://schemas.microsoft.com/office/drawing/2014/main" id="{BE97AAF0-3E39-4A1F-8B28-B8C89246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28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nline-client-ingress-arrow">
            <a:extLst xmlns:a="http://schemas.openxmlformats.org/drawingml/2006/main">
              <a:ext uri="{FF2B5EF4-FFF2-40B4-BE49-F238E27FC236}">
                <a16:creationId xmlns:a16="http://schemas.microsoft.com/office/drawing/2014/main" id="{42530E22-2B46-4EF7-82B4-7EF6CFEB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86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3" name="online-ingress-service-line">
            <a:extLst xmlns:a="http://schemas.openxmlformats.org/drawingml/2006/main">
              <a:ext uri="{FF2B5EF4-FFF2-40B4-BE49-F238E27FC236}">
                <a16:creationId xmlns:a16="http://schemas.microsoft.com/office/drawing/2014/main" id="{A03802CA-5290-45F3-8B58-F23CB691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28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nline-ingress-service-arrow">
            <a:extLst xmlns:a="http://schemas.openxmlformats.org/drawingml/2006/main">
              <a:ext uri="{FF2B5EF4-FFF2-40B4-BE49-F238E27FC236}">
                <a16:creationId xmlns:a16="http://schemas.microsoft.com/office/drawing/2014/main" id="{75EC8F84-E2F7-4C70-9150-0589016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86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5" name="online-service-data-line">
            <a:extLst xmlns:a="http://schemas.openxmlformats.org/drawingml/2006/main">
              <a:ext uri="{FF2B5EF4-FFF2-40B4-BE49-F238E27FC236}">
                <a16:creationId xmlns:a16="http://schemas.microsoft.com/office/drawing/2014/main" id="{995CD616-5D79-4176-8A01-F8735F8D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nline-service-data-arrow">
            <a:extLst xmlns:a="http://schemas.openxmlformats.org/drawingml/2006/main">
              <a:ext uri="{FF2B5EF4-FFF2-40B4-BE49-F238E27FC236}">
                <a16:creationId xmlns:a16="http://schemas.microsoft.com/office/drawing/2014/main" id="{416BF81C-D6CE-4D39-AE1A-B6F70D4F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86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7" name="online-data-storage-line">
            <a:extLst xmlns:a="http://schemas.openxmlformats.org/drawingml/2006/main">
              <a:ext uri="{FF2B5EF4-FFF2-40B4-BE49-F238E27FC236}">
                <a16:creationId xmlns:a16="http://schemas.microsoft.com/office/drawing/2014/main" id="{BF83B645-4FA8-44E2-AE3F-CC63C825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nline-data-storage-arrow">
            <a:extLst xmlns:a="http://schemas.openxmlformats.org/drawingml/2006/main">
              <a:ext uri="{FF2B5EF4-FFF2-40B4-BE49-F238E27FC236}">
                <a16:creationId xmlns:a16="http://schemas.microsoft.com/office/drawing/2014/main" id="{A3B48049-A50D-4447-9781-A6F91F3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86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9" name="background-scheduler-worker-line">
            <a:extLst xmlns:a="http://schemas.openxmlformats.org/drawingml/2006/main">
              <a:ext uri="{FF2B5EF4-FFF2-40B4-BE49-F238E27FC236}">
                <a16:creationId xmlns:a16="http://schemas.microsoft.com/office/drawing/2014/main" id="{CFB3E3C8-B8A4-48B0-AD0A-4AF0DB1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33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ckground-scheduler-worker-arrow">
            <a:extLst xmlns:a="http://schemas.openxmlformats.org/drawingml/2006/main">
              <a:ext uri="{FF2B5EF4-FFF2-40B4-BE49-F238E27FC236}">
                <a16:creationId xmlns:a16="http://schemas.microsoft.com/office/drawing/2014/main" id="{6287A64E-48F3-47BE-A3A2-4ED3BF0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91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1" name="background-worker-object-line">
            <a:extLst xmlns:a="http://schemas.openxmlformats.org/drawingml/2006/main">
              <a:ext uri="{FF2B5EF4-FFF2-40B4-BE49-F238E27FC236}">
                <a16:creationId xmlns:a16="http://schemas.microsoft.com/office/drawing/2014/main" id="{6D63AFD1-FF0B-4853-864E-1C0CFAD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ckground-worker-object-arrow">
            <a:extLst xmlns:a="http://schemas.openxmlformats.org/drawingml/2006/main">
              <a:ext uri="{FF2B5EF4-FFF2-40B4-BE49-F238E27FC236}">
                <a16:creationId xmlns:a16="http://schemas.microsoft.com/office/drawing/2014/main" id="{413D7DDF-B885-4703-A0D6-5206030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91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3" name="background-object-storage-line">
            <a:extLst xmlns:a="http://schemas.openxmlformats.org/drawingml/2006/main">
              <a:ext uri="{FF2B5EF4-FFF2-40B4-BE49-F238E27FC236}">
                <a16:creationId xmlns:a16="http://schemas.microsoft.com/office/drawing/2014/main" id="{82849BFC-CECD-4B81-978C-8CA1DCC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ckground-object-storage-arrow">
            <a:extLst xmlns:a="http://schemas.openxmlformats.org/drawingml/2006/main">
              <a:ext uri="{FF2B5EF4-FFF2-40B4-BE49-F238E27FC236}">
                <a16:creationId xmlns:a16="http://schemas.microsoft.com/office/drawing/2014/main" id="{AE3AD2C9-CBDF-423D-A73F-A6F1D33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91025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5" name="architecture-storage-surface">
            <a:extLst xmlns:a="http://schemas.openxmlformats.org/drawingml/2006/main">
              <a:ext uri="{FF2B5EF4-FFF2-40B4-BE49-F238E27FC236}">
                <a16:creationId xmlns:a16="http://schemas.microsoft.com/office/drawing/2014/main" id="{2A03E293-428D-466E-B93A-96C363E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2286000" cy="2895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16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6F5F8FEE-3153-4AE9-8930-36F03D01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17" name="architecture-client-surface">
            <a:extLst xmlns:a="http://schemas.openxmlformats.org/drawingml/2006/main">
              <a:ext uri="{FF2B5EF4-FFF2-40B4-BE49-F238E27FC236}">
                <a16:creationId xmlns:a16="http://schemas.microsoft.com/office/drawing/2014/main" id="{0CE42F5B-1604-41CE-8A2D-9FDCC9C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8" name="architecture-client-label">
            <a:extLst xmlns:a="http://schemas.openxmlformats.org/drawingml/2006/main">
              <a:ext uri="{FF2B5EF4-FFF2-40B4-BE49-F238E27FC236}">
                <a16:creationId xmlns:a16="http://schemas.microsoft.com/office/drawing/2014/main" id="{7B4DE85B-D4D7-4E72-AAF3-1ACC614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客户端</a:t>
            </a:r>
          </a:p>
        </p:txBody>
      </p:sp>
      <p:sp>
        <p:nvSpPr>
          <p:cNvPr id="19" name="architecture-client-detail">
            <a:extLst xmlns:a="http://schemas.openxmlformats.org/drawingml/2006/main">
              <a:ext uri="{FF2B5EF4-FFF2-40B4-BE49-F238E27FC236}">
                <a16:creationId xmlns:a16="http://schemas.microsoft.com/office/drawing/2014/main" id="{ECC6D499-C49B-4138-BC9E-50AE0175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HTTP 请求</a:t>
            </a:r>
          </a:p>
        </p:txBody>
      </p:sp>
      <p:sp>
        <p:nvSpPr>
          <p:cNvPr id="20" name="architecture-ingress-surface">
            <a:extLst xmlns:a="http://schemas.openxmlformats.org/drawingml/2006/main">
              <a:ext uri="{FF2B5EF4-FFF2-40B4-BE49-F238E27FC236}">
                <a16:creationId xmlns:a16="http://schemas.microsoft.com/office/drawing/2014/main" id="{1E42F47D-9A87-48C1-96BA-11E4BFA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33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1" name="architecture-ingress-label">
            <a:extLst xmlns:a="http://schemas.openxmlformats.org/drawingml/2006/main">
              <a:ext uri="{FF2B5EF4-FFF2-40B4-BE49-F238E27FC236}">
                <a16:creationId xmlns:a16="http://schemas.microsoft.com/office/drawing/2014/main" id="{554B1303-2B60-4B6A-B1A6-491471D0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2410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接入层</a:t>
            </a:r>
          </a:p>
        </p:txBody>
      </p:sp>
      <p:sp>
        <p:nvSpPr>
          <p:cNvPr id="22" name="architecture-ingress-detail">
            <a:extLst xmlns:a="http://schemas.openxmlformats.org/drawingml/2006/main">
              <a:ext uri="{FF2B5EF4-FFF2-40B4-BE49-F238E27FC236}">
                <a16:creationId xmlns:a16="http://schemas.microsoft.com/office/drawing/2014/main" id="{E18D20C5-AC36-4DCF-AC75-0A269B6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监听 Socket</a:t>
            </a:r>
          </a:p>
        </p:txBody>
      </p:sp>
      <p:sp>
        <p:nvSpPr>
          <p:cNvPr id="23" name="architecture-service-surface">
            <a:extLst xmlns:a="http://schemas.openxmlformats.org/drawingml/2006/main">
              <a:ext uri="{FF2B5EF4-FFF2-40B4-BE49-F238E27FC236}">
                <a16:creationId xmlns:a16="http://schemas.microsoft.com/office/drawing/2014/main" id="{B8AF09C1-A2A8-4A8A-967E-667CCBB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24" name="architecture-service-label">
            <a:extLst xmlns:a="http://schemas.openxmlformats.org/drawingml/2006/main">
              <a:ext uri="{FF2B5EF4-FFF2-40B4-BE49-F238E27FC236}">
                <a16:creationId xmlns:a16="http://schemas.microsoft.com/office/drawing/2014/main" id="{42BFB553-5ABE-4640-8A9C-D968DE91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在线服务</a:t>
            </a:r>
          </a:p>
        </p:txBody>
      </p:sp>
      <p:sp>
        <p:nvSpPr>
          <p:cNvPr id="25" name="architecture-service-detail">
            <a:extLst xmlns:a="http://schemas.openxmlformats.org/drawingml/2006/main">
              <a:ext uri="{FF2B5EF4-FFF2-40B4-BE49-F238E27FC236}">
                <a16:creationId xmlns:a16="http://schemas.microsoft.com/office/drawing/2014/main" id="{66A40890-5607-436A-808F-744559D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服务进程</a:t>
            </a:r>
          </a:p>
        </p:txBody>
      </p:sp>
      <p:sp>
        <p:nvSpPr>
          <p:cNvPr id="26" name="architecture-data-object-surface">
            <a:extLst xmlns:a="http://schemas.openxmlformats.org/drawingml/2006/main">
              <a:ext uri="{FF2B5EF4-FFF2-40B4-BE49-F238E27FC236}">
                <a16:creationId xmlns:a16="http://schemas.microsoft.com/office/drawing/2014/main" id="{9C74A7AA-C59D-44F3-BFFD-8FE56DE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7" name="architecture-data-object-label">
            <a:extLst xmlns:a="http://schemas.openxmlformats.org/drawingml/2006/main">
              <a:ext uri="{FF2B5EF4-FFF2-40B4-BE49-F238E27FC236}">
                <a16:creationId xmlns:a16="http://schemas.microsoft.com/office/drawing/2014/main" id="{6E239820-193F-4E22-822E-393FC01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应用数据</a:t>
            </a:r>
          </a:p>
        </p:txBody>
      </p:sp>
      <p:sp>
        <p:nvSpPr>
          <p:cNvPr id="28" name="architecture-data-object-detail">
            <a:extLst xmlns:a="http://schemas.openxmlformats.org/drawingml/2006/main">
              <a:ext uri="{FF2B5EF4-FFF2-40B4-BE49-F238E27FC236}">
                <a16:creationId xmlns:a16="http://schemas.microsoft.com/office/drawing/2014/main" id="{C2AF7678-34F8-416D-9CDD-78FFE1B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146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FD / 文件</a:t>
            </a:r>
          </a:p>
        </p:txBody>
      </p:sp>
      <p:sp>
        <p:nvSpPr>
          <p:cNvPr id="29" name="architecture-scheduler-surface">
            <a:extLst xmlns:a="http://schemas.openxmlformats.org/drawingml/2006/main">
              <a:ext uri="{FF2B5EF4-FFF2-40B4-BE49-F238E27FC236}">
                <a16:creationId xmlns:a16="http://schemas.microsoft.com/office/drawing/2014/main" id="{DC39CDB3-911D-4D8B-B20B-325B3C3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0" name="architecture-scheduler-label">
            <a:extLst xmlns:a="http://schemas.openxmlformats.org/drawingml/2006/main">
              <a:ext uri="{FF2B5EF4-FFF2-40B4-BE49-F238E27FC236}">
                <a16:creationId xmlns:a16="http://schemas.microsoft.com/office/drawing/2014/main" id="{C8E3AAE4-6330-4E45-B2DF-831C27C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2910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定时任务</a:t>
            </a:r>
          </a:p>
        </p:txBody>
      </p:sp>
      <p:sp>
        <p:nvSpPr>
          <p:cNvPr id="31" name="architecture-scheduler-detail">
            <a:extLst xmlns:a="http://schemas.openxmlformats.org/drawingml/2006/main">
              <a:ext uri="{FF2B5EF4-FFF2-40B4-BE49-F238E27FC236}">
                <a16:creationId xmlns:a16="http://schemas.microsoft.com/office/drawing/2014/main" id="{A2F5AA6B-5EDD-4CA8-911B-6A4BC12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196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调度 / 启动</a:t>
            </a:r>
          </a:p>
        </p:txBody>
      </p:sp>
      <p:sp>
        <p:nvSpPr>
          <p:cNvPr id="32" name="architecture-worker-surface">
            <a:extLst xmlns:a="http://schemas.openxmlformats.org/drawingml/2006/main">
              <a:ext uri="{FF2B5EF4-FFF2-40B4-BE49-F238E27FC236}">
                <a16:creationId xmlns:a16="http://schemas.microsoft.com/office/drawing/2014/main" id="{83D3719F-0F7A-4D1A-941E-3188826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3" name="architecture-worker-label">
            <a:extLst xmlns:a="http://schemas.openxmlformats.org/drawingml/2006/main">
              <a:ext uri="{FF2B5EF4-FFF2-40B4-BE49-F238E27FC236}">
                <a16:creationId xmlns:a16="http://schemas.microsoft.com/office/drawing/2014/main" id="{ADDD7F3A-B00C-4C65-B99B-91727F0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>backup-worker</a:t>
            </a:r>
          </a:p>
        </p:txBody>
      </p:sp>
      <p:sp>
        <p:nvSpPr>
          <p:cNvPr id="34" name="architecture-worker-detail">
            <a:extLst xmlns:a="http://schemas.openxmlformats.org/drawingml/2006/main">
              <a:ext uri="{FF2B5EF4-FFF2-40B4-BE49-F238E27FC236}">
                <a16:creationId xmlns:a16="http://schemas.microsoft.com/office/drawing/2014/main" id="{3A5176A1-AC86-407E-993E-F7931EC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后台进程</a:t>
            </a:r>
          </a:p>
        </p:txBody>
      </p:sp>
      <p:sp>
        <p:nvSpPr>
          <p:cNvPr id="35" name="architecture-backup-object-surface">
            <a:extLst xmlns:a="http://schemas.openxmlformats.org/drawingml/2006/main">
              <a:ext uri="{FF2B5EF4-FFF2-40B4-BE49-F238E27FC236}">
                <a16:creationId xmlns:a16="http://schemas.microsoft.com/office/drawing/2014/main" id="{C08146B0-7654-4115-90C2-43DAA30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386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6" name="architecture-backup-object-label">
            <a:extLst xmlns:a="http://schemas.openxmlformats.org/drawingml/2006/main">
              <a:ext uri="{FF2B5EF4-FFF2-40B4-BE49-F238E27FC236}">
                <a16:creationId xmlns:a16="http://schemas.microsoft.com/office/drawing/2014/main" id="{E74EB363-B756-47B5-8295-0CBCC7D9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备份对象</a:t>
            </a:r>
          </a:p>
        </p:txBody>
      </p:sp>
      <p:sp>
        <p:nvSpPr>
          <p:cNvPr id="37" name="architecture-backup-object-detail">
            <a:extLst xmlns:a="http://schemas.openxmlformats.org/drawingml/2006/main">
              <a:ext uri="{FF2B5EF4-FFF2-40B4-BE49-F238E27FC236}">
                <a16:creationId xmlns:a16="http://schemas.microsoft.com/office/drawing/2014/main" id="{3145ED4B-7A6B-4892-BA3E-F917175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196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995A3"/>
                </a:solidFill>
                <a:latin typeface="Menlo"/>
                <a:ea typeface="Menlo"/>
                <a:cs typeface="Menlo"/>
              </a:defRPr>
            </a:pPr>
            <a:r>
              <a:t>full.tar</a:t>
            </a:r>
          </a:p>
        </p:txBody>
      </p:sp>
      <p:sp>
        <p:nvSpPr>
          <p:cNvPr id="38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DC86B1A5-086E-403A-A912-3BEF777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先看 </a:t>
            </a:r>
            <a:r>
              <a:rPr sz="375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项目地图</a:t>
            </a:r>
            <a:r>
              <a: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，再追查 Linux 对象</a:t>
            </a:r>
          </a:p>
        </p:txBody>
      </p:sp>
      <p:sp>
        <p:nvSpPr>
          <p:cNvPr id="39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49B40902-5630-4E36-9C68-1F4C95F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把通用运行路径落到在线请求、后台任务和数据资源</a:t>
            </a:r>
          </a:p>
        </p:txBody>
      </p:sp>
      <p:sp>
        <p:nvSpPr>
          <p:cNvPr id="40" name="online-lane-label">
            <a:extLst xmlns:a="http://schemas.openxmlformats.org/drawingml/2006/main">
              <a:ext uri="{FF2B5EF4-FFF2-40B4-BE49-F238E27FC236}">
                <a16:creationId xmlns:a16="http://schemas.microsoft.com/office/drawing/2014/main" id="{0A6BC382-17BB-4085-A404-00773D3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在线请求路径</a:t>
            </a:r>
          </a:p>
        </p:txBody>
      </p:sp>
      <p:sp>
        <p:nvSpPr>
          <p:cNvPr id="41" name="background-lane-label">
            <a:extLst xmlns:a="http://schemas.openxmlformats.org/drawingml/2006/main">
              <a:ext uri="{FF2B5EF4-FFF2-40B4-BE49-F238E27FC236}">
                <a16:creationId xmlns:a16="http://schemas.microsoft.com/office/drawing/2014/main" id="{8C883B84-DF74-4543-AAA0-8103409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后台任务路径</a:t>
            </a:r>
          </a:p>
        </p:txBody>
      </p:sp>
      <p:sp>
        <p:nvSpPr>
          <p:cNvPr id="42" name="architecture-storage-label">
            <a:extLst xmlns:a="http://schemas.openxmlformats.org/drawingml/2006/main">
              <a:ext uri="{FF2B5EF4-FFF2-40B4-BE49-F238E27FC236}">
                <a16:creationId xmlns:a16="http://schemas.microsoft.com/office/drawing/2014/main" id="{AB8A91BA-8F25-41B5-B86A-F6F13273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数据存储</a:t>
            </a:r>
          </a:p>
        </p:txBody>
      </p:sp>
      <p:sp>
        <p:nvSpPr>
          <p:cNvPr id="43" name="architecture-storage-detail">
            <a:extLst xmlns:a="http://schemas.openxmlformats.org/drawingml/2006/main">
              <a:ext uri="{FF2B5EF4-FFF2-40B4-BE49-F238E27FC236}">
                <a16:creationId xmlns:a16="http://schemas.microsoft.com/office/drawing/2014/main" id="{1EF00F3D-A518-426B-9854-240DA81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81350"/>
            <a:ext cx="1752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应用数据
备份文件</a:t>
            </a:r>
          </a:p>
        </p:txBody>
      </p:sp>
      <p:sp>
        <p:nvSpPr>
          <p:cNvPr id="44" name="architecture-storage-rule">
            <a:extLst xmlns:a="http://schemas.openxmlformats.org/drawingml/2006/main">
              <a:ext uri="{FF2B5EF4-FFF2-40B4-BE49-F238E27FC236}">
                <a16:creationId xmlns:a16="http://schemas.microsoft.com/office/drawing/2014/main" id="{121B02B9-BF53-4B0A-8828-9DD1992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rchitecture-storage-runtime">
            <a:extLst xmlns:a="http://schemas.openxmlformats.org/drawingml/2006/main">
              <a:ext uri="{FF2B5EF4-FFF2-40B4-BE49-F238E27FC236}">
                <a16:creationId xmlns:a16="http://schemas.microsoft.com/office/drawing/2014/main" id="{D43412BA-A66D-4D94-AA76-FF9A773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存储 I/O 资源</a:t>
            </a:r>
          </a:p>
        </p:txBody>
      </p:sp>
      <p:sp>
        <p:nvSpPr>
          <p:cNvPr id="46" name="architecture-footer-label">
            <a:extLst xmlns:a="http://schemas.openxmlformats.org/drawingml/2006/main">
              <a:ext uri="{FF2B5EF4-FFF2-40B4-BE49-F238E27FC236}">
                <a16:creationId xmlns:a16="http://schemas.microsoft.com/office/drawing/2014/main" id="{85C647FF-EE14-48EF-A819-76A5FB9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观察入口</a:t>
            </a:r>
          </a:p>
        </p:txBody>
      </p:sp>
      <p:sp>
        <p:nvSpPr>
          <p:cNvPr id="47" name="architecture-footer-question">
            <a:extLst xmlns:a="http://schemas.openxmlformats.org/drawingml/2006/main">
              <a:ext uri="{FF2B5EF4-FFF2-40B4-BE49-F238E27FC236}">
                <a16:creationId xmlns:a16="http://schemas.microsoft.com/office/drawing/2014/main" id="{50065ECB-8EE9-496F-BC37-DE61BE29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9048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后续每次排查，都回答：哪条路径、哪个对象、什么状态？</a:t>
            </a:r>
          </a:p>
        </p:txBody>
      </p:sp>
    </p:spTree>
    <p:extLst>
      <p:ext uri="{BB962C8B-B14F-4D97-AF65-F5344CB8AC3E}">
        <p14:creationId xmlns:p14="http://schemas.microsoft.com/office/powerpoint/2010/main" val="895899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rocess-view-connector-identity">
            <a:extLst xmlns:a="http://schemas.openxmlformats.org/drawingml/2006/main">
              <a:ext uri="{FF2B5EF4-FFF2-40B4-BE49-F238E27FC236}">
                <a16:creationId xmlns:a16="http://schemas.microsoft.com/office/drawing/2014/main" id="{E77B2AD7-A068-4FB6-8E94-33200514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cess-view-connector-parent">
            <a:extLst xmlns:a="http://schemas.openxmlformats.org/drawingml/2006/main">
              <a:ext uri="{FF2B5EF4-FFF2-40B4-BE49-F238E27FC236}">
                <a16:creationId xmlns:a16="http://schemas.microsoft.com/office/drawing/2014/main" id="{1FA63CBC-57DC-430F-B466-E0814F87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576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cess-view-connector-state">
            <a:extLst xmlns:a="http://schemas.openxmlformats.org/drawingml/2006/main">
              <a:ext uri="{FF2B5EF4-FFF2-40B4-BE49-F238E27FC236}">
                <a16:creationId xmlns:a16="http://schemas.microsoft.com/office/drawing/2014/main" id="{BF539996-D7E9-4993-B572-2F28C14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145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-view-connector-fd">
            <a:extLst xmlns:a="http://schemas.openxmlformats.org/drawingml/2006/main">
              <a:ext uri="{FF2B5EF4-FFF2-40B4-BE49-F238E27FC236}">
                <a16:creationId xmlns:a16="http://schemas.microsoft.com/office/drawing/2014/main" id="{878AEED6-B4C1-42BB-9315-BAA74AB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cess-view-connector-memory">
            <a:extLst xmlns:a="http://schemas.openxmlformats.org/drawingml/2006/main">
              <a:ext uri="{FF2B5EF4-FFF2-40B4-BE49-F238E27FC236}">
                <a16:creationId xmlns:a16="http://schemas.microsoft.com/office/drawing/2014/main" id="{E4895AF5-3BD6-45A0-8716-8431816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863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boundary">
            <a:extLst xmlns:a="http://schemas.openxmlformats.org/drawingml/2006/main">
              <a:ext uri="{FF2B5EF4-FFF2-40B4-BE49-F238E27FC236}">
                <a16:creationId xmlns:a16="http://schemas.microsoft.com/office/drawing/2014/main" id="{DBDDCA30-9220-48E7-A4EA-C718C753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5429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19050">
            <a:solidFill>
              <a:srgbClr val="2F6F4A"/>
            </a:solidFill>
            <a:prstDash val="solid"/>
          </a:ln>
        </p:spPr>
      </p:sp>
      <p:sp>
        <p:nvSpPr>
          <p:cNvPr id="7" name="process-inner-rule">
            <a:extLst xmlns:a="http://schemas.openxmlformats.org/drawingml/2006/main">
              <a:ext uri="{FF2B5EF4-FFF2-40B4-BE49-F238E27FC236}">
                <a16:creationId xmlns:a16="http://schemas.microsoft.com/office/drawing/2014/main" id="{2B932B95-DB23-48A5-821F-0B0DD2E7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14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takeaway-accent">
            <a:extLst xmlns:a="http://schemas.openxmlformats.org/drawingml/2006/main">
              <a:ext uri="{FF2B5EF4-FFF2-40B4-BE49-F238E27FC236}">
                <a16:creationId xmlns:a16="http://schemas.microsoft.com/office/drawing/2014/main" id="{7C75F93D-D413-45DE-94D3-2705277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04-title">
            <a:extLst xmlns:a="http://schemas.openxmlformats.org/drawingml/2006/main">
              <a:ext uri="{FF2B5EF4-FFF2-40B4-BE49-F238E27FC236}">
                <a16:creationId xmlns:a16="http://schemas.microsoft.com/office/drawing/2014/main" id="{EB7B0EE4-99A4-4BD9-82E3-FFCEF5E9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进程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 是排查运行问题的责任边界</a:t>
            </a:r>
          </a:p>
        </p:txBody>
      </p:sp>
      <p:sp>
        <p:nvSpPr>
          <p:cNvPr id="10" name="process-eyebrow">
            <a:extLst xmlns:a="http://schemas.openxmlformats.org/drawingml/2006/main">
              <a:ext uri="{FF2B5EF4-FFF2-40B4-BE49-F238E27FC236}">
                <a16:creationId xmlns:a16="http://schemas.microsoft.com/office/drawing/2014/main" id="{4F559898-B994-42D1-A59C-FE7D4D4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336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E29B"/>
                </a:solidFill>
                <a:latin typeface="PingFang SC"/>
                <a:ea typeface="PingFang SC"/>
                <a:cs typeface="PingFang SC"/>
              </a:defRPr>
            </a:pPr>
            <a:r>
              <a:t>责任对象</a:t>
            </a:r>
          </a:p>
        </p:txBody>
      </p:sp>
      <p:sp>
        <p:nvSpPr>
          <p:cNvPr id="11" name="process-name">
            <a:extLst xmlns:a="http://schemas.openxmlformats.org/drawingml/2006/main">
              <a:ext uri="{FF2B5EF4-FFF2-40B4-BE49-F238E27FC236}">
                <a16:creationId xmlns:a16="http://schemas.microsoft.com/office/drawing/2014/main" id="{8FF7B834-260B-41AB-B389-7A29546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57450"/>
            <a:ext cx="247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进程</a:t>
            </a:r>
          </a:p>
        </p:txBody>
      </p:sp>
      <p:sp>
        <p:nvSpPr>
          <p:cNvPr id="12" name="process-pid-label">
            <a:extLst xmlns:a="http://schemas.openxmlformats.org/drawingml/2006/main">
              <a:ext uri="{FF2B5EF4-FFF2-40B4-BE49-F238E27FC236}">
                <a16:creationId xmlns:a16="http://schemas.microsoft.com/office/drawing/2014/main" id="{15247865-F0FD-4BC6-9AA3-D70A607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9800"/>
            <a:ext cx="95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PID</a:t>
            </a:r>
          </a:p>
        </p:txBody>
      </p:sp>
      <p:sp>
        <p:nvSpPr>
          <p:cNvPr id="13" name="process-summary">
            <a:extLst xmlns:a="http://schemas.openxmlformats.org/drawingml/2006/main">
              <a:ext uri="{FF2B5EF4-FFF2-40B4-BE49-F238E27FC236}">
                <a16:creationId xmlns:a16="http://schemas.microsoft.com/office/drawing/2014/main" id="{DBAE6FE1-0B92-418F-86F0-DFE19728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09925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把运行现象落到具体责任对象</a:t>
            </a:r>
          </a:p>
        </p:txBody>
      </p:sp>
      <p:sp>
        <p:nvSpPr>
          <p:cNvPr id="14" name="process-command-heading">
            <a:extLst xmlns:a="http://schemas.openxmlformats.org/drawingml/2006/main">
              <a:ext uri="{FF2B5EF4-FFF2-40B4-BE49-F238E27FC236}">
                <a16:creationId xmlns:a16="http://schemas.microsoft.com/office/drawing/2014/main" id="{3C8E44DC-3F42-43CC-8975-1DEAA9B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433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从这里开始定位</a:t>
            </a:r>
          </a:p>
        </p:txBody>
      </p:sp>
      <p:sp>
        <p:nvSpPr>
          <p:cNvPr id="15" name="process-command-ps">
            <a:extLst xmlns:a="http://schemas.openxmlformats.org/drawingml/2006/main">
              <a:ext uri="{FF2B5EF4-FFF2-40B4-BE49-F238E27FC236}">
                <a16:creationId xmlns:a16="http://schemas.microsoft.com/office/drawing/2014/main" id="{14C58253-D40A-4EF6-B68A-A5147D9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2435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ps -eo pid,ppid,user,state,etime,comm</a:t>
            </a:r>
          </a:p>
        </p:txBody>
      </p:sp>
      <p:sp>
        <p:nvSpPr>
          <p:cNvPr id="16" name="process-command-fd">
            <a:extLst xmlns:a="http://schemas.openxmlformats.org/drawingml/2006/main">
              <a:ext uri="{FF2B5EF4-FFF2-40B4-BE49-F238E27FC236}">
                <a16:creationId xmlns:a16="http://schemas.microsoft.com/office/drawing/2014/main" id="{84681A1B-0CFE-4E8A-94FC-2BFF47D1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ls -l /proc/&lt;PID&gt;/fd</a:t>
            </a:r>
          </a:p>
        </p:txBody>
      </p:sp>
      <p:sp>
        <p:nvSpPr>
          <p:cNvPr id="17" name="process-view-node-identity">
            <a:extLst xmlns:a="http://schemas.openxmlformats.org/drawingml/2006/main">
              <a:ext uri="{FF2B5EF4-FFF2-40B4-BE49-F238E27FC236}">
                <a16:creationId xmlns:a16="http://schemas.microsoft.com/office/drawing/2014/main" id="{0766CCE3-A7D8-4748-A5FC-975F46C9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76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18" name="process-view-title-identity">
            <a:extLst xmlns:a="http://schemas.openxmlformats.org/drawingml/2006/main">
              <a:ext uri="{FF2B5EF4-FFF2-40B4-BE49-F238E27FC236}">
                <a16:creationId xmlns:a16="http://schemas.microsoft.com/office/drawing/2014/main" id="{758AAE8E-154C-4582-8948-76049AD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身份与启动</a:t>
            </a:r>
          </a:p>
        </p:txBody>
      </p:sp>
      <p:sp>
        <p:nvSpPr>
          <p:cNvPr id="19" name="process-view-detail-identity">
            <a:extLst xmlns:a="http://schemas.openxmlformats.org/drawingml/2006/main">
              <a:ext uri="{FF2B5EF4-FFF2-40B4-BE49-F238E27FC236}">
                <a16:creationId xmlns:a16="http://schemas.microsoft.com/office/drawing/2014/main" id="{05989626-130A-427C-8C3F-DAFCEA0E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user · cwd
env · etime</a:t>
            </a:r>
          </a:p>
        </p:txBody>
      </p:sp>
      <p:sp>
        <p:nvSpPr>
          <p:cNvPr id="20" name="process-view-node-parent">
            <a:extLst xmlns:a="http://schemas.openxmlformats.org/drawingml/2006/main">
              <a:ext uri="{FF2B5EF4-FFF2-40B4-BE49-F238E27FC236}">
                <a16:creationId xmlns:a16="http://schemas.microsoft.com/office/drawing/2014/main" id="{A52EA8EA-0F1A-4943-AD0B-CF326150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81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1" name="process-view-title-parent">
            <a:extLst xmlns:a="http://schemas.openxmlformats.org/drawingml/2006/main">
              <a:ext uri="{FF2B5EF4-FFF2-40B4-BE49-F238E27FC236}">
                <a16:creationId xmlns:a16="http://schemas.microsoft.com/office/drawing/2014/main" id="{087C0CC5-EC02-4F51-AB31-37B5521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父子关系</a:t>
            </a:r>
          </a:p>
        </p:txBody>
      </p:sp>
      <p:sp>
        <p:nvSpPr>
          <p:cNvPr id="22" name="process-view-detail-parent">
            <a:extLst xmlns:a="http://schemas.openxmlformats.org/drawingml/2006/main">
              <a:ext uri="{FF2B5EF4-FFF2-40B4-BE49-F238E27FC236}">
                <a16:creationId xmlns:a16="http://schemas.microsoft.com/office/drawing/2014/main" id="{FA75D913-C9A6-41E9-ADFC-D687D44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PID · PPID
启动链路</a:t>
            </a:r>
          </a:p>
        </p:txBody>
      </p:sp>
      <p:sp>
        <p:nvSpPr>
          <p:cNvPr id="23" name="process-view-node-state">
            <a:extLst xmlns:a="http://schemas.openxmlformats.org/drawingml/2006/main">
              <a:ext uri="{FF2B5EF4-FFF2-40B4-BE49-F238E27FC236}">
                <a16:creationId xmlns:a16="http://schemas.microsoft.com/office/drawing/2014/main" id="{C6A28253-E9B4-48B0-9321-DE85DE3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38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4" name="process-view-title-state">
            <a:extLst xmlns:a="http://schemas.openxmlformats.org/drawingml/2006/main">
              <a:ext uri="{FF2B5EF4-FFF2-40B4-BE49-F238E27FC236}">
                <a16:creationId xmlns:a16="http://schemas.microsoft.com/office/drawing/2014/main" id="{DD41748C-2C04-4304-8A1F-464967D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状态</a:t>
            </a:r>
          </a:p>
        </p:txBody>
      </p:sp>
      <p:sp>
        <p:nvSpPr>
          <p:cNvPr id="25" name="process-view-detail-state">
            <a:extLst xmlns:a="http://schemas.openxmlformats.org/drawingml/2006/main">
              <a:ext uri="{FF2B5EF4-FFF2-40B4-BE49-F238E27FC236}">
                <a16:creationId xmlns:a16="http://schemas.microsoft.com/office/drawing/2014/main" id="{6A1B2111-18F1-4A9E-B364-B4D554C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800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运行 · 睡眠 · D · 退出</a:t>
            </a:r>
          </a:p>
        </p:txBody>
      </p:sp>
      <p:sp>
        <p:nvSpPr>
          <p:cNvPr id="26" name="process-view-node-fd">
            <a:extLst xmlns:a="http://schemas.openxmlformats.org/drawingml/2006/main">
              <a:ext uri="{FF2B5EF4-FFF2-40B4-BE49-F238E27FC236}">
                <a16:creationId xmlns:a16="http://schemas.microsoft.com/office/drawing/2014/main" id="{4E1CE204-FD94-4DA9-833E-7B165D8E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7" name="process-view-title-fd">
            <a:extLst xmlns:a="http://schemas.openxmlformats.org/drawingml/2006/main">
              <a:ext uri="{FF2B5EF4-FFF2-40B4-BE49-F238E27FC236}">
                <a16:creationId xmlns:a16="http://schemas.microsoft.com/office/drawing/2014/main" id="{D3E373EC-59F9-417B-B506-B15D3763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FD 与网络连接</a:t>
            </a:r>
          </a:p>
        </p:txBody>
      </p:sp>
      <p:sp>
        <p:nvSpPr>
          <p:cNvPr id="28" name="process-view-detail-fd">
            <a:extLst xmlns:a="http://schemas.openxmlformats.org/drawingml/2006/main">
              <a:ext uri="{FF2B5EF4-FFF2-40B4-BE49-F238E27FC236}">
                <a16:creationId xmlns:a16="http://schemas.microsoft.com/office/drawing/2014/main" id="{8C7AEFDD-6FDD-4D69-894A-3AD3876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43325"/>
            <a:ext cx="2800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文件 · 管道 · Socket</a:t>
            </a:r>
          </a:p>
        </p:txBody>
      </p:sp>
      <p:sp>
        <p:nvSpPr>
          <p:cNvPr id="29" name="process-view-node-memory">
            <a:extLst xmlns:a="http://schemas.openxmlformats.org/drawingml/2006/main">
              <a:ext uri="{FF2B5EF4-FFF2-40B4-BE49-F238E27FC236}">
                <a16:creationId xmlns:a16="http://schemas.microsoft.com/office/drawing/2014/main" id="{9E1F9B1B-B802-4808-AE1D-E59D2DA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30" name="process-view-title-memory">
            <a:extLst xmlns:a="http://schemas.openxmlformats.org/drawingml/2006/main">
              <a:ext uri="{FF2B5EF4-FFF2-40B4-BE49-F238E27FC236}">
                <a16:creationId xmlns:a16="http://schemas.microsoft.com/office/drawing/2014/main" id="{8E1CBEC6-7875-4BD1-A9A0-3F64FC8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内存与资源</a:t>
            </a:r>
          </a:p>
        </p:txBody>
      </p:sp>
      <p:sp>
        <p:nvSpPr>
          <p:cNvPr id="31" name="process-view-detail-memory">
            <a:extLst xmlns:a="http://schemas.openxmlformats.org/drawingml/2006/main">
              <a:ext uri="{FF2B5EF4-FFF2-40B4-BE49-F238E27FC236}">
                <a16:creationId xmlns:a16="http://schemas.microsoft.com/office/drawing/2014/main" id="{C365B598-1D29-40C3-BB61-C7ADE62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29200"/>
            <a:ext cx="2800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地址空间 · 资源统计</a:t>
            </a:r>
          </a:p>
        </p:txBody>
      </p:sp>
      <p:sp>
        <p:nvSpPr>
          <p:cNvPr id="32" name="process-takeaway">
            <a:extLst xmlns:a="http://schemas.openxmlformats.org/drawingml/2006/main">
              <a:ext uri="{FF2B5EF4-FFF2-40B4-BE49-F238E27FC236}">
                <a16:creationId xmlns:a16="http://schemas.microsoft.com/office/drawing/2014/main" id="{4DE4DAC3-E92C-418B-A055-0F5DB7F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89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出现异常时，先找到“哪个进程正在做什么或等待什么”</a:t>
            </a:r>
          </a:p>
        </p:txBody>
      </p:sp>
    </p:spTree>
    <p:extLst>
      <p:ext uri="{BB962C8B-B14F-4D97-AF65-F5344CB8AC3E}">
        <p14:creationId xmlns:p14="http://schemas.microsoft.com/office/powerpoint/2010/main" val="789890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yscall-boundary">
            <a:extLst xmlns:a="http://schemas.openxmlformats.org/drawingml/2006/main">
              <a:ext uri="{FF2B5EF4-FFF2-40B4-BE49-F238E27FC236}">
                <a16:creationId xmlns:a16="http://schemas.microsoft.com/office/drawing/2014/main" id="{5DD06979-9A26-4CF3-B11F-1E221897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14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05-title">
            <a:extLst xmlns:a="http://schemas.openxmlformats.org/drawingml/2006/main">
              <a:ext uri="{FF2B5EF4-FFF2-40B4-BE49-F238E27FC236}">
                <a16:creationId xmlns:a16="http://schemas.microsoft.com/office/drawing/2014/main" id="{80AA7965-DE80-4F3E-9416-75504B7A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FD 和系统调用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 把应用行为映射到内核对象</a:t>
            </a:r>
          </a:p>
        </p:txBody>
      </p:sp>
      <p:sp>
        <p:nvSpPr>
          <p:cNvPr id="3" name="fd-definition">
            <a:extLst xmlns:a="http://schemas.openxmlformats.org/drawingml/2006/main">
              <a:ext uri="{FF2B5EF4-FFF2-40B4-BE49-F238E27FC236}">
                <a16:creationId xmlns:a16="http://schemas.microsoft.com/office/drawing/2014/main" id="{B73D9B73-4D05-4C3A-B0D5-A9313023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FD 是进程访问文件、管道、终端和 Socket 的句柄</a:t>
            </a:r>
          </a:p>
        </p:txBody>
      </p:sp>
      <p:sp>
        <p:nvSpPr>
          <p:cNvPr id="4" name="syscall-definition">
            <a:extLst xmlns:a="http://schemas.openxmlformats.org/drawingml/2006/main">
              <a:ext uri="{FF2B5EF4-FFF2-40B4-BE49-F238E27FC236}">
                <a16:creationId xmlns:a16="http://schemas.microsoft.com/office/drawing/2014/main" id="{FA3ADAB8-30EF-4512-9C40-31956B8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71600"/>
            <a:ext cx="518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系统调用是应用请求内核执行操作的受控边界</a:t>
            </a:r>
          </a:p>
        </p:txBody>
      </p:sp>
      <p:sp>
        <p:nvSpPr>
          <p:cNvPr id="5" name="application-heading">
            <a:extLst xmlns:a="http://schemas.openxmlformats.org/drawingml/2006/main">
              <a:ext uri="{FF2B5EF4-FFF2-40B4-BE49-F238E27FC236}">
                <a16:creationId xmlns:a16="http://schemas.microsoft.com/office/drawing/2014/main" id="{BAD3E37A-A1BD-45A4-BCFA-DF0B5675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应用动作</a:t>
            </a:r>
          </a:p>
        </p:txBody>
      </p:sp>
      <p:sp>
        <p:nvSpPr>
          <p:cNvPr id="6" name="kernel-heading">
            <a:extLst xmlns:a="http://schemas.openxmlformats.org/drawingml/2006/main">
              <a:ext uri="{FF2B5EF4-FFF2-40B4-BE49-F238E27FC236}">
                <a16:creationId xmlns:a16="http://schemas.microsoft.com/office/drawing/2014/main" id="{B939AFF8-113B-4401-AEE5-EA39663C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Linux 证据</a:t>
            </a:r>
          </a:p>
        </p:txBody>
      </p:sp>
      <p:sp>
        <p:nvSpPr>
          <p:cNvPr id="7" name="mapping-rule-left-1">
            <a:extLst xmlns:a="http://schemas.openxmlformats.org/drawingml/2006/main">
              <a:ext uri="{FF2B5EF4-FFF2-40B4-BE49-F238E27FC236}">
                <a16:creationId xmlns:a16="http://schemas.microsoft.com/office/drawing/2014/main" id="{E48245DB-8136-4276-AE49-804189B7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pping-rule-right-1">
            <a:extLst xmlns:a="http://schemas.openxmlformats.org/drawingml/2006/main">
              <a:ext uri="{FF2B5EF4-FFF2-40B4-BE49-F238E27FC236}">
                <a16:creationId xmlns:a16="http://schemas.microsoft.com/office/drawing/2014/main" id="{70719423-2861-414D-A48C-9145A0CB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47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ping-action-1">
            <a:extLst xmlns:a="http://schemas.openxmlformats.org/drawingml/2006/main">
              <a:ext uri="{FF2B5EF4-FFF2-40B4-BE49-F238E27FC236}">
                <a16:creationId xmlns:a16="http://schemas.microsoft.com/office/drawing/2014/main" id="{F75DF507-C917-4C31-B247-9E3B48E5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095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读取配置</a:t>
            </a:r>
          </a:p>
        </p:txBody>
      </p:sp>
      <p:sp>
        <p:nvSpPr>
          <p:cNvPr id="10" name="mapping-arrow-1">
            <a:extLst xmlns:a="http://schemas.openxmlformats.org/drawingml/2006/main">
              <a:ext uri="{FF2B5EF4-FFF2-40B4-BE49-F238E27FC236}">
                <a16:creationId xmlns:a16="http://schemas.microsoft.com/office/drawing/2014/main" id="{E799B6E7-AF9F-4E9F-9E37-17AAEB8C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76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1" name="mapping-evidence-1">
            <a:extLst xmlns:a="http://schemas.openxmlformats.org/drawingml/2006/main">
              <a:ext uri="{FF2B5EF4-FFF2-40B4-BE49-F238E27FC236}">
                <a16:creationId xmlns:a16="http://schemas.microsoft.com/office/drawing/2014/main" id="{90CB8ECF-AE44-4D66-A1E8-D2B5171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openat() / read()</a:t>
            </a:r>
          </a:p>
        </p:txBody>
      </p:sp>
      <p:sp>
        <p:nvSpPr>
          <p:cNvPr id="12" name="mapping-rule-left-2">
            <a:extLst xmlns:a="http://schemas.openxmlformats.org/drawingml/2006/main">
              <a:ext uri="{FF2B5EF4-FFF2-40B4-BE49-F238E27FC236}">
                <a16:creationId xmlns:a16="http://schemas.microsoft.com/office/drawing/2014/main" id="{D76DC98F-9C75-4147-B390-84BDC8A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pping-rule-right-2">
            <a:extLst xmlns:a="http://schemas.openxmlformats.org/drawingml/2006/main">
              <a:ext uri="{FF2B5EF4-FFF2-40B4-BE49-F238E27FC236}">
                <a16:creationId xmlns:a16="http://schemas.microsoft.com/office/drawing/2014/main" id="{5DB96518-E2F6-449F-A46A-058EB8ED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ping-action-2">
            <a:extLst xmlns:a="http://schemas.openxmlformats.org/drawingml/2006/main">
              <a:ext uri="{FF2B5EF4-FFF2-40B4-BE49-F238E27FC236}">
                <a16:creationId xmlns:a16="http://schemas.microsoft.com/office/drawing/2014/main" id="{3F6589BC-696A-4827-99AF-AC1BE29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4095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写入日志</a:t>
            </a:r>
          </a:p>
        </p:txBody>
      </p:sp>
      <p:sp>
        <p:nvSpPr>
          <p:cNvPr id="15" name="mapping-arrow-2">
            <a:extLst xmlns:a="http://schemas.openxmlformats.org/drawingml/2006/main">
              <a:ext uri="{FF2B5EF4-FFF2-40B4-BE49-F238E27FC236}">
                <a16:creationId xmlns:a16="http://schemas.microsoft.com/office/drawing/2014/main" id="{19FEB98A-E26E-460F-BA0A-638A3486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76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6" name="mapping-evidence-2">
            <a:extLst xmlns:a="http://schemas.openxmlformats.org/drawingml/2006/main">
              <a:ext uri="{FF2B5EF4-FFF2-40B4-BE49-F238E27FC236}">
                <a16:creationId xmlns:a16="http://schemas.microsoft.com/office/drawing/2014/main" id="{7A4DBA16-89B7-4A1D-927C-07508CA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write()</a:t>
            </a:r>
          </a:p>
        </p:txBody>
      </p:sp>
      <p:sp>
        <p:nvSpPr>
          <p:cNvPr id="17" name="mapping-rule-left-3">
            <a:extLst xmlns:a="http://schemas.openxmlformats.org/drawingml/2006/main">
              <a:ext uri="{FF2B5EF4-FFF2-40B4-BE49-F238E27FC236}">
                <a16:creationId xmlns:a16="http://schemas.microsoft.com/office/drawing/2014/main" id="{A9F1BF94-648C-4301-983D-D7D4F55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pping-rule-right-3">
            <a:extLst xmlns:a="http://schemas.openxmlformats.org/drawingml/2006/main">
              <a:ext uri="{FF2B5EF4-FFF2-40B4-BE49-F238E27FC236}">
                <a16:creationId xmlns:a16="http://schemas.microsoft.com/office/drawing/2014/main" id="{13650624-24D3-4057-8A1A-CA7D85C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672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pping-action-3">
            <a:extLst xmlns:a="http://schemas.openxmlformats.org/drawingml/2006/main">
              <a:ext uri="{FF2B5EF4-FFF2-40B4-BE49-F238E27FC236}">
                <a16:creationId xmlns:a16="http://schemas.microsoft.com/office/drawing/2014/main" id="{ABA23ACA-FC3B-4D78-9B29-EB04BFD1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4095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发起连接</a:t>
            </a:r>
          </a:p>
        </p:txBody>
      </p:sp>
      <p:sp>
        <p:nvSpPr>
          <p:cNvPr id="20" name="mapping-arrow-3">
            <a:extLst xmlns:a="http://schemas.openxmlformats.org/drawingml/2006/main">
              <a:ext uri="{FF2B5EF4-FFF2-40B4-BE49-F238E27FC236}">
                <a16:creationId xmlns:a16="http://schemas.microsoft.com/office/drawing/2014/main" id="{42FFDB8B-7516-4F94-B535-8A634C8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76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1" name="mapping-evidence-3">
            <a:extLst xmlns:a="http://schemas.openxmlformats.org/drawingml/2006/main">
              <a:ext uri="{FF2B5EF4-FFF2-40B4-BE49-F238E27FC236}">
                <a16:creationId xmlns:a16="http://schemas.microsoft.com/office/drawing/2014/main" id="{E3F8E93F-E4D7-41E9-8B83-DE326AA4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socket() / connect()</a:t>
            </a:r>
          </a:p>
        </p:txBody>
      </p:sp>
      <p:sp>
        <p:nvSpPr>
          <p:cNvPr id="22" name="mapping-rule-left-4">
            <a:extLst xmlns:a="http://schemas.openxmlformats.org/drawingml/2006/main">
              <a:ext uri="{FF2B5EF4-FFF2-40B4-BE49-F238E27FC236}">
                <a16:creationId xmlns:a16="http://schemas.microsoft.com/office/drawing/2014/main" id="{0F7A9D1E-D41D-4C9D-8610-FD94AA3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pping-rule-right-4">
            <a:extLst xmlns:a="http://schemas.openxmlformats.org/drawingml/2006/main">
              <a:ext uri="{FF2B5EF4-FFF2-40B4-BE49-F238E27FC236}">
                <a16:creationId xmlns:a16="http://schemas.microsoft.com/office/drawing/2014/main" id="{3D85D703-8146-4CD7-8411-BD6CAF49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pping-action-4">
            <a:extLst xmlns:a="http://schemas.openxmlformats.org/drawingml/2006/main">
              <a:ext uri="{FF2B5EF4-FFF2-40B4-BE49-F238E27FC236}">
                <a16:creationId xmlns:a16="http://schemas.microsoft.com/office/drawing/2014/main" id="{BE189A1E-EFCF-40D9-BFE6-7324723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4095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创建任务</a:t>
            </a:r>
          </a:p>
        </p:txBody>
      </p:sp>
      <p:sp>
        <p:nvSpPr>
          <p:cNvPr id="25" name="mapping-arrow-4">
            <a:extLst xmlns:a="http://schemas.openxmlformats.org/drawingml/2006/main">
              <a:ext uri="{FF2B5EF4-FFF2-40B4-BE49-F238E27FC236}">
                <a16:creationId xmlns:a16="http://schemas.microsoft.com/office/drawing/2014/main" id="{5B5EA90D-6B6D-4883-BC03-1EB8982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76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6" name="mapping-evidence-4">
            <a:extLst xmlns:a="http://schemas.openxmlformats.org/drawingml/2006/main">
              <a:ext uri="{FF2B5EF4-FFF2-40B4-BE49-F238E27FC236}">
                <a16:creationId xmlns:a16="http://schemas.microsoft.com/office/drawing/2014/main" id="{EEEFF84B-772F-4827-857C-B310F2B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Menlo"/>
                <a:ea typeface="Menlo"/>
                <a:cs typeface="Menlo"/>
              </a:defRPr>
            </a:pPr>
            <a:r>
              <a:t>clone()</a:t>
            </a:r>
          </a:p>
        </p:txBody>
      </p:sp>
      <p:sp>
        <p:nvSpPr>
          <p:cNvPr id="27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1831D8A9-7944-4F66-9062-9596830B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8" name="command-strip-text">
            <a:extLst xmlns:a="http://schemas.openxmlformats.org/drawingml/2006/main">
              <a:ext uri="{FF2B5EF4-FFF2-40B4-BE49-F238E27FC236}">
                <a16:creationId xmlns:a16="http://schemas.microsoft.com/office/drawing/2014/main" id="{44ABC901-FC8A-41D5-9056-6B9801F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062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B7F5CE"/>
                </a:solidFill>
                <a:latin typeface="Menlo"/>
                <a:ea typeface="Menlo"/>
                <a:cs typeface="Menlo"/>
              </a:defRPr>
            </a:pPr>
            <a:r>
              <a:t>ls -l /proc/$$/fd      strace -c ls &gt;/dev/null</a:t>
            </a:r>
          </a:p>
        </p:txBody>
      </p:sp>
    </p:spTree>
    <p:extLst>
      <p:ext uri="{BB962C8B-B14F-4D97-AF65-F5344CB8AC3E}">
        <p14:creationId xmlns:p14="http://schemas.microsoft.com/office/powerpoint/2010/main" val="1108397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utdown-connector-1">
            <a:extLst xmlns:a="http://schemas.openxmlformats.org/drawingml/2006/main">
              <a:ext uri="{FF2B5EF4-FFF2-40B4-BE49-F238E27FC236}">
                <a16:creationId xmlns:a16="http://schemas.microsoft.com/office/drawing/2014/main" id="{1BDE1364-0207-40EE-8D7A-7C1E17B3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9552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utdown-connector-2">
            <a:extLst xmlns:a="http://schemas.openxmlformats.org/drawingml/2006/main">
              <a:ext uri="{FF2B5EF4-FFF2-40B4-BE49-F238E27FC236}">
                <a16:creationId xmlns:a16="http://schemas.microsoft.com/office/drawing/2014/main" id="{E23F4863-2EA2-4929-A16E-1546421F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5752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hutdown-connector-3">
            <a:extLst xmlns:a="http://schemas.openxmlformats.org/drawingml/2006/main">
              <a:ext uri="{FF2B5EF4-FFF2-40B4-BE49-F238E27FC236}">
                <a16:creationId xmlns:a16="http://schemas.microsoft.com/office/drawing/2014/main" id="{8F0A30D2-EE4B-44FB-95B1-3083C3C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952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utdown-connector-4">
            <a:extLst xmlns:a="http://schemas.openxmlformats.org/drawingml/2006/main">
              <a:ext uri="{FF2B5EF4-FFF2-40B4-BE49-F238E27FC236}">
                <a16:creationId xmlns:a16="http://schemas.microsoft.com/office/drawing/2014/main" id="{8F6CFF77-633F-44A3-A1A2-A9FA4921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8152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rvice-contract-boundary">
            <a:extLst xmlns:a="http://schemas.openxmlformats.org/drawingml/2006/main">
              <a:ext uri="{FF2B5EF4-FFF2-40B4-BE49-F238E27FC236}">
                <a16:creationId xmlns:a16="http://schemas.microsoft.com/office/drawing/2014/main" id="{4E48DCB2-928B-48A8-A338-52DD637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36"/>
            </a:solidFill>
            <a:prstDash val="solid"/>
          </a:ln>
        </p:spPr>
      </p:sp>
      <p:sp>
        <p:nvSpPr>
          <p:cNvPr id="6" name="service-process">
            <a:extLst xmlns:a="http://schemas.openxmlformats.org/drawingml/2006/main">
              <a:ext uri="{FF2B5EF4-FFF2-40B4-BE49-F238E27FC236}">
                <a16:creationId xmlns:a16="http://schemas.microsoft.com/office/drawing/2014/main" id="{4948257F-A2A6-4E28-B2F9-87702F53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71800"/>
            <a:ext cx="217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7" name="slide-06-title">
            <a:extLst xmlns:a="http://schemas.openxmlformats.org/drawingml/2006/main">
              <a:ext uri="{FF2B5EF4-FFF2-40B4-BE49-F238E27FC236}">
                <a16:creationId xmlns:a16="http://schemas.microsoft.com/office/drawing/2014/main" id="{7EDAAD74-B7C5-4234-8BC3-AC3709D1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能启动的程序</a:t>
            </a: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，还不是可管理的服务</a:t>
            </a:r>
          </a:p>
        </p:txBody>
      </p:sp>
      <p:sp>
        <p:nvSpPr>
          <p:cNvPr id="8" name="contract-heading">
            <a:extLst xmlns:a="http://schemas.openxmlformats.org/drawingml/2006/main">
              <a:ext uri="{FF2B5EF4-FFF2-40B4-BE49-F238E27FC236}">
                <a16:creationId xmlns:a16="http://schemas.microsoft.com/office/drawing/2014/main" id="{896FD431-0F46-488C-AE09-6085AC6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7E29B"/>
                </a:solidFill>
                <a:latin typeface="PingFang SC"/>
                <a:ea typeface="PingFang SC"/>
                <a:cs typeface="PingFang SC"/>
              </a:defRPr>
            </a:pPr>
            <a:r>
              <a:t>服务契约</a:t>
            </a:r>
          </a:p>
        </p:txBody>
      </p:sp>
      <p:sp>
        <p:nvSpPr>
          <p:cNvPr id="9" name="shutdown-heading">
            <a:extLst xmlns:a="http://schemas.openxmlformats.org/drawingml/2006/main">
              <a:ext uri="{FF2B5EF4-FFF2-40B4-BE49-F238E27FC236}">
                <a16:creationId xmlns:a16="http://schemas.microsoft.com/office/drawing/2014/main" id="{FB4EAC41-403F-4F89-9E64-E7B6C836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优雅退出</a:t>
            </a:r>
          </a:p>
        </p:txBody>
      </p:sp>
      <p:sp>
        <p:nvSpPr>
          <p:cNvPr id="10" name="service-process-text">
            <a:extLst xmlns:a="http://schemas.openxmlformats.org/drawingml/2006/main">
              <a:ext uri="{FF2B5EF4-FFF2-40B4-BE49-F238E27FC236}">
                <a16:creationId xmlns:a16="http://schemas.microsoft.com/office/drawing/2014/main" id="{8AD9B8CB-2505-4DEE-A2D0-8B2EDA7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38500"/>
            <a:ext cx="2171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应用进程</a:t>
            </a:r>
          </a:p>
        </p:txBody>
      </p:sp>
      <p:sp>
        <p:nvSpPr>
          <p:cNvPr id="11" name="contract-label-1">
            <a:extLst xmlns:a="http://schemas.openxmlformats.org/drawingml/2006/main">
              <a:ext uri="{FF2B5EF4-FFF2-40B4-BE49-F238E27FC236}">
                <a16:creationId xmlns:a16="http://schemas.microsoft.com/office/drawing/2014/main" id="{5A01478D-E54C-47FB-A1F7-06CB8891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身份</a:t>
            </a:r>
          </a:p>
        </p:txBody>
      </p:sp>
      <p:sp>
        <p:nvSpPr>
          <p:cNvPr id="12" name="contract-detail-1">
            <a:extLst xmlns:a="http://schemas.openxmlformats.org/drawingml/2006/main">
              <a:ext uri="{FF2B5EF4-FFF2-40B4-BE49-F238E27FC236}">
                <a16:creationId xmlns:a16="http://schemas.microsoft.com/office/drawing/2014/main" id="{FCF84BB5-C858-4615-B0F0-A31846B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用户 · 目录 · 环境</a:t>
            </a:r>
          </a:p>
        </p:txBody>
      </p:sp>
      <p:sp>
        <p:nvSpPr>
          <p:cNvPr id="13" name="contract-label-2">
            <a:extLst xmlns:a="http://schemas.openxmlformats.org/drawingml/2006/main">
              <a:ext uri="{FF2B5EF4-FFF2-40B4-BE49-F238E27FC236}">
                <a16:creationId xmlns:a16="http://schemas.microsoft.com/office/drawing/2014/main" id="{96BFE364-BE55-4F29-8D5A-DE1374E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启动</a:t>
            </a:r>
          </a:p>
        </p:txBody>
      </p:sp>
      <p:sp>
        <p:nvSpPr>
          <p:cNvPr id="14" name="contract-detail-2">
            <a:extLst xmlns:a="http://schemas.openxmlformats.org/drawingml/2006/main">
              <a:ext uri="{FF2B5EF4-FFF2-40B4-BE49-F238E27FC236}">
                <a16:creationId xmlns:a16="http://schemas.microsoft.com/office/drawing/2014/main" id="{BC122B6B-6C4D-4ACB-889E-5F04728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依赖 · 失败重启</a:t>
            </a:r>
          </a:p>
        </p:txBody>
      </p:sp>
      <p:sp>
        <p:nvSpPr>
          <p:cNvPr id="15" name="contract-label-3">
            <a:extLst xmlns:a="http://schemas.openxmlformats.org/drawingml/2006/main">
              <a:ext uri="{FF2B5EF4-FFF2-40B4-BE49-F238E27FC236}">
                <a16:creationId xmlns:a16="http://schemas.microsoft.com/office/drawing/2014/main" id="{07BC77C4-D20E-4E27-8995-5CDC432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6" name="contract-detail-3">
            <a:extLst xmlns:a="http://schemas.openxmlformats.org/drawingml/2006/main">
              <a:ext uri="{FF2B5EF4-FFF2-40B4-BE49-F238E27FC236}">
                <a16:creationId xmlns:a16="http://schemas.microsoft.com/office/drawing/2014/main" id="{7A96C626-5B4D-4E45-93C6-3332C5E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信号 · 退出状态</a:t>
            </a:r>
          </a:p>
        </p:txBody>
      </p:sp>
      <p:sp>
        <p:nvSpPr>
          <p:cNvPr id="17" name="contract-label-4">
            <a:extLst xmlns:a="http://schemas.openxmlformats.org/drawingml/2006/main">
              <a:ext uri="{FF2B5EF4-FFF2-40B4-BE49-F238E27FC236}">
                <a16:creationId xmlns:a16="http://schemas.microsoft.com/office/drawing/2014/main" id="{85BD5927-8400-47E7-8A83-8DD8A57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日志</a:t>
            </a:r>
          </a:p>
        </p:txBody>
      </p:sp>
      <p:sp>
        <p:nvSpPr>
          <p:cNvPr id="18" name="contract-detail-4">
            <a:extLst xmlns:a="http://schemas.openxmlformats.org/drawingml/2006/main">
              <a:ext uri="{FF2B5EF4-FFF2-40B4-BE49-F238E27FC236}">
                <a16:creationId xmlns:a16="http://schemas.microsoft.com/office/drawing/2014/main" id="{15141870-0F72-4C38-8CF8-9F04016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失败原因可追溯</a:t>
            </a:r>
          </a:p>
        </p:txBody>
      </p:sp>
      <p:sp>
        <p:nvSpPr>
          <p:cNvPr id="19" name="contract-label-5">
            <a:extLst xmlns:a="http://schemas.openxmlformats.org/drawingml/2006/main">
              <a:ext uri="{FF2B5EF4-FFF2-40B4-BE49-F238E27FC236}">
                <a16:creationId xmlns:a16="http://schemas.microsoft.com/office/drawing/2014/main" id="{E1057865-030F-4ADA-9D96-14BE8737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资源</a:t>
            </a:r>
          </a:p>
        </p:txBody>
      </p:sp>
      <p:sp>
        <p:nvSpPr>
          <p:cNvPr id="20" name="contract-detail-5">
            <a:extLst xmlns:a="http://schemas.openxmlformats.org/drawingml/2006/main">
              <a:ext uri="{FF2B5EF4-FFF2-40B4-BE49-F238E27FC236}">
                <a16:creationId xmlns:a16="http://schemas.microsoft.com/office/drawing/2014/main" id="{3C73249A-7019-4338-9155-9DF1C5FC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0175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CPU · 内存 · FD</a:t>
            </a:r>
          </a:p>
        </p:txBody>
      </p:sp>
      <p:sp>
        <p:nvSpPr>
          <p:cNvPr id="21" name="shutdown-node-1">
            <a:extLst xmlns:a="http://schemas.openxmlformats.org/drawingml/2006/main">
              <a:ext uri="{FF2B5EF4-FFF2-40B4-BE49-F238E27FC236}">
                <a16:creationId xmlns:a16="http://schemas.microsoft.com/office/drawing/2014/main" id="{B4B02DEC-206A-44CC-85FF-55C24E20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19050">
            <a:solidFill>
              <a:srgbClr val="B7F5CE"/>
            </a:solidFill>
            <a:prstDash val="solid"/>
          </a:ln>
        </p:spPr>
      </p:sp>
      <p:sp>
        <p:nvSpPr>
          <p:cNvPr id="22" name="shutdown-label-1">
            <a:extLst xmlns:a="http://schemas.openxmlformats.org/drawingml/2006/main">
              <a:ext uri="{FF2B5EF4-FFF2-40B4-BE49-F238E27FC236}">
                <a16:creationId xmlns:a16="http://schemas.microsoft.com/office/drawing/2014/main" id="{09F8678E-B9F7-4CF7-899A-9381436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2457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SIGTERM</a:t>
            </a:r>
          </a:p>
        </p:txBody>
      </p:sp>
      <p:sp>
        <p:nvSpPr>
          <p:cNvPr id="23" name="shutdown-node-2">
            <a:extLst xmlns:a="http://schemas.openxmlformats.org/drawingml/2006/main">
              <a:ext uri="{FF2B5EF4-FFF2-40B4-BE49-F238E27FC236}">
                <a16:creationId xmlns:a16="http://schemas.microsoft.com/office/drawing/2014/main" id="{C13180C6-8727-408D-8F46-7A29F30B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4" name="shutdown-label-2">
            <a:extLst xmlns:a="http://schemas.openxmlformats.org/drawingml/2006/main">
              <a:ext uri="{FF2B5EF4-FFF2-40B4-BE49-F238E27FC236}">
                <a16:creationId xmlns:a16="http://schemas.microsoft.com/office/drawing/2014/main" id="{37ACA1A1-83A8-4E71-8DC7-F76AE571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76525"/>
            <a:ext cx="2457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停止接收新请求</a:t>
            </a:r>
          </a:p>
        </p:txBody>
      </p:sp>
      <p:sp>
        <p:nvSpPr>
          <p:cNvPr id="25" name="shutdown-node-3">
            <a:extLst xmlns:a="http://schemas.openxmlformats.org/drawingml/2006/main">
              <a:ext uri="{FF2B5EF4-FFF2-40B4-BE49-F238E27FC236}">
                <a16:creationId xmlns:a16="http://schemas.microsoft.com/office/drawing/2014/main" id="{3C8CA5CB-DF8C-42D2-A7B0-8E622FE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6" name="shutdown-label-3">
            <a:extLst xmlns:a="http://schemas.openxmlformats.org/drawingml/2006/main">
              <a:ext uri="{FF2B5EF4-FFF2-40B4-BE49-F238E27FC236}">
                <a16:creationId xmlns:a16="http://schemas.microsoft.com/office/drawing/2014/main" id="{3F794396-64C8-4227-A800-6F10EAE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38525"/>
            <a:ext cx="2457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等待进行中任务</a:t>
            </a:r>
          </a:p>
        </p:txBody>
      </p:sp>
      <p:sp>
        <p:nvSpPr>
          <p:cNvPr id="27" name="shutdown-node-4">
            <a:extLst xmlns:a="http://schemas.openxmlformats.org/drawingml/2006/main">
              <a:ext uri="{FF2B5EF4-FFF2-40B4-BE49-F238E27FC236}">
                <a16:creationId xmlns:a16="http://schemas.microsoft.com/office/drawing/2014/main" id="{B8B35BCC-A587-499C-A6C6-AF7F541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8" name="shutdown-label-4">
            <a:extLst xmlns:a="http://schemas.openxmlformats.org/drawingml/2006/main">
              <a:ext uri="{FF2B5EF4-FFF2-40B4-BE49-F238E27FC236}">
                <a16:creationId xmlns:a16="http://schemas.microsoft.com/office/drawing/2014/main" id="{BDF371E6-5EA3-48DE-BA37-79AB0FD2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00525"/>
            <a:ext cx="2457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刷新数据并关闭连接</a:t>
            </a:r>
          </a:p>
        </p:txBody>
      </p:sp>
      <p:sp>
        <p:nvSpPr>
          <p:cNvPr id="29" name="shutdown-node-5">
            <a:extLst xmlns:a="http://schemas.openxmlformats.org/drawingml/2006/main">
              <a:ext uri="{FF2B5EF4-FFF2-40B4-BE49-F238E27FC236}">
                <a16:creationId xmlns:a16="http://schemas.microsoft.com/office/drawing/2014/main" id="{099B9AE4-BCAE-45AA-B099-57BB920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48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30" name="shutdown-label-5">
            <a:extLst xmlns:a="http://schemas.openxmlformats.org/drawingml/2006/main">
              <a:ext uri="{FF2B5EF4-FFF2-40B4-BE49-F238E27FC236}">
                <a16:creationId xmlns:a16="http://schemas.microsoft.com/office/drawing/2014/main" id="{7E900B0C-02E7-4F3D-BBF3-5B4E9720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62525"/>
            <a:ext cx="2457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返回有意义的退出码</a:t>
            </a:r>
          </a:p>
        </p:txBody>
      </p:sp>
      <p:sp>
        <p:nvSpPr>
          <p:cNvPr id="31" name="service-takeaway-accent">
            <a:extLst xmlns:a="http://schemas.openxmlformats.org/drawingml/2006/main">
              <a:ext uri="{FF2B5EF4-FFF2-40B4-BE49-F238E27FC236}">
                <a16:creationId xmlns:a16="http://schemas.microsoft.com/office/drawing/2014/main" id="{8BD2DDCA-DDC0-42A6-9B51-8CA4FA3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rvice-takeaway">
            <a:extLst xmlns:a="http://schemas.openxmlformats.org/drawingml/2006/main">
              <a:ext uri="{FF2B5EF4-FFF2-40B4-BE49-F238E27FC236}">
                <a16:creationId xmlns:a16="http://schemas.microsoft.com/office/drawing/2014/main" id="{6625A16A-3DA6-46B7-A44A-39D3D9E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89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工程交付的是可管理、可观察、可退出、可恢复的服务</a:t>
            </a:r>
          </a:p>
        </p:txBody>
      </p:sp>
    </p:spTree>
    <p:extLst>
      <p:ext uri="{BB962C8B-B14F-4D97-AF65-F5344CB8AC3E}">
        <p14:creationId xmlns:p14="http://schemas.microsoft.com/office/powerpoint/2010/main" val="277374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07-title">
            <a:extLst xmlns:a="http://schemas.openxmlformats.org/drawingml/2006/main">
              <a:ext uri="{FF2B5EF4-FFF2-40B4-BE49-F238E27FC236}">
                <a16:creationId xmlns:a16="http://schemas.microsoft.com/office/drawing/2014/main" id="{123700EF-B309-41CA-BF19-D92ECCE5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先证明用户真的遇到了问题</a:t>
            </a:r>
          </a:p>
        </p:txBody>
      </p:sp>
      <p:sp>
        <p:nvSpPr>
          <p:cNvPr id="2" name="evidence-ladder-heading">
            <a:extLst xmlns:a="http://schemas.openxmlformats.org/drawingml/2006/main">
              <a:ext uri="{FF2B5EF4-FFF2-40B4-BE49-F238E27FC236}">
                <a16:creationId xmlns:a16="http://schemas.microsoft.com/office/drawing/2014/main" id="{FB5ADCC0-C80B-4EAC-ADB8-3909A682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证据从用户影响向责任对象收敛</a:t>
            </a:r>
          </a:p>
        </p:txBody>
      </p:sp>
      <p:sp>
        <p:nvSpPr>
          <p:cNvPr id="3" name="evidence-layer-1">
            <a:extLst xmlns:a="http://schemas.openxmlformats.org/drawingml/2006/main">
              <a:ext uri="{FF2B5EF4-FFF2-40B4-BE49-F238E27FC236}">
                <a16:creationId xmlns:a16="http://schemas.microsoft.com/office/drawing/2014/main" id="{57360831-29CC-4BD8-9EDF-E829CEA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4" name="evidence-layer-title-1">
            <a:extLst xmlns:a="http://schemas.openxmlformats.org/drawingml/2006/main">
              <a:ext uri="{FF2B5EF4-FFF2-40B4-BE49-F238E27FC236}">
                <a16:creationId xmlns:a16="http://schemas.microsoft.com/office/drawing/2014/main" id="{CC065CBA-6E98-4962-AA67-B9F5DDA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用户 / 服务</a:t>
            </a:r>
          </a:p>
        </p:txBody>
      </p:sp>
      <p:sp>
        <p:nvSpPr>
          <p:cNvPr id="5" name="evidence-layer-signals-1">
            <a:extLst xmlns:a="http://schemas.openxmlformats.org/drawingml/2006/main">
              <a:ext uri="{FF2B5EF4-FFF2-40B4-BE49-F238E27FC236}">
                <a16:creationId xmlns:a16="http://schemas.microsoft.com/office/drawing/2014/main" id="{5C988550-BE35-43C9-B7BA-7D88615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426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延迟 · 吞吐量 · 错误率</a:t>
            </a:r>
          </a:p>
        </p:txBody>
      </p:sp>
      <p:sp>
        <p:nvSpPr>
          <p:cNvPr id="6" name="evidence-layer-question-1">
            <a:extLst xmlns:a="http://schemas.openxmlformats.org/drawingml/2006/main">
              <a:ext uri="{FF2B5EF4-FFF2-40B4-BE49-F238E27FC236}">
                <a16:creationId xmlns:a16="http://schemas.microsoft.com/office/drawing/2014/main" id="{FDD7AB8F-D414-4773-9B19-47A60396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611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服务是否真的变慢或不可用？</a:t>
            </a:r>
          </a:p>
        </p:txBody>
      </p:sp>
      <p:sp>
        <p:nvSpPr>
          <p:cNvPr id="7" name="evidence-layer-2">
            <a:extLst xmlns:a="http://schemas.openxmlformats.org/drawingml/2006/main">
              <a:ext uri="{FF2B5EF4-FFF2-40B4-BE49-F238E27FC236}">
                <a16:creationId xmlns:a16="http://schemas.microsoft.com/office/drawing/2014/main" id="{2CE5ECD0-5D7C-4C16-B9B8-17D63E06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6038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8" name="evidence-layer-title-2">
            <a:extLst xmlns:a="http://schemas.openxmlformats.org/drawingml/2006/main">
              <a:ext uri="{FF2B5EF4-FFF2-40B4-BE49-F238E27FC236}">
                <a16:creationId xmlns:a16="http://schemas.microsoft.com/office/drawing/2014/main" id="{73793575-62C7-4CE6-9766-545A2925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系统资源</a:t>
            </a:r>
          </a:p>
        </p:txBody>
      </p:sp>
      <p:sp>
        <p:nvSpPr>
          <p:cNvPr id="9" name="evidence-layer-signals-2">
            <a:extLst xmlns:a="http://schemas.openxmlformats.org/drawingml/2006/main">
              <a:ext uri="{FF2B5EF4-FFF2-40B4-BE49-F238E27FC236}">
                <a16:creationId xmlns:a16="http://schemas.microsoft.com/office/drawing/2014/main" id="{09893BE6-CA36-4386-ADD2-6F8F4C5B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使用率 · 饱和 · 错误</a:t>
            </a:r>
          </a:p>
        </p:txBody>
      </p:sp>
      <p:sp>
        <p:nvSpPr>
          <p:cNvPr id="10" name="evidence-layer-question-2">
            <a:extLst xmlns:a="http://schemas.openxmlformats.org/drawingml/2006/main">
              <a:ext uri="{FF2B5EF4-FFF2-40B4-BE49-F238E27FC236}">
                <a16:creationId xmlns:a16="http://schemas.microsoft.com/office/drawing/2014/main" id="{7845D21D-4E2A-43D1-BF68-1D04373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48075"/>
            <a:ext cx="558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哪类资源可能正在限制服务？</a:t>
            </a:r>
          </a:p>
        </p:txBody>
      </p:sp>
      <p:sp>
        <p:nvSpPr>
          <p:cNvPr id="11" name="evidence-layer-3">
            <a:extLst xmlns:a="http://schemas.openxmlformats.org/drawingml/2006/main">
              <a:ext uri="{FF2B5EF4-FFF2-40B4-BE49-F238E27FC236}">
                <a16:creationId xmlns:a16="http://schemas.microsoft.com/office/drawing/2014/main" id="{5B2C20C9-6182-4877-9A6B-2F3487BD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550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51B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2" name="evidence-layer-title-3">
            <a:extLst xmlns:a="http://schemas.openxmlformats.org/drawingml/2006/main">
              <a:ext uri="{FF2B5EF4-FFF2-40B4-BE49-F238E27FC236}">
                <a16:creationId xmlns:a16="http://schemas.microsoft.com/office/drawing/2014/main" id="{18DAFA81-71AF-42A5-A538-AFEF3C58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38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进程 / 调用</a:t>
            </a:r>
          </a:p>
        </p:txBody>
      </p:sp>
      <p:sp>
        <p:nvSpPr>
          <p:cNvPr id="13" name="evidence-layer-signals-3">
            <a:extLst xmlns:a="http://schemas.openxmlformats.org/drawingml/2006/main">
              <a:ext uri="{FF2B5EF4-FFF2-40B4-BE49-F238E27FC236}">
                <a16:creationId xmlns:a16="http://schemas.microsoft.com/office/drawing/2014/main" id="{676815FA-DF21-4B43-80AE-D3495CF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386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状态 · I/O · 系统调用 · 依赖耗时</a:t>
            </a:r>
          </a:p>
        </p:txBody>
      </p:sp>
      <p:sp>
        <p:nvSpPr>
          <p:cNvPr id="14" name="evidence-layer-question-3">
            <a:extLst xmlns:a="http://schemas.openxmlformats.org/drawingml/2006/main">
              <a:ext uri="{FF2B5EF4-FFF2-40B4-BE49-F238E27FC236}">
                <a16:creationId xmlns:a16="http://schemas.microsoft.com/office/drawing/2014/main" id="{A68B4508-0CC3-4A6F-81FE-13E7D250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910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压力为什么出现，谁在负责？</a:t>
            </a:r>
          </a:p>
        </p:txBody>
      </p:sp>
      <p:sp>
        <p:nvSpPr>
          <p:cNvPr id="15" name="rewrite-heading">
            <a:extLst xmlns:a="http://schemas.openxmlformats.org/drawingml/2006/main">
              <a:ext uri="{FF2B5EF4-FFF2-40B4-BE49-F238E27FC236}">
                <a16:creationId xmlns:a16="http://schemas.microsoft.com/office/drawing/2014/main" id="{E1D8D03D-8829-4014-91F3-1E79E02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57350"/>
            <a:ext cx="3867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把模糊现象改写成可验证问题</a:t>
            </a:r>
          </a:p>
        </p:txBody>
      </p:sp>
      <p:sp>
        <p:nvSpPr>
          <p:cNvPr id="16" name="bad-question">
            <a:extLst xmlns:a="http://schemas.openxmlformats.org/drawingml/2006/main">
              <a:ext uri="{FF2B5EF4-FFF2-40B4-BE49-F238E27FC236}">
                <a16:creationId xmlns:a16="http://schemas.microsoft.com/office/drawing/2014/main" id="{E6A3DF5E-C89C-41B6-B504-192F621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386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“CPU 很高”</a:t>
            </a:r>
          </a:p>
        </p:txBody>
      </p:sp>
      <p:sp>
        <p:nvSpPr>
          <p:cNvPr id="17" name="bad-question-label">
            <a:extLst xmlns:a="http://schemas.openxmlformats.org/drawingml/2006/main">
              <a:ext uri="{FF2B5EF4-FFF2-40B4-BE49-F238E27FC236}">
                <a16:creationId xmlns:a16="http://schemas.microsoft.com/office/drawing/2014/main" id="{0BA25ECD-4D04-4D4C-BEB6-3115F9B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386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717E"/>
                </a:solidFill>
                <a:latin typeface="PingFang SC"/>
                <a:ea typeface="PingFang SC"/>
                <a:cs typeface="PingFang SC"/>
              </a:defRPr>
            </a:pPr>
            <a:r>
              <a:t>不是完整的用户问题</a:t>
            </a:r>
          </a:p>
        </p:txBody>
      </p:sp>
      <p:sp>
        <p:nvSpPr>
          <p:cNvPr id="18" name="rewrite-divider">
            <a:extLst xmlns:a="http://schemas.openxmlformats.org/drawingml/2006/main">
              <a:ext uri="{FF2B5EF4-FFF2-40B4-BE49-F238E27FC236}">
                <a16:creationId xmlns:a16="http://schemas.microsoft.com/office/drawing/2014/main" id="{71823876-914F-46A5-82A6-A7CD165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0047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ood-question">
            <a:extLst xmlns:a="http://schemas.openxmlformats.org/drawingml/2006/main">
              <a:ext uri="{FF2B5EF4-FFF2-40B4-BE49-F238E27FC236}">
                <a16:creationId xmlns:a16="http://schemas.microsoft.com/office/drawing/2014/main" id="{243125D1-5864-45D3-A9F8-E89E580C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867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“相同流量下，接口 p95
从 80 ms 上升到 900 ms”</a:t>
            </a:r>
          </a:p>
        </p:txBody>
      </p:sp>
      <p:sp>
        <p:nvSpPr>
          <p:cNvPr id="20" name="good-question-label">
            <a:extLst xmlns:a="http://schemas.openxmlformats.org/drawingml/2006/main">
              <a:ext uri="{FF2B5EF4-FFF2-40B4-BE49-F238E27FC236}">
                <a16:creationId xmlns:a16="http://schemas.microsoft.com/office/drawing/2014/main" id="{83F5AFB8-482D-49D3-B4C6-BE082BD8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81600"/>
            <a:ext cx="386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才是可以复测的问题描述</a:t>
            </a:r>
          </a:p>
        </p:txBody>
      </p:sp>
      <p:sp>
        <p:nvSpPr>
          <p:cNvPr id="21" name="evidence-takeaway">
            <a:extLst xmlns:a="http://schemas.openxmlformats.org/drawingml/2006/main">
              <a:ext uri="{FF2B5EF4-FFF2-40B4-BE49-F238E27FC236}">
                <a16:creationId xmlns:a16="http://schemas.microsoft.com/office/drawing/2014/main" id="{8FFE6F43-ADFF-44CD-BCAC-BEE5C86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57875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22" name="evidence-takeaway-text">
            <a:extLst xmlns:a="http://schemas.openxmlformats.org/drawingml/2006/main">
              <a:ext uri="{FF2B5EF4-FFF2-40B4-BE49-F238E27FC236}">
                <a16:creationId xmlns:a16="http://schemas.microsoft.com/office/drawing/2014/main" id="{4307C81A-06E5-4840-9C97-65813C7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没有用户指标，就没有验收标准</a:t>
            </a:r>
          </a:p>
        </p:txBody>
      </p:sp>
    </p:spTree>
    <p:extLst>
      <p:ext uri="{BB962C8B-B14F-4D97-AF65-F5344CB8AC3E}">
        <p14:creationId xmlns:p14="http://schemas.microsoft.com/office/powerpoint/2010/main" val="329480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ausal-connector-1">
            <a:extLst xmlns:a="http://schemas.openxmlformats.org/drawingml/2006/main">
              <a:ext uri="{FF2B5EF4-FFF2-40B4-BE49-F238E27FC236}">
                <a16:creationId xmlns:a16="http://schemas.microsoft.com/office/drawing/2014/main" id="{212CDBF2-0AC0-4D91-921A-501B993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146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usal-connector-2">
            <a:extLst xmlns:a="http://schemas.openxmlformats.org/drawingml/2006/main">
              <a:ext uri="{FF2B5EF4-FFF2-40B4-BE49-F238E27FC236}">
                <a16:creationId xmlns:a16="http://schemas.microsoft.com/office/drawing/2014/main" id="{64F73907-44BE-481D-AE4C-50F19E8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usal-connector-3">
            <a:extLst xmlns:a="http://schemas.openxmlformats.org/drawingml/2006/main">
              <a:ext uri="{FF2B5EF4-FFF2-40B4-BE49-F238E27FC236}">
                <a16:creationId xmlns:a16="http://schemas.microsoft.com/office/drawing/2014/main" id="{CA019461-3E92-4A14-A748-A9DAA9EA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ait-branch-spine">
            <a:extLst xmlns:a="http://schemas.openxmlformats.org/drawingml/2006/main">
              <a:ext uri="{FF2B5EF4-FFF2-40B4-BE49-F238E27FC236}">
                <a16:creationId xmlns:a16="http://schemas.microsoft.com/office/drawing/2014/main" id="{4D0DD6E9-6907-4602-A298-7CAA2AE2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872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ait-branch-connector-1">
            <a:extLst xmlns:a="http://schemas.openxmlformats.org/drawingml/2006/main">
              <a:ext uri="{FF2B5EF4-FFF2-40B4-BE49-F238E27FC236}">
                <a16:creationId xmlns:a16="http://schemas.microsoft.com/office/drawing/2014/main" id="{85F5DF5A-2B07-4E1C-B91B-AA7C43BD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ait-branch-connector-2">
            <a:extLst xmlns:a="http://schemas.openxmlformats.org/drawingml/2006/main">
              <a:ext uri="{FF2B5EF4-FFF2-40B4-BE49-F238E27FC236}">
                <a16:creationId xmlns:a16="http://schemas.microsoft.com/office/drawing/2014/main" id="{0BE7C6B0-74CB-412C-A7DB-969027BD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ait-branch-connector-3">
            <a:extLst xmlns:a="http://schemas.openxmlformats.org/drawingml/2006/main">
              <a:ext uri="{FF2B5EF4-FFF2-40B4-BE49-F238E27FC236}">
                <a16:creationId xmlns:a16="http://schemas.microsoft.com/office/drawing/2014/main" id="{513B1BC3-6F64-4DC6-A587-47149B8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ait-branch-connector-4">
            <a:extLst xmlns:a="http://schemas.openxmlformats.org/drawingml/2006/main">
              <a:ext uri="{FF2B5EF4-FFF2-40B4-BE49-F238E27FC236}">
                <a16:creationId xmlns:a16="http://schemas.microsoft.com/office/drawing/2014/main" id="{E34C4AB8-1371-4874-A8DD-28CF9C1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625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08-title">
            <a:extLst xmlns:a="http://schemas.openxmlformats.org/drawingml/2006/main">
              <a:ext uri="{FF2B5EF4-FFF2-40B4-BE49-F238E27FC236}">
                <a16:creationId xmlns:a16="http://schemas.microsoft.com/office/drawing/2014/main" id="{94A8B75F-F623-434B-97D6-77E57E5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性能恶化通常从 </a:t>
            </a:r>
            <a:r>
              <a:rPr sz="3900" b="1">
                <a:solidFill>
                  <a:srgbClr val="FFB454"/>
                </a:solidFill>
                <a:latin typeface="PingFang SC"/>
                <a:ea typeface="PingFang SC"/>
                <a:cs typeface="PingFang SC"/>
              </a:rPr>
              <a:t>排队和等待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 开始</a:t>
            </a:r>
          </a:p>
        </p:txBody>
      </p:sp>
      <p:sp>
        <p:nvSpPr>
          <p:cNvPr id="10" name="causal-node-1">
            <a:extLst xmlns:a="http://schemas.openxmlformats.org/drawingml/2006/main">
              <a:ext uri="{FF2B5EF4-FFF2-40B4-BE49-F238E27FC236}">
                <a16:creationId xmlns:a16="http://schemas.microsoft.com/office/drawing/2014/main" id="{9E48A927-6F08-4196-815A-72D0D7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17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1" name="causal-node-label-1">
            <a:extLst xmlns:a="http://schemas.openxmlformats.org/drawingml/2006/main">
              <a:ext uri="{FF2B5EF4-FFF2-40B4-BE49-F238E27FC236}">
                <a16:creationId xmlns:a16="http://schemas.microsoft.com/office/drawing/2014/main" id="{D6C4E89A-0358-483C-A53A-9A6B6B4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790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负载增长</a:t>
            </a:r>
          </a:p>
        </p:txBody>
      </p:sp>
      <p:sp>
        <p:nvSpPr>
          <p:cNvPr id="12" name="causal-arrow-1">
            <a:extLst xmlns:a="http://schemas.openxmlformats.org/drawingml/2006/main">
              <a:ext uri="{FF2B5EF4-FFF2-40B4-BE49-F238E27FC236}">
                <a16:creationId xmlns:a16="http://schemas.microsoft.com/office/drawing/2014/main" id="{864673D3-2303-4971-AD06-5087139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76475"/>
            <a:ext cx="590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3" name="causal-node-2">
            <a:extLst xmlns:a="http://schemas.openxmlformats.org/drawingml/2006/main">
              <a:ext uri="{FF2B5EF4-FFF2-40B4-BE49-F238E27FC236}">
                <a16:creationId xmlns:a16="http://schemas.microsoft.com/office/drawing/2014/main" id="{A2465780-2D75-465A-BFE8-4EBA2DFA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17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4" name="causal-node-label-2">
            <a:extLst xmlns:a="http://schemas.openxmlformats.org/drawingml/2006/main">
              <a:ext uri="{FF2B5EF4-FFF2-40B4-BE49-F238E27FC236}">
                <a16:creationId xmlns:a16="http://schemas.microsoft.com/office/drawing/2014/main" id="{4BA0BD97-21CA-498F-A8B2-D6664099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1790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资源逼近处理能力</a:t>
            </a:r>
          </a:p>
        </p:txBody>
      </p:sp>
      <p:sp>
        <p:nvSpPr>
          <p:cNvPr id="15" name="causal-arrow-2">
            <a:extLst xmlns:a="http://schemas.openxmlformats.org/drawingml/2006/main">
              <a:ext uri="{FF2B5EF4-FFF2-40B4-BE49-F238E27FC236}">
                <a16:creationId xmlns:a16="http://schemas.microsoft.com/office/drawing/2014/main" id="{B85A1A9C-55A0-4C34-9F0F-7843C3F5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76475"/>
            <a:ext cx="590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6" name="causal-node-3">
            <a:extLst xmlns:a="http://schemas.openxmlformats.org/drawingml/2006/main">
              <a:ext uri="{FF2B5EF4-FFF2-40B4-BE49-F238E27FC236}">
                <a16:creationId xmlns:a16="http://schemas.microsoft.com/office/drawing/2014/main" id="{2F69FA3B-EF64-4C89-B619-E6A2E72F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17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2"/>
          </a:solidFill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17" name="causal-node-label-3">
            <a:extLst xmlns:a="http://schemas.openxmlformats.org/drawingml/2006/main">
              <a:ext uri="{FF2B5EF4-FFF2-40B4-BE49-F238E27FC236}">
                <a16:creationId xmlns:a16="http://schemas.microsoft.com/office/drawing/2014/main" id="{98EC94F7-F94A-4A30-BA96-07585E47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33600"/>
            <a:ext cx="1790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队列、等待或失速增加</a:t>
            </a:r>
          </a:p>
        </p:txBody>
      </p:sp>
      <p:sp>
        <p:nvSpPr>
          <p:cNvPr id="18" name="causal-arrow-3">
            <a:extLst xmlns:a="http://schemas.openxmlformats.org/drawingml/2006/main">
              <a:ext uri="{FF2B5EF4-FFF2-40B4-BE49-F238E27FC236}">
                <a16:creationId xmlns:a16="http://schemas.microsoft.com/office/drawing/2014/main" id="{679A1E6A-7F30-4C3A-BE62-3235A6A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76475"/>
            <a:ext cx="590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9" name="causal-node-4">
            <a:extLst xmlns:a="http://schemas.openxmlformats.org/drawingml/2006/main">
              <a:ext uri="{FF2B5EF4-FFF2-40B4-BE49-F238E27FC236}">
                <a16:creationId xmlns:a16="http://schemas.microsoft.com/office/drawing/2014/main" id="{4EC1E1B2-6F76-4AB7-8511-D9D60C3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2171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0" name="causal-node-label-4">
            <a:extLst xmlns:a="http://schemas.openxmlformats.org/drawingml/2006/main">
              <a:ext uri="{FF2B5EF4-FFF2-40B4-BE49-F238E27FC236}">
                <a16:creationId xmlns:a16="http://schemas.microsoft.com/office/drawing/2014/main" id="{23CECDBB-E6FF-4F62-A946-D63A975F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1790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延迟上升
吞吐下降
错误增加</a:t>
            </a:r>
          </a:p>
        </p:txBody>
      </p:sp>
      <p:sp>
        <p:nvSpPr>
          <p:cNvPr id="21" name="wait-location-heading">
            <a:extLst xmlns:a="http://schemas.openxmlformats.org/drawingml/2006/main">
              <a:ext uri="{FF2B5EF4-FFF2-40B4-BE49-F238E27FC236}">
                <a16:creationId xmlns:a16="http://schemas.microsoft.com/office/drawing/2014/main" id="{0A96C4FA-2055-4093-993E-08F833D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同一个“服务很慢”，等待可能发生在不同位置</a:t>
            </a:r>
          </a:p>
        </p:txBody>
      </p:sp>
      <p:sp>
        <p:nvSpPr>
          <p:cNvPr id="22" name="wait-branch-node-1">
            <a:extLst xmlns:a="http://schemas.openxmlformats.org/drawingml/2006/main">
              <a:ext uri="{FF2B5EF4-FFF2-40B4-BE49-F238E27FC236}">
                <a16:creationId xmlns:a16="http://schemas.microsoft.com/office/drawing/2014/main" id="{676B2CA5-D076-4FCB-AF8A-3AB1780A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3" name="wait-branch-title-1">
            <a:extLst xmlns:a="http://schemas.openxmlformats.org/drawingml/2006/main">
              <a:ext uri="{FF2B5EF4-FFF2-40B4-BE49-F238E27FC236}">
                <a16:creationId xmlns:a16="http://schemas.microsoft.com/office/drawing/2014/main" id="{A6877BC4-F6FC-414D-8C02-A7DB7705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CPU 调度</a:t>
            </a:r>
          </a:p>
        </p:txBody>
      </p:sp>
      <p:sp>
        <p:nvSpPr>
          <p:cNvPr id="24" name="wait-branch-detail-1">
            <a:extLst xmlns:a="http://schemas.openxmlformats.org/drawingml/2006/main">
              <a:ext uri="{FF2B5EF4-FFF2-40B4-BE49-F238E27FC236}">
                <a16:creationId xmlns:a16="http://schemas.microsoft.com/office/drawing/2014/main" id="{76FCB8C0-E5F7-4E4A-BE65-CBC4C9ED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任务等待运行</a:t>
            </a:r>
          </a:p>
        </p:txBody>
      </p:sp>
      <p:sp>
        <p:nvSpPr>
          <p:cNvPr id="25" name="wait-branch-node-2">
            <a:extLst xmlns:a="http://schemas.openxmlformats.org/drawingml/2006/main">
              <a:ext uri="{FF2B5EF4-FFF2-40B4-BE49-F238E27FC236}">
                <a16:creationId xmlns:a16="http://schemas.microsoft.com/office/drawing/2014/main" id="{0EFF9A80-078B-4825-B906-88899AC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6" name="wait-branch-title-2">
            <a:extLst xmlns:a="http://schemas.openxmlformats.org/drawingml/2006/main">
              <a:ext uri="{FF2B5EF4-FFF2-40B4-BE49-F238E27FC236}">
                <a16:creationId xmlns:a16="http://schemas.microsoft.com/office/drawing/2014/main" id="{2CF462EE-9FF2-4099-9591-DCB443A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197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存储 I/O</a:t>
            </a:r>
          </a:p>
        </p:txBody>
      </p:sp>
      <p:sp>
        <p:nvSpPr>
          <p:cNvPr id="27" name="wait-branch-detail-2">
            <a:extLst xmlns:a="http://schemas.openxmlformats.org/drawingml/2006/main">
              <a:ext uri="{FF2B5EF4-FFF2-40B4-BE49-F238E27FC236}">
                <a16:creationId xmlns:a16="http://schemas.microsoft.com/office/drawing/2014/main" id="{EFB6EEEB-5597-46C4-97F7-3CF8413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3880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进程等待完成</a:t>
            </a:r>
          </a:p>
        </p:txBody>
      </p:sp>
      <p:sp>
        <p:nvSpPr>
          <p:cNvPr id="28" name="wait-branch-node-3">
            <a:extLst xmlns:a="http://schemas.openxmlformats.org/drawingml/2006/main">
              <a:ext uri="{FF2B5EF4-FFF2-40B4-BE49-F238E27FC236}">
                <a16:creationId xmlns:a16="http://schemas.microsoft.com/office/drawing/2014/main" id="{7F49F291-63D8-4650-ABFA-7661E25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9" name="wait-branch-title-3">
            <a:extLst xmlns:a="http://schemas.openxmlformats.org/drawingml/2006/main">
              <a:ext uri="{FF2B5EF4-FFF2-40B4-BE49-F238E27FC236}">
                <a16:creationId xmlns:a16="http://schemas.microsoft.com/office/drawing/2014/main" id="{16B9DD8D-F6F8-4620-8B67-F408F145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内存</a:t>
            </a:r>
          </a:p>
        </p:txBody>
      </p:sp>
      <p:sp>
        <p:nvSpPr>
          <p:cNvPr id="30" name="wait-branch-detail-3">
            <a:extLst xmlns:a="http://schemas.openxmlformats.org/drawingml/2006/main">
              <a:ext uri="{FF2B5EF4-FFF2-40B4-BE49-F238E27FC236}">
                <a16:creationId xmlns:a16="http://schemas.microsoft.com/office/drawing/2014/main" id="{0B527C71-0906-48A8-B4EA-544E4CFD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3880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回收、换页或分配失速</a:t>
            </a:r>
          </a:p>
        </p:txBody>
      </p:sp>
      <p:sp>
        <p:nvSpPr>
          <p:cNvPr id="31" name="wait-branch-node-4">
            <a:extLst xmlns:a="http://schemas.openxmlformats.org/drawingml/2006/main">
              <a:ext uri="{FF2B5EF4-FFF2-40B4-BE49-F238E27FC236}">
                <a16:creationId xmlns:a16="http://schemas.microsoft.com/office/drawing/2014/main" id="{444F8C56-6A78-4C7D-A5A5-3915B07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32" name="wait-branch-title-4">
            <a:extLst xmlns:a="http://schemas.openxmlformats.org/drawingml/2006/main">
              <a:ext uri="{FF2B5EF4-FFF2-40B4-BE49-F238E27FC236}">
                <a16:creationId xmlns:a16="http://schemas.microsoft.com/office/drawing/2014/main" id="{75DA0EC3-9CFD-46AB-A9F0-D855C63C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197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网络 / 依赖</a:t>
            </a:r>
          </a:p>
        </p:txBody>
      </p:sp>
      <p:sp>
        <p:nvSpPr>
          <p:cNvPr id="33" name="wait-branch-detail-4">
            <a:extLst xmlns:a="http://schemas.openxmlformats.org/drawingml/2006/main">
              <a:ext uri="{FF2B5EF4-FFF2-40B4-BE49-F238E27FC236}">
                <a16:creationId xmlns:a16="http://schemas.microsoft.com/office/drawing/2014/main" id="{BA97E9A8-505D-4E89-87B4-D68DDDCD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3880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建连、重传或响应等待</a:t>
            </a:r>
          </a:p>
        </p:txBody>
      </p:sp>
      <p:sp>
        <p:nvSpPr>
          <p:cNvPr id="34" name="wait-takeaway">
            <a:extLst xmlns:a="http://schemas.openxmlformats.org/drawingml/2006/main">
              <a:ext uri="{FF2B5EF4-FFF2-40B4-BE49-F238E27FC236}">
                <a16:creationId xmlns:a16="http://schemas.microsoft.com/office/drawing/2014/main" id="{D562B5CF-A0B0-44A7-A8AB-2EBC7985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1125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不要先猜资源，先找工作卡在哪里</a:t>
            </a:r>
          </a:p>
        </p:txBody>
      </p:sp>
    </p:spTree>
    <p:extLst>
      <p:ext uri="{BB962C8B-B14F-4D97-AF65-F5344CB8AC3E}">
        <p14:creationId xmlns:p14="http://schemas.microsoft.com/office/powerpoint/2010/main" val="358328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09-title">
            <a:extLst xmlns:a="http://schemas.openxmlformats.org/drawingml/2006/main">
              <a:ext uri="{FF2B5EF4-FFF2-40B4-BE49-F238E27FC236}">
                <a16:creationId xmlns:a16="http://schemas.microsoft.com/office/drawing/2014/main" id="{10C05A97-1836-4A41-8FEC-8FE7C2A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Load 只能提示任务压力</a:t>
            </a: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，不能告诉你根因</a:t>
            </a:r>
          </a:p>
        </p:txBody>
      </p:sp>
      <p:sp>
        <p:nvSpPr>
          <p:cNvPr id="2" name="load-metric-surface">
            <a:extLst xmlns:a="http://schemas.openxmlformats.org/drawingml/2006/main">
              <a:ext uri="{FF2B5EF4-FFF2-40B4-BE49-F238E27FC236}">
                <a16:creationId xmlns:a16="http://schemas.microsoft.com/office/drawing/2014/main" id="{61F1CD7C-EBD2-4367-A049-534B54A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42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" name="load-machine">
            <a:extLst xmlns:a="http://schemas.openxmlformats.org/drawingml/2006/main">
              <a:ext uri="{FF2B5EF4-FFF2-40B4-BE49-F238E27FC236}">
                <a16:creationId xmlns:a16="http://schemas.microsoft.com/office/drawing/2014/main" id="{32A26457-1C66-4E29-B7DA-60AB28A3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8 核机器</a:t>
            </a:r>
          </a:p>
        </p:txBody>
      </p:sp>
      <p:sp>
        <p:nvSpPr>
          <p:cNvPr id="4" name="load-value">
            <a:extLst xmlns:a="http://schemas.openxmlformats.org/drawingml/2006/main">
              <a:ext uri="{FF2B5EF4-FFF2-40B4-BE49-F238E27FC236}">
                <a16:creationId xmlns:a16="http://schemas.microsoft.com/office/drawing/2014/main" id="{931602BB-3A25-4631-AC29-EB5207D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194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Load 15</a:t>
            </a:r>
          </a:p>
        </p:txBody>
      </p:sp>
      <p:sp>
        <p:nvSpPr>
          <p:cNvPr id="5" name="load-not-equal">
            <a:extLst xmlns:a="http://schemas.openxmlformats.org/drawingml/2006/main">
              <a:ext uri="{FF2B5EF4-FFF2-40B4-BE49-F238E27FC236}">
                <a16:creationId xmlns:a16="http://schemas.microsoft.com/office/drawing/2014/main" id="{A329DD1F-FF39-496F-BA09-4F297E3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66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≠</a:t>
            </a:r>
          </a:p>
        </p:txBody>
      </p:sp>
      <p:sp>
        <p:nvSpPr>
          <p:cNvPr id="6" name="load-not-conclusion">
            <a:extLst xmlns:a="http://schemas.openxmlformats.org/drawingml/2006/main">
              <a:ext uri="{FF2B5EF4-FFF2-40B4-BE49-F238E27FC236}">
                <a16:creationId xmlns:a16="http://schemas.microsoft.com/office/drawing/2014/main" id="{F97610A3-0E9B-4BBE-B8D8-88A1CE4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2152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CPU 已满</a:t>
            </a:r>
          </a:p>
        </p:txBody>
      </p:sp>
      <p:sp>
        <p:nvSpPr>
          <p:cNvPr id="7" name="load-context">
            <a:extLst xmlns:a="http://schemas.openxmlformats.org/drawingml/2006/main">
              <a:ext uri="{FF2B5EF4-FFF2-40B4-BE49-F238E27FC236}">
                <a16:creationId xmlns:a16="http://schemas.microsoft.com/office/drawing/2014/main" id="{D7E641CD-AEDF-488B-BC7A-EEAEA904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19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必须结合 CPU 数、用户指标、
进程状态和子系统证据</a:t>
            </a:r>
          </a:p>
        </p:txBody>
      </p:sp>
      <p:sp>
        <p:nvSpPr>
          <p:cNvPr id="8" name="joint-heading">
            <a:extLst xmlns:a="http://schemas.openxmlformats.org/drawingml/2006/main">
              <a:ext uri="{FF2B5EF4-FFF2-40B4-BE49-F238E27FC236}">
                <a16:creationId xmlns:a16="http://schemas.microsoft.com/office/drawing/2014/main" id="{EB5F0DE6-3D4C-4FDB-A089-26CA1A6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708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相同的高 Load，可以指向不同方向</a:t>
            </a:r>
          </a:p>
        </p:txBody>
      </p:sp>
      <p:sp>
        <p:nvSpPr>
          <p:cNvPr id="9" name="load-scenario-rule-1">
            <a:extLst xmlns:a="http://schemas.openxmlformats.org/drawingml/2006/main">
              <a:ext uri="{FF2B5EF4-FFF2-40B4-BE49-F238E27FC236}">
                <a16:creationId xmlns:a16="http://schemas.microsoft.com/office/drawing/2014/main" id="{11F258FB-1691-4E90-A397-8387865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708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ad-scenario-index-1">
            <a:extLst xmlns:a="http://schemas.openxmlformats.org/drawingml/2006/main">
              <a:ext uri="{FF2B5EF4-FFF2-40B4-BE49-F238E27FC236}">
                <a16:creationId xmlns:a16="http://schemas.microsoft.com/office/drawing/2014/main" id="{05109878-146D-4727-9C4D-451CAA8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1" name="load-scenario-signals-1">
            <a:extLst xmlns:a="http://schemas.openxmlformats.org/drawingml/2006/main">
              <a:ext uri="{FF2B5EF4-FFF2-40B4-BE49-F238E27FC236}">
                <a16:creationId xmlns:a16="http://schemas.microsoft.com/office/drawing/2014/main" id="{338B93C4-63FE-4E04-A169-8BC56CC1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19300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高 Load  +  CPU 接近饱和 · 运行队列增长</a:t>
            </a:r>
          </a:p>
        </p:txBody>
      </p:sp>
      <p:sp>
        <p:nvSpPr>
          <p:cNvPr id="12" name="load-scenario-direction-1">
            <a:extLst xmlns:a="http://schemas.openxmlformats.org/drawingml/2006/main">
              <a:ext uri="{FF2B5EF4-FFF2-40B4-BE49-F238E27FC236}">
                <a16:creationId xmlns:a16="http://schemas.microsoft.com/office/drawing/2014/main" id="{D8E2A4F3-156B-4F93-9629-78422F8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更值得验证：计算或调度压力</a:t>
            </a:r>
          </a:p>
        </p:txBody>
      </p:sp>
      <p:sp>
        <p:nvSpPr>
          <p:cNvPr id="13" name="load-scenario-rule-2">
            <a:extLst xmlns:a="http://schemas.openxmlformats.org/drawingml/2006/main">
              <a:ext uri="{FF2B5EF4-FFF2-40B4-BE49-F238E27FC236}">
                <a16:creationId xmlns:a16="http://schemas.microsoft.com/office/drawing/2014/main" id="{2083A39C-0CAE-4311-AD02-C88FA844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71975"/>
            <a:ext cx="708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ad-scenario-index-2">
            <a:extLst xmlns:a="http://schemas.openxmlformats.org/drawingml/2006/main">
              <a:ext uri="{FF2B5EF4-FFF2-40B4-BE49-F238E27FC236}">
                <a16:creationId xmlns:a16="http://schemas.microsoft.com/office/drawing/2014/main" id="{D193A242-8601-467F-8CD0-A164E04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load-scenario-signals-2">
            <a:extLst xmlns:a="http://schemas.openxmlformats.org/drawingml/2006/main">
              <a:ext uri="{FF2B5EF4-FFF2-40B4-BE49-F238E27FC236}">
                <a16:creationId xmlns:a16="http://schemas.microsoft.com/office/drawing/2014/main" id="{DB66D5B0-2F5F-4B3F-B527-EA2D99E9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高 Load  +  长期 D 状态 · I/O 等待增长</a:t>
            </a:r>
          </a:p>
        </p:txBody>
      </p:sp>
      <p:sp>
        <p:nvSpPr>
          <p:cNvPr id="16" name="load-scenario-direction-2">
            <a:extLst xmlns:a="http://schemas.openxmlformats.org/drawingml/2006/main">
              <a:ext uri="{FF2B5EF4-FFF2-40B4-BE49-F238E27FC236}">
                <a16:creationId xmlns:a16="http://schemas.microsoft.com/office/drawing/2014/main" id="{12B015BB-E421-4BE3-B91D-91B03381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38575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更值得验证：I/O 路径压力</a:t>
            </a:r>
          </a:p>
        </p:txBody>
      </p:sp>
      <p:sp>
        <p:nvSpPr>
          <p:cNvPr id="17" name="load-scenario-rule-3">
            <a:extLst xmlns:a="http://schemas.openxmlformats.org/drawingml/2006/main">
              <a:ext uri="{FF2B5EF4-FFF2-40B4-BE49-F238E27FC236}">
                <a16:creationId xmlns:a16="http://schemas.microsoft.com/office/drawing/2014/main" id="{53179AF6-A9AC-4D9E-BACB-0277F1DA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34050"/>
            <a:ext cx="708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ad-scenario-index-3">
            <a:extLst xmlns:a="http://schemas.openxmlformats.org/drawingml/2006/main">
              <a:ext uri="{FF2B5EF4-FFF2-40B4-BE49-F238E27FC236}">
                <a16:creationId xmlns:a16="http://schemas.microsoft.com/office/drawing/2014/main" id="{B967B57D-922F-42CF-8D9D-661F0AA6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4345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9" name="load-scenario-signals-3">
            <a:extLst xmlns:a="http://schemas.openxmlformats.org/drawingml/2006/main">
              <a:ext uri="{FF2B5EF4-FFF2-40B4-BE49-F238E27FC236}">
                <a16:creationId xmlns:a16="http://schemas.microsoft.com/office/drawing/2014/main" id="{A4FA0094-1FF5-42D4-B91B-B65487EE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43450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高 Load  +  延迟和错误稳定</a:t>
            </a:r>
          </a:p>
        </p:txBody>
      </p:sp>
      <p:sp>
        <p:nvSpPr>
          <p:cNvPr id="20" name="load-scenario-direction-3">
            <a:extLst xmlns:a="http://schemas.openxmlformats.org/drawingml/2006/main">
              <a:ext uri="{FF2B5EF4-FFF2-40B4-BE49-F238E27FC236}">
                <a16:creationId xmlns:a16="http://schemas.microsoft.com/office/drawing/2014/main" id="{5900CBFA-ECE4-4E2D-BA64-256F296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00650"/>
            <a:ext cx="638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更值得验证：短期波动，继续观察趋势</a:t>
            </a:r>
          </a:p>
        </p:txBody>
      </p:sp>
      <p:sp>
        <p:nvSpPr>
          <p:cNvPr id="21" name="load-takeaway-accent">
            <a:extLst xmlns:a="http://schemas.openxmlformats.org/drawingml/2006/main">
              <a:ext uri="{FF2B5EF4-FFF2-40B4-BE49-F238E27FC236}">
                <a16:creationId xmlns:a16="http://schemas.microsoft.com/office/drawing/2014/main" id="{0460B8C9-611E-427C-BC16-A966E52E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29325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ad-takeaway">
            <a:extLst xmlns:a="http://schemas.openxmlformats.org/drawingml/2006/main">
              <a:ext uri="{FF2B5EF4-FFF2-40B4-BE49-F238E27FC236}">
                <a16:creationId xmlns:a16="http://schemas.microsoft.com/office/drawing/2014/main" id="{2AADAF2B-9A3A-48F1-9980-1D0A98B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81700"/>
            <a:ext cx="685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Load 是调查入口，不是问题结论</a:t>
            </a:r>
          </a:p>
        </p:txBody>
      </p:sp>
    </p:spTree>
    <p:extLst>
      <p:ext uri="{BB962C8B-B14F-4D97-AF65-F5344CB8AC3E}">
        <p14:creationId xmlns:p14="http://schemas.microsoft.com/office/powerpoint/2010/main" val="10484931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08377B9-BAA6-40AC-BD78-7F34E80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第一轮证据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：先把影响和现象分开</a:t>
            </a:r>
          </a:p>
        </p:txBody>
      </p:sp>
      <p:sp>
        <p:nvSpPr>
          <p:cNvPr id="2" name="evidence-timeline">
            <a:extLst xmlns:a="http://schemas.openxmlformats.org/drawingml/2006/main">
              <a:ext uri="{FF2B5EF4-FFF2-40B4-BE49-F238E27FC236}">
                <a16:creationId xmlns:a16="http://schemas.microsoft.com/office/drawing/2014/main" id="{40C073B3-7993-4824-A27B-046558D1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课堂模拟数据  ·  8 核机器  ·  异常从 14:00 开始</a:t>
            </a:r>
          </a:p>
        </p:txBody>
      </p:sp>
      <p:sp>
        <p:nvSpPr>
          <p:cNvPr id="3" name="user-signal-panel">
            <a:extLst xmlns:a="http://schemas.openxmlformats.org/drawingml/2006/main">
              <a:ext uri="{FF2B5EF4-FFF2-40B4-BE49-F238E27FC236}">
                <a16:creationId xmlns:a16="http://schemas.microsoft.com/office/drawing/2014/main" id="{4E371314-948B-4D88-82CF-1D70408D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57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4" name="system-signal-panel">
            <a:extLst xmlns:a="http://schemas.openxmlformats.org/drawingml/2006/main">
              <a:ext uri="{FF2B5EF4-FFF2-40B4-BE49-F238E27FC236}">
                <a16:creationId xmlns:a16="http://schemas.microsoft.com/office/drawing/2014/main" id="{2EAFFBD7-4E2A-4E04-97EE-F9FD26DB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257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5" name="user-signal-heading">
            <a:extLst xmlns:a="http://schemas.openxmlformats.org/drawingml/2006/main">
              <a:ext uri="{FF2B5EF4-FFF2-40B4-BE49-F238E27FC236}">
                <a16:creationId xmlns:a16="http://schemas.microsoft.com/office/drawing/2014/main" id="{23F830EB-0131-4B3F-AB62-86D492A3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用户侧信号</a:t>
            </a:r>
          </a:p>
        </p:txBody>
      </p:sp>
      <p:sp>
        <p:nvSpPr>
          <p:cNvPr id="6" name="system-signal-heading">
            <a:extLst xmlns:a="http://schemas.openxmlformats.org/drawingml/2006/main">
              <a:ext uri="{FF2B5EF4-FFF2-40B4-BE49-F238E27FC236}">
                <a16:creationId xmlns:a16="http://schemas.microsoft.com/office/drawing/2014/main" id="{90D9754C-99B4-435B-B007-5859E08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系统侧信号</a:t>
            </a:r>
          </a:p>
        </p:txBody>
      </p:sp>
      <p:sp>
        <p:nvSpPr>
          <p:cNvPr id="7" name="user-signal-rule-0">
            <a:extLst xmlns:a="http://schemas.openxmlformats.org/drawingml/2006/main">
              <a:ext uri="{FF2B5EF4-FFF2-40B4-BE49-F238E27FC236}">
                <a16:creationId xmlns:a16="http://schemas.microsoft.com/office/drawing/2014/main" id="{A3E10794-AB91-4E5E-82EB-6FE330F0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ser-signal-label-0">
            <a:extLst xmlns:a="http://schemas.openxmlformats.org/drawingml/2006/main">
              <a:ext uri="{FF2B5EF4-FFF2-40B4-BE49-F238E27FC236}">
                <a16:creationId xmlns:a16="http://schemas.microsoft.com/office/drawing/2014/main" id="{9DC17873-CEEE-4F52-AA5D-A4BC3EF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p95 延迟</a:t>
            </a:r>
          </a:p>
        </p:txBody>
      </p:sp>
      <p:sp>
        <p:nvSpPr>
          <p:cNvPr id="9" name="user-signal-value-0">
            <a:extLst xmlns:a="http://schemas.openxmlformats.org/drawingml/2006/main">
              <a:ext uri="{FF2B5EF4-FFF2-40B4-BE49-F238E27FC236}">
                <a16:creationId xmlns:a16="http://schemas.microsoft.com/office/drawing/2014/main" id="{5CCA00BA-3DC1-4449-8536-64A235A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2628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80 → 900 ms</a:t>
            </a:r>
          </a:p>
        </p:txBody>
      </p:sp>
      <p:sp>
        <p:nvSpPr>
          <p:cNvPr id="10" name="user-signal-rule-1">
            <a:extLst xmlns:a="http://schemas.openxmlformats.org/drawingml/2006/main">
              <a:ext uri="{FF2B5EF4-FFF2-40B4-BE49-F238E27FC236}">
                <a16:creationId xmlns:a16="http://schemas.microsoft.com/office/drawing/2014/main" id="{8539E324-BF32-4B21-AF43-70052F32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r-signal-label-1">
            <a:extLst xmlns:a="http://schemas.openxmlformats.org/drawingml/2006/main">
              <a:ext uri="{FF2B5EF4-FFF2-40B4-BE49-F238E27FC236}">
                <a16:creationId xmlns:a16="http://schemas.microsoft.com/office/drawing/2014/main" id="{084CCA73-9340-4ABF-BBDC-F15ACE5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吞吐量</a:t>
            </a:r>
          </a:p>
        </p:txBody>
      </p:sp>
      <p:sp>
        <p:nvSpPr>
          <p:cNvPr id="12" name="user-signal-value-1">
            <a:extLst xmlns:a="http://schemas.openxmlformats.org/drawingml/2006/main">
              <a:ext uri="{FF2B5EF4-FFF2-40B4-BE49-F238E27FC236}">
                <a16:creationId xmlns:a16="http://schemas.microsoft.com/office/drawing/2014/main" id="{5D6984B0-57BA-4346-9B51-BA92286D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2628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下降 35%</a:t>
            </a:r>
          </a:p>
        </p:txBody>
      </p:sp>
      <p:sp>
        <p:nvSpPr>
          <p:cNvPr id="13" name="user-signal-rule-2">
            <a:extLst xmlns:a="http://schemas.openxmlformats.org/drawingml/2006/main">
              <a:ext uri="{FF2B5EF4-FFF2-40B4-BE49-F238E27FC236}">
                <a16:creationId xmlns:a16="http://schemas.microsoft.com/office/drawing/2014/main" id="{3CED310E-6793-47BA-8BBB-B514E01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ser-signal-label-2">
            <a:extLst xmlns:a="http://schemas.openxmlformats.org/drawingml/2006/main">
              <a:ext uri="{FF2B5EF4-FFF2-40B4-BE49-F238E27FC236}">
                <a16:creationId xmlns:a16="http://schemas.microsoft.com/office/drawing/2014/main" id="{96A15F9D-1226-4AF9-A662-4E0FD773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错误率</a:t>
            </a:r>
          </a:p>
        </p:txBody>
      </p:sp>
      <p:sp>
        <p:nvSpPr>
          <p:cNvPr id="15" name="user-signal-value-2">
            <a:extLst xmlns:a="http://schemas.openxmlformats.org/drawingml/2006/main">
              <a:ext uri="{FF2B5EF4-FFF2-40B4-BE49-F238E27FC236}">
                <a16:creationId xmlns:a16="http://schemas.microsoft.com/office/drawing/2014/main" id="{4C7DCF0A-21F9-440B-8FE9-429F956D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2628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0.2% → 6.4%</a:t>
            </a:r>
          </a:p>
        </p:txBody>
      </p:sp>
      <p:sp>
        <p:nvSpPr>
          <p:cNvPr id="16" name="system-signal-rule-0">
            <a:extLst xmlns:a="http://schemas.openxmlformats.org/drawingml/2006/main">
              <a:ext uri="{FF2B5EF4-FFF2-40B4-BE49-F238E27FC236}">
                <a16:creationId xmlns:a16="http://schemas.microsoft.com/office/drawing/2014/main" id="{12008603-6578-4225-90E5-16D3AF0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ystem-signal-label-0">
            <a:extLst xmlns:a="http://schemas.openxmlformats.org/drawingml/2006/main">
              <a:ext uri="{FF2B5EF4-FFF2-40B4-BE49-F238E27FC236}">
                <a16:creationId xmlns:a16="http://schemas.microsoft.com/office/drawing/2014/main" id="{A92E6446-083A-40D8-943C-E0DCABD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CPU user + system</a:t>
            </a:r>
          </a:p>
        </p:txBody>
      </p:sp>
      <p:sp>
        <p:nvSpPr>
          <p:cNvPr id="18" name="system-signal-value-0">
            <a:extLst xmlns:a="http://schemas.openxmlformats.org/drawingml/2006/main">
              <a:ext uri="{FF2B5EF4-FFF2-40B4-BE49-F238E27FC236}">
                <a16:creationId xmlns:a16="http://schemas.microsoft.com/office/drawing/2014/main" id="{FC356012-9377-4979-9799-BE5F1E3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42%</a:t>
            </a:r>
          </a:p>
        </p:txBody>
      </p:sp>
      <p:sp>
        <p:nvSpPr>
          <p:cNvPr id="19" name="system-signal-rule-1">
            <a:extLst xmlns:a="http://schemas.openxmlformats.org/drawingml/2006/main">
              <a:ext uri="{FF2B5EF4-FFF2-40B4-BE49-F238E27FC236}">
                <a16:creationId xmlns:a16="http://schemas.microsoft.com/office/drawing/2014/main" id="{F315359D-E7BA-45D1-A1D6-4C8C4DB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ystem-signal-label-1">
            <a:extLst xmlns:a="http://schemas.openxmlformats.org/drawingml/2006/main">
              <a:ext uri="{FF2B5EF4-FFF2-40B4-BE49-F238E27FC236}">
                <a16:creationId xmlns:a16="http://schemas.microsoft.com/office/drawing/2014/main" id="{C32D2604-3653-41F0-9FEA-04509539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Load Average</a:t>
            </a:r>
          </a:p>
        </p:txBody>
      </p:sp>
      <p:sp>
        <p:nvSpPr>
          <p:cNvPr id="21" name="system-signal-value-1">
            <a:extLst xmlns:a="http://schemas.openxmlformats.org/drawingml/2006/main">
              <a:ext uri="{FF2B5EF4-FFF2-40B4-BE49-F238E27FC236}">
                <a16:creationId xmlns:a16="http://schemas.microsoft.com/office/drawing/2014/main" id="{0077060C-FC61-4AE8-A853-26071DA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2" name="evidence-question-heading">
            <a:extLst xmlns:a="http://schemas.openxmlformats.org/drawingml/2006/main">
              <a:ext uri="{FF2B5EF4-FFF2-40B4-BE49-F238E27FC236}">
                <a16:creationId xmlns:a16="http://schemas.microsoft.com/office/drawing/2014/main" id="{A4060EB9-3B4F-449C-B7AD-AD22444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现在只问三个问题</a:t>
            </a:r>
          </a:p>
        </p:txBody>
      </p:sp>
      <p:sp>
        <p:nvSpPr>
          <p:cNvPr id="23" name="evidence-question-index-1">
            <a:extLst xmlns:a="http://schemas.openxmlformats.org/drawingml/2006/main">
              <a:ext uri="{FF2B5EF4-FFF2-40B4-BE49-F238E27FC236}">
                <a16:creationId xmlns:a16="http://schemas.microsoft.com/office/drawing/2014/main" id="{D948B6DE-CBCA-48CA-BB1C-83EDAE5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4" name="evidence-question-1">
            <a:extLst xmlns:a="http://schemas.openxmlformats.org/drawingml/2006/main">
              <a:ext uri="{FF2B5EF4-FFF2-40B4-BE49-F238E27FC236}">
                <a16:creationId xmlns:a16="http://schemas.microsoft.com/office/drawing/2014/main" id="{3E077332-8F14-4657-B4C5-6A17CBB2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10496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哪些数字直接证明了用户影响？</a:t>
            </a:r>
          </a:p>
        </p:txBody>
      </p:sp>
      <p:sp>
        <p:nvSpPr>
          <p:cNvPr id="25" name="evidence-question-index-2">
            <a:extLst xmlns:a="http://schemas.openxmlformats.org/drawingml/2006/main">
              <a:ext uri="{FF2B5EF4-FFF2-40B4-BE49-F238E27FC236}">
                <a16:creationId xmlns:a16="http://schemas.microsoft.com/office/drawing/2014/main" id="{D411A129-17E4-41E7-BCB2-10B68D3B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6" name="evidence-question-2">
            <a:extLst xmlns:a="http://schemas.openxmlformats.org/drawingml/2006/main">
              <a:ext uri="{FF2B5EF4-FFF2-40B4-BE49-F238E27FC236}">
                <a16:creationId xmlns:a16="http://schemas.microsoft.com/office/drawing/2014/main" id="{C58E225E-80BC-4CCA-94CC-FBCE984B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14975"/>
            <a:ext cx="10496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哪些数字只是系统现象？</a:t>
            </a:r>
          </a:p>
        </p:txBody>
      </p:sp>
      <p:sp>
        <p:nvSpPr>
          <p:cNvPr id="27" name="evidence-question-index-3">
            <a:extLst xmlns:a="http://schemas.openxmlformats.org/drawingml/2006/main">
              <a:ext uri="{FF2B5EF4-FFF2-40B4-BE49-F238E27FC236}">
                <a16:creationId xmlns:a16="http://schemas.microsoft.com/office/drawing/2014/main" id="{0AC15AE2-6234-4374-ABB3-8775D46A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8" name="evidence-question-3">
            <a:extLst xmlns:a="http://schemas.openxmlformats.org/drawingml/2006/main">
              <a:ext uri="{FF2B5EF4-FFF2-40B4-BE49-F238E27FC236}">
                <a16:creationId xmlns:a16="http://schemas.microsoft.com/office/drawing/2014/main" id="{82084CB3-0ED1-486F-B529-BE0DC98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19800"/>
            <a:ext cx="10496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下一步要区分：任务究竟在等什么？</a:t>
            </a:r>
          </a:p>
        </p:txBody>
      </p:sp>
    </p:spTree>
    <p:extLst>
      <p:ext uri="{BB962C8B-B14F-4D97-AF65-F5344CB8AC3E}">
        <p14:creationId xmlns:p14="http://schemas.microsoft.com/office/powerpoint/2010/main" val="588611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929C775A-D55F-47C7-8081-D4169813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第二轮证据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假设收敛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，但不要越界</a:t>
            </a:r>
          </a:p>
        </p:txBody>
      </p:sp>
      <p:sp>
        <p:nvSpPr>
          <p:cNvPr id="2" name="runtime-map-label">
            <a:extLst xmlns:a="http://schemas.openxmlformats.org/drawingml/2006/main">
              <a:ext uri="{FF2B5EF4-FFF2-40B4-BE49-F238E27FC236}">
                <a16:creationId xmlns:a16="http://schemas.microsoft.com/office/drawing/2014/main" id="{BFDE35C4-5BA4-486D-8201-81FBD862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复用运行时地图</a:t>
            </a:r>
          </a:p>
        </p:txBody>
      </p:sp>
      <p:sp>
        <p:nvSpPr>
          <p:cNvPr id="3" name="runtime-path-node-1">
            <a:extLst xmlns:a="http://schemas.openxmlformats.org/drawingml/2006/main">
              <a:ext uri="{FF2B5EF4-FFF2-40B4-BE49-F238E27FC236}">
                <a16:creationId xmlns:a16="http://schemas.microsoft.com/office/drawing/2014/main" id="{F58E80D2-C662-4B97-AC2B-B260FEE0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3810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4" name="runtime-path-label-1">
            <a:extLst xmlns:a="http://schemas.openxmlformats.org/drawingml/2006/main">
              <a:ext uri="{FF2B5EF4-FFF2-40B4-BE49-F238E27FC236}">
                <a16:creationId xmlns:a16="http://schemas.microsoft.com/office/drawing/2014/main" id="{384FEA9B-6E9C-4461-B6F3-13FAA89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47875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服务进程</a:t>
            </a:r>
          </a:p>
        </p:txBody>
      </p:sp>
      <p:sp>
        <p:nvSpPr>
          <p:cNvPr id="5" name="runtime-path-link-1">
            <a:extLst xmlns:a="http://schemas.openxmlformats.org/drawingml/2006/main">
              <a:ext uri="{FF2B5EF4-FFF2-40B4-BE49-F238E27FC236}">
                <a16:creationId xmlns:a16="http://schemas.microsoft.com/office/drawing/2014/main" id="{CD4A4A3C-3659-4FC8-99ED-8EF75832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ntime-path-node-2">
            <a:extLst xmlns:a="http://schemas.openxmlformats.org/drawingml/2006/main">
              <a:ext uri="{FF2B5EF4-FFF2-40B4-BE49-F238E27FC236}">
                <a16:creationId xmlns:a16="http://schemas.microsoft.com/office/drawing/2014/main" id="{E2630128-980F-43EF-861D-D575D90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810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7" name="runtime-path-label-2">
            <a:extLst xmlns:a="http://schemas.openxmlformats.org/drawingml/2006/main">
              <a:ext uri="{FF2B5EF4-FFF2-40B4-BE49-F238E27FC236}">
                <a16:creationId xmlns:a16="http://schemas.microsoft.com/office/drawing/2014/main" id="{58471ACC-D9E0-4C5A-961C-91594D32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系统调用</a:t>
            </a:r>
          </a:p>
        </p:txBody>
      </p:sp>
      <p:sp>
        <p:nvSpPr>
          <p:cNvPr id="8" name="runtime-path-link-2">
            <a:extLst xmlns:a="http://schemas.openxmlformats.org/drawingml/2006/main">
              <a:ext uri="{FF2B5EF4-FFF2-40B4-BE49-F238E27FC236}">
                <a16:creationId xmlns:a16="http://schemas.microsoft.com/office/drawing/2014/main" id="{B54BA5E9-4260-40A6-9E08-8E31A6F8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ntime-path-node-3">
            <a:extLst xmlns:a="http://schemas.openxmlformats.org/drawingml/2006/main">
              <a:ext uri="{FF2B5EF4-FFF2-40B4-BE49-F238E27FC236}">
                <a16:creationId xmlns:a16="http://schemas.microsoft.com/office/drawing/2014/main" id="{FE2CE35F-B064-4F49-9229-549B49D8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810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0" name="runtime-path-label-3">
            <a:extLst xmlns:a="http://schemas.openxmlformats.org/drawingml/2006/main">
              <a:ext uri="{FF2B5EF4-FFF2-40B4-BE49-F238E27FC236}">
                <a16:creationId xmlns:a16="http://schemas.microsoft.com/office/drawing/2014/main" id="{CA2C03F1-F6B9-430B-B983-4AB87B2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存储路径</a:t>
            </a:r>
          </a:p>
        </p:txBody>
      </p:sp>
      <p:sp>
        <p:nvSpPr>
          <p:cNvPr id="11" name="runtime-path-link-end">
            <a:extLst xmlns:a="http://schemas.openxmlformats.org/drawingml/2006/main">
              <a:ext uri="{FF2B5EF4-FFF2-40B4-BE49-F238E27FC236}">
                <a16:creationId xmlns:a16="http://schemas.microsoft.com/office/drawing/2014/main" id="{21CE3129-8BFB-49CC-8FE8-0F835EE1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runtime-path-arrow-1">
            <a:extLst xmlns:a="http://schemas.openxmlformats.org/drawingml/2006/main">
              <a:ext uri="{FF2B5EF4-FFF2-40B4-BE49-F238E27FC236}">
                <a16:creationId xmlns:a16="http://schemas.microsoft.com/office/drawing/2014/main" id="{EE6CB294-C7A4-4166-B1A7-03F4C927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289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↓</a:t>
            </a:r>
          </a:p>
        </p:txBody>
      </p:sp>
      <p:sp>
        <p:nvSpPr>
          <p:cNvPr id="13" name="runtime-path-arrow-2">
            <a:extLst xmlns:a="http://schemas.openxmlformats.org/drawingml/2006/main">
              <a:ext uri="{FF2B5EF4-FFF2-40B4-BE49-F238E27FC236}">
                <a16:creationId xmlns:a16="http://schemas.microsoft.com/office/drawing/2014/main" id="{E5035B04-2CA0-413D-A259-8E2054FF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↓</a:t>
            </a:r>
          </a:p>
        </p:txBody>
      </p:sp>
      <p:sp>
        <p:nvSpPr>
          <p:cNvPr id="14" name="runtime-path-hypothesis">
            <a:extLst xmlns:a="http://schemas.openxmlformats.org/drawingml/2006/main">
              <a:ext uri="{FF2B5EF4-FFF2-40B4-BE49-F238E27FC236}">
                <a16:creationId xmlns:a16="http://schemas.microsoft.com/office/drawing/2014/main" id="{04E51EA8-B8CB-4629-83B4-CD70D5B7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值得验证：存储 I/O 路径</a:t>
            </a:r>
          </a:p>
        </p:txBody>
      </p:sp>
      <p:sp>
        <p:nvSpPr>
          <p:cNvPr id="15" name="second-evidence-panel">
            <a:extLst xmlns:a="http://schemas.openxmlformats.org/drawingml/2006/main">
              <a:ext uri="{FF2B5EF4-FFF2-40B4-BE49-F238E27FC236}">
                <a16:creationId xmlns:a16="http://schemas.microsoft.com/office/drawing/2014/main" id="{9B8945A4-C278-4FBF-933F-FE4E158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594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6" name="second-evidence-heading">
            <a:extLst xmlns:a="http://schemas.openxmlformats.org/drawingml/2006/main">
              <a:ext uri="{FF2B5EF4-FFF2-40B4-BE49-F238E27FC236}">
                <a16:creationId xmlns:a16="http://schemas.microsoft.com/office/drawing/2014/main" id="{B5DBF78D-AD5A-4C30-8148-FA584AF2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新增观测</a:t>
            </a:r>
          </a:p>
        </p:txBody>
      </p:sp>
      <p:sp>
        <p:nvSpPr>
          <p:cNvPr id="17" name="second-evidence-1">
            <a:extLst xmlns:a="http://schemas.openxmlformats.org/drawingml/2006/main">
              <a:ext uri="{FF2B5EF4-FFF2-40B4-BE49-F238E27FC236}">
                <a16:creationId xmlns:a16="http://schemas.microsoft.com/office/drawing/2014/main" id="{4096C5EB-429D-4339-8923-6C341B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•  iowait 升至 31%</a:t>
            </a:r>
          </a:p>
        </p:txBody>
      </p:sp>
      <p:sp>
        <p:nvSpPr>
          <p:cNvPr id="18" name="second-evidence-2">
            <a:extLst xmlns:a="http://schemas.openxmlformats.org/drawingml/2006/main">
              <a:ext uri="{FF2B5EF4-FFF2-40B4-BE49-F238E27FC236}">
                <a16:creationId xmlns:a16="http://schemas.microsoft.com/office/drawing/2014/main" id="{8FC5D9FC-E2ED-464D-BEE7-6C2517CE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9825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•  vmstat：阻塞任务 b 持续上升</a:t>
            </a:r>
          </a:p>
        </p:txBody>
      </p:sp>
      <p:sp>
        <p:nvSpPr>
          <p:cNvPr id="19" name="second-evidence-3">
            <a:extLst xmlns:a="http://schemas.openxmlformats.org/drawingml/2006/main">
              <a:ext uri="{FF2B5EF4-FFF2-40B4-BE49-F238E27FC236}">
                <a16:creationId xmlns:a16="http://schemas.microsoft.com/office/drawing/2014/main" id="{17AAD588-A94E-43DA-BDEF-669BE450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•  多个服务进程进入 D 状态</a:t>
            </a:r>
          </a:p>
        </p:txBody>
      </p:sp>
      <p:sp>
        <p:nvSpPr>
          <p:cNvPr id="20" name="second-evidence-4">
            <a:extLst xmlns:a="http://schemas.openxmlformats.org/drawingml/2006/main">
              <a:ext uri="{FF2B5EF4-FFF2-40B4-BE49-F238E27FC236}">
                <a16:creationId xmlns:a16="http://schemas.microsoft.com/office/drawing/2014/main" id="{1D885185-1C0C-4E8C-AFBA-63A886A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•  磁盘 await 与队列同时上升</a:t>
            </a:r>
          </a:p>
        </p:txBody>
      </p:sp>
      <p:sp>
        <p:nvSpPr>
          <p:cNvPr id="21" name="second-evidence-5">
            <a:extLst xmlns:a="http://schemas.openxmlformats.org/drawingml/2006/main">
              <a:ext uri="{FF2B5EF4-FFF2-40B4-BE49-F238E27FC236}">
                <a16:creationId xmlns:a16="http://schemas.microsoft.com/office/drawing/2014/main" id="{B428A122-D86A-4F0A-91A1-43F1090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•  网络错误、TCP 重传没有变化</a:t>
            </a:r>
          </a:p>
        </p:txBody>
      </p:sp>
      <p:sp>
        <p:nvSpPr>
          <p:cNvPr id="22" name="claim-can">
            <a:extLst xmlns:a="http://schemas.openxmlformats.org/drawingml/2006/main">
              <a:ext uri="{FF2B5EF4-FFF2-40B4-BE49-F238E27FC236}">
                <a16:creationId xmlns:a16="http://schemas.microsoft.com/office/drawing/2014/main" id="{121A5973-7A31-46CA-A96A-70325C5B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5943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23" name="claim-can-label">
            <a:extLst xmlns:a="http://schemas.openxmlformats.org/drawingml/2006/main">
              <a:ext uri="{FF2B5EF4-FFF2-40B4-BE49-F238E27FC236}">
                <a16:creationId xmlns:a16="http://schemas.microsoft.com/office/drawing/2014/main" id="{AEE07891-E0E0-4E2B-AF5C-C6DC39E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可以说</a:t>
            </a:r>
          </a:p>
        </p:txBody>
      </p:sp>
      <p:sp>
        <p:nvSpPr>
          <p:cNvPr id="24" name="claim-can-text">
            <a:extLst xmlns:a="http://schemas.openxmlformats.org/drawingml/2006/main">
              <a:ext uri="{FF2B5EF4-FFF2-40B4-BE49-F238E27FC236}">
                <a16:creationId xmlns:a16="http://schemas.microsoft.com/office/drawing/2014/main" id="{895F0EA9-02E8-4974-B6EB-F60D4437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426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存储 I/O 路径值得优先验证</a:t>
            </a:r>
          </a:p>
        </p:txBody>
      </p:sp>
      <p:sp>
        <p:nvSpPr>
          <p:cNvPr id="25" name="claim-cannot">
            <a:extLst xmlns:a="http://schemas.openxmlformats.org/drawingml/2006/main">
              <a:ext uri="{FF2B5EF4-FFF2-40B4-BE49-F238E27FC236}">
                <a16:creationId xmlns:a16="http://schemas.microsoft.com/office/drawing/2014/main" id="{C9EEEA5B-2D32-40C3-A39A-4A99B298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33950"/>
            <a:ext cx="5943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6" name="claim-cannot-label">
            <a:extLst xmlns:a="http://schemas.openxmlformats.org/drawingml/2006/main">
              <a:ext uri="{FF2B5EF4-FFF2-40B4-BE49-F238E27FC236}">
                <a16:creationId xmlns:a16="http://schemas.microsoft.com/office/drawing/2014/main" id="{F7A068BD-12BF-48FB-B33C-4C768AE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不能说</a:t>
            </a:r>
          </a:p>
        </p:txBody>
      </p:sp>
      <p:sp>
        <p:nvSpPr>
          <p:cNvPr id="27" name="claim-cannot-text">
            <a:extLst xmlns:a="http://schemas.openxmlformats.org/drawingml/2006/main">
              <a:ext uri="{FF2B5EF4-FFF2-40B4-BE49-F238E27FC236}">
                <a16:creationId xmlns:a16="http://schemas.microsoft.com/office/drawing/2014/main" id="{15144BDF-684D-42E0-BD56-CA01B127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67300"/>
            <a:ext cx="426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磁盘已经被证明是唯一根因</a:t>
            </a:r>
          </a:p>
        </p:txBody>
      </p:sp>
      <p:sp>
        <p:nvSpPr>
          <p:cNvPr id="28" name="second-evidence-question-rule">
            <a:extLst xmlns:a="http://schemas.openxmlformats.org/drawingml/2006/main">
              <a:ext uri="{FF2B5EF4-FFF2-40B4-BE49-F238E27FC236}">
                <a16:creationId xmlns:a16="http://schemas.microsoft.com/office/drawing/2014/main" id="{D47434EF-BF92-4C6A-B8E6-01E2C7B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cond-evidence-question">
            <a:extLst xmlns:a="http://schemas.openxmlformats.org/drawingml/2006/main">
              <a:ext uri="{FF2B5EF4-FFF2-40B4-BE49-F238E27FC236}">
                <a16:creationId xmlns:a16="http://schemas.microsoft.com/office/drawing/2014/main" id="{718714B3-0C41-41D7-B992-5152938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11125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下一问：谁在产生 I/O？它正在访问哪个对象？</a:t>
            </a:r>
          </a:p>
        </p:txBody>
      </p:sp>
    </p:spTree>
    <p:extLst>
      <p:ext uri="{BB962C8B-B14F-4D97-AF65-F5344CB8AC3E}">
        <p14:creationId xmlns:p14="http://schemas.microsoft.com/office/powerpoint/2010/main" val="548652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4720F8BF-4233-42EA-87C6-88B3B0D3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第三轮证据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：锁定主体、对象与时间</a:t>
            </a:r>
          </a:p>
        </p:txBody>
      </p:sp>
      <p:sp>
        <p:nvSpPr>
          <p:cNvPr id="2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3F04D4D6-7485-49E1-A27D-851BD34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meline-start-dot">
            <a:extLst xmlns:a="http://schemas.openxmlformats.org/drawingml/2006/main">
              <a:ext uri="{FF2B5EF4-FFF2-40B4-BE49-F238E27FC236}">
                <a16:creationId xmlns:a16="http://schemas.microsoft.com/office/drawing/2014/main" id="{06385E5E-A307-4098-BFFF-FE7F006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76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4" name="timeline-anomaly-dot">
            <a:extLst xmlns:a="http://schemas.openxmlformats.org/drawingml/2006/main">
              <a:ext uri="{FF2B5EF4-FFF2-40B4-BE49-F238E27FC236}">
                <a16:creationId xmlns:a16="http://schemas.microsoft.com/office/drawing/2014/main" id="{49C938C0-DD23-443E-9D71-2B9D6313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5" name="timeline-start-time">
            <a:extLst xmlns:a="http://schemas.openxmlformats.org/drawingml/2006/main">
              <a:ext uri="{FF2B5EF4-FFF2-40B4-BE49-F238E27FC236}">
                <a16:creationId xmlns:a16="http://schemas.microsoft.com/office/drawing/2014/main" id="{405DC47D-1499-488F-B658-E681CDD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573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13:58</a:t>
            </a:r>
          </a:p>
        </p:txBody>
      </p:sp>
      <p:sp>
        <p:nvSpPr>
          <p:cNvPr id="6" name="timeline-start-text">
            <a:extLst xmlns:a="http://schemas.openxmlformats.org/drawingml/2006/main">
              <a:ext uri="{FF2B5EF4-FFF2-40B4-BE49-F238E27FC236}">
                <a16:creationId xmlns:a16="http://schemas.microsoft.com/office/drawing/2014/main" id="{C2328C44-D415-4C27-9140-022BCC1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备份任务启动</a:t>
            </a:r>
          </a:p>
        </p:txBody>
      </p:sp>
      <p:sp>
        <p:nvSpPr>
          <p:cNvPr id="7" name="timeline-anomaly-time">
            <a:extLst xmlns:a="http://schemas.openxmlformats.org/drawingml/2006/main">
              <a:ext uri="{FF2B5EF4-FFF2-40B4-BE49-F238E27FC236}">
                <a16:creationId xmlns:a16="http://schemas.microsoft.com/office/drawing/2014/main" id="{56B56ABF-EF68-4D86-A1A3-78FF449C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573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14:00</a:t>
            </a:r>
          </a:p>
        </p:txBody>
      </p:sp>
      <p:sp>
        <p:nvSpPr>
          <p:cNvPr id="8" name="timeline-anomaly-text">
            <a:extLst xmlns:a="http://schemas.openxmlformats.org/drawingml/2006/main">
              <a:ext uri="{FF2B5EF4-FFF2-40B4-BE49-F238E27FC236}">
                <a16:creationId xmlns:a16="http://schemas.microsoft.com/office/drawing/2014/main" id="{CE8DB960-469B-403D-BF8E-1E7D2B0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服务异常开始</a:t>
            </a:r>
          </a:p>
        </p:txBody>
      </p:sp>
      <p:sp>
        <p:nvSpPr>
          <p:cNvPr id="9" name="object-path-heading">
            <a:extLst xmlns:a="http://schemas.openxmlformats.org/drawingml/2006/main">
              <a:ext uri="{FF2B5EF4-FFF2-40B4-BE49-F238E27FC236}">
                <a16:creationId xmlns:a16="http://schemas.microsoft.com/office/drawing/2014/main" id="{089F9FA6-561C-4A4A-8100-CC6AF908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对象证据链</a:t>
            </a:r>
          </a:p>
        </p:txBody>
      </p:sp>
      <p:sp>
        <p:nvSpPr>
          <p:cNvPr id="10" name="object-path-node-1">
            <a:extLst xmlns:a="http://schemas.openxmlformats.org/drawingml/2006/main">
              <a:ext uri="{FF2B5EF4-FFF2-40B4-BE49-F238E27FC236}">
                <a16:creationId xmlns:a16="http://schemas.microsoft.com/office/drawing/2014/main" id="{FC3D7ADF-418E-4BAA-86E4-645ABE63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1" name="object-path-label-1">
            <a:extLst xmlns:a="http://schemas.openxmlformats.org/drawingml/2006/main">
              <a:ext uri="{FF2B5EF4-FFF2-40B4-BE49-F238E27FC236}">
                <a16:creationId xmlns:a16="http://schemas.microsoft.com/office/drawing/2014/main" id="{185538BB-8CAA-4F0B-B270-F234768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866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backup-worker</a:t>
            </a:r>
          </a:p>
        </p:txBody>
      </p:sp>
      <p:sp>
        <p:nvSpPr>
          <p:cNvPr id="12" name="object-path-arrow-1">
            <a:extLst xmlns:a="http://schemas.openxmlformats.org/drawingml/2006/main">
              <a:ext uri="{FF2B5EF4-FFF2-40B4-BE49-F238E27FC236}">
                <a16:creationId xmlns:a16="http://schemas.microsoft.com/office/drawing/2014/main" id="{58207E3D-5EEE-4F8D-A6EA-22F82867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36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3" name="object-path-node-2">
            <a:extLst xmlns:a="http://schemas.openxmlformats.org/drawingml/2006/main">
              <a:ext uri="{FF2B5EF4-FFF2-40B4-BE49-F238E27FC236}">
                <a16:creationId xmlns:a16="http://schemas.microsoft.com/office/drawing/2014/main" id="{D807CF60-8149-41AD-9D02-A2AD245B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4" name="object-path-label-2">
            <a:extLst xmlns:a="http://schemas.openxmlformats.org/drawingml/2006/main">
              <a:ext uri="{FF2B5EF4-FFF2-40B4-BE49-F238E27FC236}">
                <a16:creationId xmlns:a16="http://schemas.microsoft.com/office/drawing/2014/main" id="{79EFF20F-5187-4D13-B726-D9E4E38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110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FD</a:t>
            </a:r>
          </a:p>
        </p:txBody>
      </p:sp>
      <p:sp>
        <p:nvSpPr>
          <p:cNvPr id="15" name="object-path-arrow-2">
            <a:extLst xmlns:a="http://schemas.openxmlformats.org/drawingml/2006/main">
              <a:ext uri="{FF2B5EF4-FFF2-40B4-BE49-F238E27FC236}">
                <a16:creationId xmlns:a16="http://schemas.microsoft.com/office/drawing/2014/main" id="{098D1634-F792-4572-94BA-DD54242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14675"/>
            <a:ext cx="36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6" name="object-path-node-3">
            <a:extLst xmlns:a="http://schemas.openxmlformats.org/drawingml/2006/main">
              <a:ext uri="{FF2B5EF4-FFF2-40B4-BE49-F238E27FC236}">
                <a16:creationId xmlns:a16="http://schemas.microsoft.com/office/drawing/2014/main" id="{0EA36F71-2D7D-49B0-9D65-C589C67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7" name="object-path-label-3">
            <a:extLst xmlns:a="http://schemas.openxmlformats.org/drawingml/2006/main">
              <a:ext uri="{FF2B5EF4-FFF2-40B4-BE49-F238E27FC236}">
                <a16:creationId xmlns:a16="http://schemas.microsoft.com/office/drawing/2014/main" id="{E646CA23-4039-4475-9CB4-B1F7164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05150"/>
            <a:ext cx="2724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>/data/backup/full.tar</a:t>
            </a:r>
          </a:p>
        </p:txBody>
      </p:sp>
      <p:sp>
        <p:nvSpPr>
          <p:cNvPr id="18" name="object-path-arrow-3">
            <a:extLst xmlns:a="http://schemas.openxmlformats.org/drawingml/2006/main">
              <a:ext uri="{FF2B5EF4-FFF2-40B4-BE49-F238E27FC236}">
                <a16:creationId xmlns:a16="http://schemas.microsoft.com/office/drawing/2014/main" id="{1FD8AD2C-B2BA-4B84-A88E-CE02764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36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9" name="object-path-node-4">
            <a:extLst xmlns:a="http://schemas.openxmlformats.org/drawingml/2006/main">
              <a:ext uri="{FF2B5EF4-FFF2-40B4-BE49-F238E27FC236}">
                <a16:creationId xmlns:a16="http://schemas.microsoft.com/office/drawing/2014/main" id="{2399B163-66A8-4CD2-BEE1-A1F021A4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331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0" name="object-path-label-4">
            <a:extLst xmlns:a="http://schemas.openxmlformats.org/drawingml/2006/main">
              <a:ext uri="{FF2B5EF4-FFF2-40B4-BE49-F238E27FC236}">
                <a16:creationId xmlns:a16="http://schemas.microsoft.com/office/drawing/2014/main" id="{B56F4D62-AAD1-46F9-A351-AEF2C92A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308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共享存储路径</a:t>
            </a:r>
          </a:p>
        </p:txBody>
      </p:sp>
      <p:sp>
        <p:nvSpPr>
          <p:cNvPr id="21" name="object-path-end">
            <a:extLst xmlns:a="http://schemas.openxmlformats.org/drawingml/2006/main">
              <a:ext uri="{FF2B5EF4-FFF2-40B4-BE49-F238E27FC236}">
                <a16:creationId xmlns:a16="http://schemas.microsoft.com/office/drawing/2014/main" id="{15140BB3-CE68-4C42-8157-77F07FD2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76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causal-path-heading">
            <a:extLst xmlns:a="http://schemas.openxmlformats.org/drawingml/2006/main">
              <a:ext uri="{FF2B5EF4-FFF2-40B4-BE49-F238E27FC236}">
                <a16:creationId xmlns:a16="http://schemas.microsoft.com/office/drawing/2014/main" id="{BCEE17D3-5605-4F82-9C2E-C5DF1E1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可检验的解释</a:t>
            </a:r>
          </a:p>
        </p:txBody>
      </p:sp>
      <p:sp>
        <p:nvSpPr>
          <p:cNvPr id="23" name="causal-path-node-1">
            <a:extLst xmlns:a="http://schemas.openxmlformats.org/drawingml/2006/main">
              <a:ext uri="{FF2B5EF4-FFF2-40B4-BE49-F238E27FC236}">
                <a16:creationId xmlns:a16="http://schemas.microsoft.com/office/drawing/2014/main" id="{29508982-372F-4565-847D-D130566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4" name="causal-path-label-1">
            <a:extLst xmlns:a="http://schemas.openxmlformats.org/drawingml/2006/main">
              <a:ext uri="{FF2B5EF4-FFF2-40B4-BE49-F238E27FC236}">
                <a16:creationId xmlns:a16="http://schemas.microsoft.com/office/drawing/2014/main" id="{C42879C0-D768-47EE-9B70-3F34A37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609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备份顺序写入</a:t>
            </a:r>
          </a:p>
        </p:txBody>
      </p:sp>
      <p:sp>
        <p:nvSpPr>
          <p:cNvPr id="25" name="causal-path-arrow-1">
            <a:extLst xmlns:a="http://schemas.openxmlformats.org/drawingml/2006/main">
              <a:ext uri="{FF2B5EF4-FFF2-40B4-BE49-F238E27FC236}">
                <a16:creationId xmlns:a16="http://schemas.microsoft.com/office/drawing/2014/main" id="{0BB817AA-1DDF-4B2A-97F8-C586719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19625"/>
            <a:ext cx="36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26" name="causal-path-node-2">
            <a:extLst xmlns:a="http://schemas.openxmlformats.org/drawingml/2006/main">
              <a:ext uri="{FF2B5EF4-FFF2-40B4-BE49-F238E27FC236}">
                <a16:creationId xmlns:a16="http://schemas.microsoft.com/office/drawing/2014/main" id="{12CF1E75-6587-4E0A-B9A5-874241FB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7" name="causal-path-label-2">
            <a:extLst xmlns:a="http://schemas.openxmlformats.org/drawingml/2006/main">
              <a:ext uri="{FF2B5EF4-FFF2-40B4-BE49-F238E27FC236}">
                <a16:creationId xmlns:a16="http://schemas.microsoft.com/office/drawing/2014/main" id="{75CCD936-C040-4C7C-AEAF-A371031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0100"/>
            <a:ext cx="2609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队列增长 / 等待</a:t>
            </a:r>
          </a:p>
        </p:txBody>
      </p:sp>
      <p:sp>
        <p:nvSpPr>
          <p:cNvPr id="28" name="causal-path-arrow-2">
            <a:extLst xmlns:a="http://schemas.openxmlformats.org/drawingml/2006/main">
              <a:ext uri="{FF2B5EF4-FFF2-40B4-BE49-F238E27FC236}">
                <a16:creationId xmlns:a16="http://schemas.microsoft.com/office/drawing/2014/main" id="{3708135D-AAA2-4DF8-BD3E-EC6BBE11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9625"/>
            <a:ext cx="36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29" name="causal-path-node-3">
            <a:extLst xmlns:a="http://schemas.openxmlformats.org/drawingml/2006/main">
              <a:ext uri="{FF2B5EF4-FFF2-40B4-BE49-F238E27FC236}">
                <a16:creationId xmlns:a16="http://schemas.microsoft.com/office/drawing/2014/main" id="{B97562DC-092B-4A2B-A8B7-387A9C1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30" name="causal-path-label-3">
            <a:extLst xmlns:a="http://schemas.openxmlformats.org/drawingml/2006/main">
              <a:ext uri="{FF2B5EF4-FFF2-40B4-BE49-F238E27FC236}">
                <a16:creationId xmlns:a16="http://schemas.microsoft.com/office/drawing/2014/main" id="{033C48F4-9FA3-4390-8691-9FF3B77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407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延迟上升 / 错误增加</a:t>
            </a:r>
          </a:p>
        </p:txBody>
      </p:sp>
      <p:sp>
        <p:nvSpPr>
          <p:cNvPr id="31" name="causal-path-end">
            <a:extLst xmlns:a="http://schemas.openxmlformats.org/drawingml/2006/main">
              <a:ext uri="{FF2B5EF4-FFF2-40B4-BE49-F238E27FC236}">
                <a16:creationId xmlns:a16="http://schemas.microsoft.com/office/drawing/2014/main" id="{2FD73572-4890-41AC-AB7A-28CE17DB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76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minimal-test-panel">
            <a:extLst xmlns:a="http://schemas.openxmlformats.org/drawingml/2006/main">
              <a:ext uri="{FF2B5EF4-FFF2-40B4-BE49-F238E27FC236}">
                <a16:creationId xmlns:a16="http://schemas.microsoft.com/office/drawing/2014/main" id="{144B3BB5-6AF6-4896-8B96-6CF5E62A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33" name="minimal-test-label">
            <a:extLst xmlns:a="http://schemas.openxmlformats.org/drawingml/2006/main">
              <a:ext uri="{FF2B5EF4-FFF2-40B4-BE49-F238E27FC236}">
                <a16:creationId xmlns:a16="http://schemas.microsoft.com/office/drawing/2014/main" id="{51AF51D2-B395-4385-9348-C738F78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最小验证</a:t>
            </a:r>
          </a:p>
        </p:txBody>
      </p:sp>
      <p:sp>
        <p:nvSpPr>
          <p:cNvPr id="34" name="minimal-test-text">
            <a:extLst xmlns:a="http://schemas.openxmlformats.org/drawingml/2006/main">
              <a:ext uri="{FF2B5EF4-FFF2-40B4-BE49-F238E27FC236}">
                <a16:creationId xmlns:a16="http://schemas.microsoft.com/office/drawing/2014/main" id="{E877AA06-F0D6-4310-9A47-B37854F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62625"/>
            <a:ext cx="901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暂停备份任务  →  保持同样负载  →  对比用户与系统指标</a:t>
            </a:r>
          </a:p>
        </p:txBody>
      </p:sp>
    </p:spTree>
    <p:extLst>
      <p:ext uri="{BB962C8B-B14F-4D97-AF65-F5344CB8AC3E}">
        <p14:creationId xmlns:p14="http://schemas.microsoft.com/office/powerpoint/2010/main" val="601045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AE793A96-AF5D-4D82-82BF-38408170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复测不是收尾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，而是诊断的一部分</a:t>
            </a:r>
          </a:p>
        </p:txBody>
      </p:sp>
      <p:sp>
        <p:nvSpPr>
          <p:cNvPr id="2" name="retest-table-heading">
            <a:extLst xmlns:a="http://schemas.openxmlformats.org/drawingml/2006/main">
              <a:ext uri="{FF2B5EF4-FFF2-40B4-BE49-F238E27FC236}">
                <a16:creationId xmlns:a16="http://schemas.microsoft.com/office/drawing/2014/main" id="{847DF333-F838-4D3C-9366-0247D1D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23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暂停备份后的同负载复测</a:t>
            </a:r>
          </a:p>
        </p:txBody>
      </p:sp>
      <p:sp>
        <p:nvSpPr>
          <p:cNvPr id="3" name="retest-table">
            <a:extLst xmlns:a="http://schemas.openxmlformats.org/drawingml/2006/main">
              <a:ext uri="{FF2B5EF4-FFF2-40B4-BE49-F238E27FC236}">
                <a16:creationId xmlns:a16="http://schemas.microsoft.com/office/drawing/2014/main" id="{8DF23629-4310-41F5-8E8E-8F5DA33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42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4" name="retest-table-header">
            <a:extLst xmlns:a="http://schemas.openxmlformats.org/drawingml/2006/main">
              <a:ext uri="{FF2B5EF4-FFF2-40B4-BE49-F238E27FC236}">
                <a16:creationId xmlns:a16="http://schemas.microsoft.com/office/drawing/2014/main" id="{813B694C-C74E-413E-B641-F99878B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42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5" name="retest-header-metric">
            <a:extLst xmlns:a="http://schemas.openxmlformats.org/drawingml/2006/main">
              <a:ext uri="{FF2B5EF4-FFF2-40B4-BE49-F238E27FC236}">
                <a16:creationId xmlns:a16="http://schemas.microsoft.com/office/drawing/2014/main" id="{34AAA416-97B9-4BAF-A4A7-B880346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指标</a:t>
            </a:r>
          </a:p>
        </p:txBody>
      </p:sp>
      <p:sp>
        <p:nvSpPr>
          <p:cNvPr id="6" name="retest-header-before">
            <a:extLst xmlns:a="http://schemas.openxmlformats.org/drawingml/2006/main">
              <a:ext uri="{FF2B5EF4-FFF2-40B4-BE49-F238E27FC236}">
                <a16:creationId xmlns:a16="http://schemas.microsoft.com/office/drawing/2014/main" id="{BCB0622C-87B5-47B7-9723-366E2E4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暂停前</a:t>
            </a:r>
          </a:p>
        </p:txBody>
      </p:sp>
      <p:sp>
        <p:nvSpPr>
          <p:cNvPr id="7" name="retest-header-after">
            <a:extLst xmlns:a="http://schemas.openxmlformats.org/drawingml/2006/main">
              <a:ext uri="{FF2B5EF4-FFF2-40B4-BE49-F238E27FC236}">
                <a16:creationId xmlns:a16="http://schemas.microsoft.com/office/drawing/2014/main" id="{CE59B130-4DEF-4100-A3AC-CD873F33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暂停后</a:t>
            </a:r>
          </a:p>
        </p:txBody>
      </p:sp>
      <p:sp>
        <p:nvSpPr>
          <p:cNvPr id="8" name="retest-row-rule-0">
            <a:extLst xmlns:a="http://schemas.openxmlformats.org/drawingml/2006/main">
              <a:ext uri="{FF2B5EF4-FFF2-40B4-BE49-F238E27FC236}">
                <a16:creationId xmlns:a16="http://schemas.microsoft.com/office/drawing/2014/main" id="{46599E95-0221-4093-AE86-9846AD2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retest-label-1">
            <a:extLst xmlns:a="http://schemas.openxmlformats.org/drawingml/2006/main">
              <a:ext uri="{FF2B5EF4-FFF2-40B4-BE49-F238E27FC236}">
                <a16:creationId xmlns:a16="http://schemas.microsoft.com/office/drawing/2014/main" id="{B49D4EFD-1053-4B15-BB54-26159C9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p95 延迟</a:t>
            </a:r>
          </a:p>
        </p:txBody>
      </p:sp>
      <p:sp>
        <p:nvSpPr>
          <p:cNvPr id="10" name="retest-before-1">
            <a:extLst xmlns:a="http://schemas.openxmlformats.org/drawingml/2006/main">
              <a:ext uri="{FF2B5EF4-FFF2-40B4-BE49-F238E27FC236}">
                <a16:creationId xmlns:a16="http://schemas.microsoft.com/office/drawing/2014/main" id="{8FE2C1C9-6D00-4E81-A00A-31CE00C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900 ms</a:t>
            </a:r>
          </a:p>
        </p:txBody>
      </p:sp>
      <p:sp>
        <p:nvSpPr>
          <p:cNvPr id="11" name="retest-after-1">
            <a:extLst xmlns:a="http://schemas.openxmlformats.org/drawingml/2006/main">
              <a:ext uri="{FF2B5EF4-FFF2-40B4-BE49-F238E27FC236}">
                <a16:creationId xmlns:a16="http://schemas.microsoft.com/office/drawing/2014/main" id="{EC1B01C5-CA70-49EA-AF03-88C1BB2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120 ms</a:t>
            </a:r>
          </a:p>
        </p:txBody>
      </p:sp>
      <p:sp>
        <p:nvSpPr>
          <p:cNvPr id="12" name="retest-row-rule-1">
            <a:extLst xmlns:a="http://schemas.openxmlformats.org/drawingml/2006/main">
              <a:ext uri="{FF2B5EF4-FFF2-40B4-BE49-F238E27FC236}">
                <a16:creationId xmlns:a16="http://schemas.microsoft.com/office/drawing/2014/main" id="{6DE08E73-8754-43E0-95D1-5EFDA274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test-label-2">
            <a:extLst xmlns:a="http://schemas.openxmlformats.org/drawingml/2006/main">
              <a:ext uri="{FF2B5EF4-FFF2-40B4-BE49-F238E27FC236}">
                <a16:creationId xmlns:a16="http://schemas.microsoft.com/office/drawing/2014/main" id="{53D81F73-C520-4862-95D7-AAD8F125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错误率</a:t>
            </a:r>
          </a:p>
        </p:txBody>
      </p:sp>
      <p:sp>
        <p:nvSpPr>
          <p:cNvPr id="14" name="retest-before-2">
            <a:extLst xmlns:a="http://schemas.openxmlformats.org/drawingml/2006/main">
              <a:ext uri="{FF2B5EF4-FFF2-40B4-BE49-F238E27FC236}">
                <a16:creationId xmlns:a16="http://schemas.microsoft.com/office/drawing/2014/main" id="{0F9CAC63-381F-4AF0-800E-A49D7EF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6.4%</a:t>
            </a:r>
          </a:p>
        </p:txBody>
      </p:sp>
      <p:sp>
        <p:nvSpPr>
          <p:cNvPr id="15" name="retest-after-2">
            <a:extLst xmlns:a="http://schemas.openxmlformats.org/drawingml/2006/main">
              <a:ext uri="{FF2B5EF4-FFF2-40B4-BE49-F238E27FC236}">
                <a16:creationId xmlns:a16="http://schemas.microsoft.com/office/drawing/2014/main" id="{BEF0B076-7268-4209-9F3E-B3019A0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0.3%</a:t>
            </a:r>
          </a:p>
        </p:txBody>
      </p:sp>
      <p:sp>
        <p:nvSpPr>
          <p:cNvPr id="16" name="retest-row-rule-2">
            <a:extLst xmlns:a="http://schemas.openxmlformats.org/drawingml/2006/main">
              <a:ext uri="{FF2B5EF4-FFF2-40B4-BE49-F238E27FC236}">
                <a16:creationId xmlns:a16="http://schemas.microsoft.com/office/drawing/2014/main" id="{4A28E8E4-08E4-42B5-BB54-5239C2D0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est-label-3">
            <a:extLst xmlns:a="http://schemas.openxmlformats.org/drawingml/2006/main">
              <a:ext uri="{FF2B5EF4-FFF2-40B4-BE49-F238E27FC236}">
                <a16:creationId xmlns:a16="http://schemas.microsoft.com/office/drawing/2014/main" id="{F5B0351C-E0EA-42C1-B0C4-4E6A7D7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磁盘 await</a:t>
            </a:r>
          </a:p>
        </p:txBody>
      </p:sp>
      <p:sp>
        <p:nvSpPr>
          <p:cNvPr id="18" name="retest-before-3">
            <a:extLst xmlns:a="http://schemas.openxmlformats.org/drawingml/2006/main">
              <a:ext uri="{FF2B5EF4-FFF2-40B4-BE49-F238E27FC236}">
                <a16:creationId xmlns:a16="http://schemas.microsoft.com/office/drawing/2014/main" id="{7EE398B9-F73C-4374-9363-0E75895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4335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78 ms</a:t>
            </a:r>
          </a:p>
        </p:txBody>
      </p:sp>
      <p:sp>
        <p:nvSpPr>
          <p:cNvPr id="19" name="retest-after-3">
            <a:extLst xmlns:a="http://schemas.openxmlformats.org/drawingml/2006/main">
              <a:ext uri="{FF2B5EF4-FFF2-40B4-BE49-F238E27FC236}">
                <a16:creationId xmlns:a16="http://schemas.microsoft.com/office/drawing/2014/main" id="{D454F470-9BAF-4457-9F29-E6B4DA0B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9 ms</a:t>
            </a:r>
          </a:p>
        </p:txBody>
      </p:sp>
      <p:sp>
        <p:nvSpPr>
          <p:cNvPr id="20" name="retest-row-rule-3">
            <a:extLst xmlns:a="http://schemas.openxmlformats.org/drawingml/2006/main">
              <a:ext uri="{FF2B5EF4-FFF2-40B4-BE49-F238E27FC236}">
                <a16:creationId xmlns:a16="http://schemas.microsoft.com/office/drawing/2014/main" id="{AB89A739-10C8-46B8-93CA-7B400B93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test-label-4">
            <a:extLst xmlns:a="http://schemas.openxmlformats.org/drawingml/2006/main">
              <a:ext uri="{FF2B5EF4-FFF2-40B4-BE49-F238E27FC236}">
                <a16:creationId xmlns:a16="http://schemas.microsoft.com/office/drawing/2014/main" id="{3E6D5246-D748-4BDD-BF3D-7C916DC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长时间 D 状态任务</a:t>
            </a:r>
          </a:p>
        </p:txBody>
      </p:sp>
      <p:sp>
        <p:nvSpPr>
          <p:cNvPr id="22" name="retest-before-4">
            <a:extLst xmlns:a="http://schemas.openxmlformats.org/drawingml/2006/main">
              <a:ext uri="{FF2B5EF4-FFF2-40B4-BE49-F238E27FC236}">
                <a16:creationId xmlns:a16="http://schemas.microsoft.com/office/drawing/2014/main" id="{C041D79F-2584-45B3-987C-C4583AF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454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3" name="retest-after-4">
            <a:extLst xmlns:a="http://schemas.openxmlformats.org/drawingml/2006/main">
              <a:ext uri="{FF2B5EF4-FFF2-40B4-BE49-F238E27FC236}">
                <a16:creationId xmlns:a16="http://schemas.microsoft.com/office/drawing/2014/main" id="{DB3CC1FA-26EE-464F-B731-67E11D8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0–1</a:t>
            </a:r>
          </a:p>
        </p:txBody>
      </p:sp>
      <p:sp>
        <p:nvSpPr>
          <p:cNvPr id="24" name="retest-flow-heading">
            <a:extLst xmlns:a="http://schemas.openxmlformats.org/drawingml/2006/main">
              <a:ext uri="{FF2B5EF4-FFF2-40B4-BE49-F238E27FC236}">
                <a16:creationId xmlns:a16="http://schemas.microsoft.com/office/drawing/2014/main" id="{90AF3E0D-C481-439E-847C-FB2BF23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5086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把处置变成闭环</a:t>
            </a:r>
          </a:p>
        </p:txBody>
      </p:sp>
      <p:sp>
        <p:nvSpPr>
          <p:cNvPr id="25" name="retest-flow-node-1">
            <a:extLst xmlns:a="http://schemas.openxmlformats.org/drawingml/2006/main">
              <a:ext uri="{FF2B5EF4-FFF2-40B4-BE49-F238E27FC236}">
                <a16:creationId xmlns:a16="http://schemas.microsoft.com/office/drawing/2014/main" id="{C79BE38C-4E15-4CDF-9D0D-72B4F8D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6" name="retest-flow-index-1">
            <a:extLst xmlns:a="http://schemas.openxmlformats.org/drawingml/2006/main">
              <a:ext uri="{FF2B5EF4-FFF2-40B4-BE49-F238E27FC236}">
                <a16:creationId xmlns:a16="http://schemas.microsoft.com/office/drawing/2014/main" id="{560F0D2D-4C19-4296-883D-A2A69687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478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7" name="retest-flow-label-1">
            <a:extLst xmlns:a="http://schemas.openxmlformats.org/drawingml/2006/main">
              <a:ext uri="{FF2B5EF4-FFF2-40B4-BE49-F238E27FC236}">
                <a16:creationId xmlns:a16="http://schemas.microsoft.com/office/drawing/2014/main" id="{4EC2C5B6-9D8F-4998-B2DA-D62536D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394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记录基线</a:t>
            </a:r>
          </a:p>
        </p:txBody>
      </p:sp>
      <p:sp>
        <p:nvSpPr>
          <p:cNvPr id="28" name="retest-flow-node-2">
            <a:extLst xmlns:a="http://schemas.openxmlformats.org/drawingml/2006/main">
              <a:ext uri="{FF2B5EF4-FFF2-40B4-BE49-F238E27FC236}">
                <a16:creationId xmlns:a16="http://schemas.microsoft.com/office/drawing/2014/main" id="{B1F5CD3E-75AD-48EF-819F-7CD806D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9" name="retest-flow-index-2">
            <a:extLst xmlns:a="http://schemas.openxmlformats.org/drawingml/2006/main">
              <a:ext uri="{FF2B5EF4-FFF2-40B4-BE49-F238E27FC236}">
                <a16:creationId xmlns:a16="http://schemas.microsoft.com/office/drawing/2014/main" id="{A0A3A90B-4370-4407-A4F3-6E059B8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336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0" name="retest-flow-label-2">
            <a:extLst xmlns:a="http://schemas.openxmlformats.org/drawingml/2006/main">
              <a:ext uri="{FF2B5EF4-FFF2-40B4-BE49-F238E27FC236}">
                <a16:creationId xmlns:a16="http://schemas.microsoft.com/office/drawing/2014/main" id="{D5D18C71-5E5E-4E72-A831-50B65993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05100"/>
            <a:ext cx="394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只改变一个变量</a:t>
            </a:r>
          </a:p>
        </p:txBody>
      </p:sp>
      <p:sp>
        <p:nvSpPr>
          <p:cNvPr id="31" name="retest-flow-node-3">
            <a:extLst xmlns:a="http://schemas.openxmlformats.org/drawingml/2006/main">
              <a:ext uri="{FF2B5EF4-FFF2-40B4-BE49-F238E27FC236}">
                <a16:creationId xmlns:a16="http://schemas.microsoft.com/office/drawing/2014/main" id="{7C7765B7-A66C-4E29-8FE0-0BE29D4B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2" name="retest-flow-index-3">
            <a:extLst xmlns:a="http://schemas.openxmlformats.org/drawingml/2006/main">
              <a:ext uri="{FF2B5EF4-FFF2-40B4-BE49-F238E27FC236}">
                <a16:creationId xmlns:a16="http://schemas.microsoft.com/office/drawing/2014/main" id="{C29E61C8-FF6E-4C72-9110-F30F1FB6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194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33" name="retest-flow-label-3">
            <a:extLst xmlns:a="http://schemas.openxmlformats.org/drawingml/2006/main">
              <a:ext uri="{FF2B5EF4-FFF2-40B4-BE49-F238E27FC236}">
                <a16:creationId xmlns:a16="http://schemas.microsoft.com/office/drawing/2014/main" id="{00BF280E-B9BF-4BBD-8B2A-504EABB2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394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相同负载复测</a:t>
            </a:r>
          </a:p>
        </p:txBody>
      </p:sp>
      <p:sp>
        <p:nvSpPr>
          <p:cNvPr id="34" name="retest-flow-node-4">
            <a:extLst xmlns:a="http://schemas.openxmlformats.org/drawingml/2006/main">
              <a:ext uri="{FF2B5EF4-FFF2-40B4-BE49-F238E27FC236}">
                <a16:creationId xmlns:a16="http://schemas.microsoft.com/office/drawing/2014/main" id="{BBC36F92-C882-405D-BFBB-F282EFD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5" name="retest-flow-index-4">
            <a:extLst xmlns:a="http://schemas.openxmlformats.org/drawingml/2006/main">
              <a:ext uri="{FF2B5EF4-FFF2-40B4-BE49-F238E27FC236}">
                <a16:creationId xmlns:a16="http://schemas.microsoft.com/office/drawing/2014/main" id="{2C6F6224-AB63-4DB1-B4D1-0293CE1B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052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6" name="retest-flow-label-4">
            <a:extLst xmlns:a="http://schemas.openxmlformats.org/drawingml/2006/main">
              <a:ext uri="{FF2B5EF4-FFF2-40B4-BE49-F238E27FC236}">
                <a16:creationId xmlns:a16="http://schemas.microsoft.com/office/drawing/2014/main" id="{B47A4933-24DA-4508-9F05-B9E479E2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394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检查改善与回归</a:t>
            </a:r>
          </a:p>
        </p:txBody>
      </p:sp>
      <p:sp>
        <p:nvSpPr>
          <p:cNvPr id="37" name="retest-flow-node-5">
            <a:extLst xmlns:a="http://schemas.openxmlformats.org/drawingml/2006/main">
              <a:ext uri="{FF2B5EF4-FFF2-40B4-BE49-F238E27FC236}">
                <a16:creationId xmlns:a16="http://schemas.microsoft.com/office/drawing/2014/main" id="{3B1C677C-590B-44EF-BCE7-ED8AE12E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38" name="retest-flow-index-5">
            <a:extLst xmlns:a="http://schemas.openxmlformats.org/drawingml/2006/main">
              <a:ext uri="{FF2B5EF4-FFF2-40B4-BE49-F238E27FC236}">
                <a16:creationId xmlns:a16="http://schemas.microsoft.com/office/drawing/2014/main" id="{7014775E-BEF8-4416-9CB0-B6C7253A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910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9" name="retest-flow-label-5">
            <a:extLst xmlns:a="http://schemas.openxmlformats.org/drawingml/2006/main">
              <a:ext uri="{FF2B5EF4-FFF2-40B4-BE49-F238E27FC236}">
                <a16:creationId xmlns:a16="http://schemas.microsoft.com/office/drawing/2014/main" id="{5D1305CB-91F9-41F9-985B-4272C646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394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保留 / 调整 / 回退</a:t>
            </a:r>
          </a:p>
        </p:txBody>
      </p:sp>
      <p:sp>
        <p:nvSpPr>
          <p:cNvPr id="40" name="retest-conclusion-panel">
            <a:extLst xmlns:a="http://schemas.openxmlformats.org/drawingml/2006/main">
              <a:ext uri="{FF2B5EF4-FFF2-40B4-BE49-F238E27FC236}">
                <a16:creationId xmlns:a16="http://schemas.microsoft.com/office/drawing/2014/main" id="{1150F4F5-ABBE-4434-97DB-3B724E0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41" name="retest-conclusion-label">
            <a:extLst xmlns:a="http://schemas.openxmlformats.org/drawingml/2006/main">
              <a:ext uri="{FF2B5EF4-FFF2-40B4-BE49-F238E27FC236}">
                <a16:creationId xmlns:a16="http://schemas.microsoft.com/office/drawing/2014/main" id="{AEA41E93-694F-455B-A57F-D3907BDD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当前结论</a:t>
            </a:r>
          </a:p>
        </p:txBody>
      </p:sp>
      <p:sp>
        <p:nvSpPr>
          <p:cNvPr id="42" name="retest-conclusion">
            <a:extLst xmlns:a="http://schemas.openxmlformats.org/drawingml/2006/main">
              <a:ext uri="{FF2B5EF4-FFF2-40B4-BE49-F238E27FC236}">
                <a16:creationId xmlns:a16="http://schemas.microsoft.com/office/drawing/2014/main" id="{CE99DFD0-78E8-4F8E-B5FD-37ED85A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05500"/>
            <a:ext cx="904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共享存储竞争已有强证据；下一步评估调度、I/O 限额与隔离</a:t>
            </a:r>
          </a:p>
        </p:txBody>
      </p:sp>
    </p:spTree>
    <p:extLst>
      <p:ext uri="{BB962C8B-B14F-4D97-AF65-F5344CB8AC3E}">
        <p14:creationId xmlns:p14="http://schemas.microsoft.com/office/powerpoint/2010/main" val="927928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7DD777A3-E7D2-4B12-8543-A6A332F8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换成端口问题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，证据链仍然一样</a:t>
            </a:r>
          </a:p>
        </p:txBody>
      </p:sp>
      <p:sp>
        <p:nvSpPr>
          <p:cNvPr id="2" name="network-layer-1">
            <a:extLst xmlns:a="http://schemas.openxmlformats.org/drawingml/2006/main">
              <a:ext uri="{FF2B5EF4-FFF2-40B4-BE49-F238E27FC236}">
                <a16:creationId xmlns:a16="http://schemas.microsoft.com/office/drawing/2014/main" id="{998D068D-506A-46B9-9CBB-27CB0ED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3" name="network-layer-label-1">
            <a:extLst xmlns:a="http://schemas.openxmlformats.org/drawingml/2006/main">
              <a:ext uri="{FF2B5EF4-FFF2-40B4-BE49-F238E27FC236}">
                <a16:creationId xmlns:a16="http://schemas.microsoft.com/office/drawing/2014/main" id="{FB9A4496-333F-4708-A0AD-187BD95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1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客户端</a:t>
            </a:r>
          </a:p>
        </p:txBody>
      </p:sp>
      <p:sp>
        <p:nvSpPr>
          <p:cNvPr id="4" name="network-layer-evidence-1">
            <a:extLst xmlns:a="http://schemas.openxmlformats.org/drawingml/2006/main">
              <a:ext uri="{FF2B5EF4-FFF2-40B4-BE49-F238E27FC236}">
                <a16:creationId xmlns:a16="http://schemas.microsoft.com/office/drawing/2014/main" id="{5C4DF0E7-D625-4B0B-9B1A-2AD45B3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8995A3"/>
                </a:solidFill>
                <a:latin typeface="Menlo"/>
                <a:ea typeface="Menlo"/>
                <a:cs typeface="Menlo"/>
              </a:defRPr>
            </a:pPr>
            <a:r>
              <a:t>curl</a:t>
            </a:r>
          </a:p>
        </p:txBody>
      </p:sp>
      <p:sp>
        <p:nvSpPr>
          <p:cNvPr id="5" name="network-layer-arrow-1">
            <a:extLst xmlns:a="http://schemas.openxmlformats.org/drawingml/2006/main">
              <a:ext uri="{FF2B5EF4-FFF2-40B4-BE49-F238E27FC236}">
                <a16:creationId xmlns:a16="http://schemas.microsoft.com/office/drawing/2014/main" id="{6B177E78-50A1-445D-ABCE-A27173BB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6" name="network-layer-2">
            <a:extLst xmlns:a="http://schemas.openxmlformats.org/drawingml/2006/main">
              <a:ext uri="{FF2B5EF4-FFF2-40B4-BE49-F238E27FC236}">
                <a16:creationId xmlns:a16="http://schemas.microsoft.com/office/drawing/2014/main" id="{7095C9E4-C6D4-4A26-88EB-C04ECF0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66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7" name="network-layer-label-2">
            <a:extLst xmlns:a="http://schemas.openxmlformats.org/drawingml/2006/main">
              <a:ext uri="{FF2B5EF4-FFF2-40B4-BE49-F238E27FC236}">
                <a16:creationId xmlns:a16="http://schemas.microsoft.com/office/drawing/2014/main" id="{326185B1-9A2C-4F79-9692-D77482E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201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网络路径</a:t>
            </a:r>
          </a:p>
        </p:txBody>
      </p:sp>
      <p:sp>
        <p:nvSpPr>
          <p:cNvPr id="8" name="network-layer-evidence-2">
            <a:extLst xmlns:a="http://schemas.openxmlformats.org/drawingml/2006/main">
              <a:ext uri="{FF2B5EF4-FFF2-40B4-BE49-F238E27FC236}">
                <a16:creationId xmlns:a16="http://schemas.microsoft.com/office/drawing/2014/main" id="{0D923529-7537-46DD-83EC-8B3FDBF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8995A3"/>
                </a:solidFill>
                <a:latin typeface="Menlo"/>
                <a:ea typeface="Menlo"/>
                <a:cs typeface="Menlo"/>
              </a:defRPr>
            </a:pPr>
            <a:r>
              <a:t>route / firewall</a:t>
            </a:r>
          </a:p>
        </p:txBody>
      </p:sp>
      <p:sp>
        <p:nvSpPr>
          <p:cNvPr id="9" name="network-layer-arrow-2">
            <a:extLst xmlns:a="http://schemas.openxmlformats.org/drawingml/2006/main">
              <a:ext uri="{FF2B5EF4-FFF2-40B4-BE49-F238E27FC236}">
                <a16:creationId xmlns:a16="http://schemas.microsoft.com/office/drawing/2014/main" id="{0E70CD02-2542-458B-8590-FA4AAE95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526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0" name="network-layer-3">
            <a:extLst xmlns:a="http://schemas.openxmlformats.org/drawingml/2006/main">
              <a:ext uri="{FF2B5EF4-FFF2-40B4-BE49-F238E27FC236}">
                <a16:creationId xmlns:a16="http://schemas.microsoft.com/office/drawing/2014/main" id="{B67CC7E8-4B32-42BD-9912-54E29B5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11" name="network-layer-label-3">
            <a:extLst xmlns:a="http://schemas.openxmlformats.org/drawingml/2006/main">
              <a:ext uri="{FF2B5EF4-FFF2-40B4-BE49-F238E27FC236}">
                <a16:creationId xmlns:a16="http://schemas.microsoft.com/office/drawing/2014/main" id="{A48C20D5-0806-47F3-8498-4EA8123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01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监听 Socket</a:t>
            </a:r>
          </a:p>
        </p:txBody>
      </p:sp>
      <p:sp>
        <p:nvSpPr>
          <p:cNvPr id="12" name="network-layer-evidence-3">
            <a:extLst xmlns:a="http://schemas.openxmlformats.org/drawingml/2006/main">
              <a:ext uri="{FF2B5EF4-FFF2-40B4-BE49-F238E27FC236}">
                <a16:creationId xmlns:a16="http://schemas.microsoft.com/office/drawing/2014/main" id="{111582F8-699C-4C49-ACF4-DD673C7D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8995A3"/>
                </a:solidFill>
                <a:latin typeface="Menlo"/>
                <a:ea typeface="Menlo"/>
                <a:cs typeface="Menlo"/>
              </a:defRPr>
            </a:pPr>
            <a:r>
              <a:t>ss</a:t>
            </a:r>
          </a:p>
        </p:txBody>
      </p:sp>
      <p:sp>
        <p:nvSpPr>
          <p:cNvPr id="13" name="network-layer-arrow-3">
            <a:extLst xmlns:a="http://schemas.openxmlformats.org/drawingml/2006/main">
              <a:ext uri="{FF2B5EF4-FFF2-40B4-BE49-F238E27FC236}">
                <a16:creationId xmlns:a16="http://schemas.microsoft.com/office/drawing/2014/main" id="{A2A64A64-8968-4668-B85E-520BD86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4" name="network-layer-4">
            <a:extLst xmlns:a="http://schemas.openxmlformats.org/drawingml/2006/main">
              <a:ext uri="{FF2B5EF4-FFF2-40B4-BE49-F238E27FC236}">
                <a16:creationId xmlns:a16="http://schemas.microsoft.com/office/drawing/2014/main" id="{F02BF0AA-8184-4740-9436-9C1E1198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5" name="network-layer-label-4">
            <a:extLst xmlns:a="http://schemas.openxmlformats.org/drawingml/2006/main">
              <a:ext uri="{FF2B5EF4-FFF2-40B4-BE49-F238E27FC236}">
                <a16:creationId xmlns:a16="http://schemas.microsoft.com/office/drawing/2014/main" id="{5731FBCF-07F4-43DC-A547-07DA8BCE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01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服务进程</a:t>
            </a:r>
          </a:p>
        </p:txBody>
      </p:sp>
      <p:sp>
        <p:nvSpPr>
          <p:cNvPr id="16" name="network-layer-evidence-4">
            <a:extLst xmlns:a="http://schemas.openxmlformats.org/drawingml/2006/main">
              <a:ext uri="{FF2B5EF4-FFF2-40B4-BE49-F238E27FC236}">
                <a16:creationId xmlns:a16="http://schemas.microsoft.com/office/drawing/2014/main" id="{00E0EE5F-D888-48BF-A5E0-4BE0879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8995A3"/>
                </a:solidFill>
                <a:latin typeface="Menlo"/>
                <a:ea typeface="Menlo"/>
                <a:cs typeface="Menlo"/>
              </a:defRPr>
            </a:pPr>
            <a:r>
              <a:t>systemctl / log</a:t>
            </a:r>
          </a:p>
        </p:txBody>
      </p:sp>
      <p:sp>
        <p:nvSpPr>
          <p:cNvPr id="17" name="network-layer-end">
            <a:extLst xmlns:a="http://schemas.openxmlformats.org/drawingml/2006/main">
              <a:ext uri="{FF2B5EF4-FFF2-40B4-BE49-F238E27FC236}">
                <a16:creationId xmlns:a16="http://schemas.microsoft.com/office/drawing/2014/main" id="{380658BD-EF1B-4F81-B996-2B57BF07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905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port-scenario">
            <a:extLst xmlns:a="http://schemas.openxmlformats.org/drawingml/2006/main">
              <a:ext uri="{FF2B5EF4-FFF2-40B4-BE49-F238E27FC236}">
                <a16:creationId xmlns:a16="http://schemas.microsoft.com/office/drawing/2014/main" id="{8333EC7D-ED15-4458-BBCE-B6517FBB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9" name="port-scenario-heading">
            <a:extLst xmlns:a="http://schemas.openxmlformats.org/drawingml/2006/main">
              <a:ext uri="{FF2B5EF4-FFF2-40B4-BE49-F238E27FC236}">
                <a16:creationId xmlns:a16="http://schemas.microsoft.com/office/drawing/2014/main" id="{53757584-A015-4732-AC56-B4546251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95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现场</a:t>
            </a:r>
          </a:p>
        </p:txBody>
      </p:sp>
      <p:sp>
        <p:nvSpPr>
          <p:cNvPr id="20" name="port-command">
            <a:extLst xmlns:a="http://schemas.openxmlformats.org/drawingml/2006/main">
              <a:ext uri="{FF2B5EF4-FFF2-40B4-BE49-F238E27FC236}">
                <a16:creationId xmlns:a16="http://schemas.microsoft.com/office/drawing/2014/main" id="{256E3AAD-BC23-4770-A09C-B5320E0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26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4ADE80"/>
                </a:solidFill>
                <a:latin typeface="Menlo"/>
                <a:ea typeface="Menlo"/>
                <a:cs typeface="Menlo"/>
              </a:defRPr>
            </a:pPr>
            <a:r>
              <a:t>$ curl http://server:8080/health</a:t>
            </a:r>
          </a:p>
        </p:txBody>
      </p:sp>
      <p:sp>
        <p:nvSpPr>
          <p:cNvPr id="21" name="port-error">
            <a:extLst xmlns:a="http://schemas.openxmlformats.org/drawingml/2006/main">
              <a:ext uri="{FF2B5EF4-FFF2-40B4-BE49-F238E27FC236}">
                <a16:creationId xmlns:a16="http://schemas.microsoft.com/office/drawing/2014/main" id="{B535A20E-C2EC-4DB8-A987-ED552EE7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26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t>curl: (7) Connection refused</a:t>
            </a:r>
          </a:p>
        </p:txBody>
      </p:sp>
      <p:sp>
        <p:nvSpPr>
          <p:cNvPr id="22" name="port-observations">
            <a:extLst xmlns:a="http://schemas.openxmlformats.org/drawingml/2006/main">
              <a:ext uri="{FF2B5EF4-FFF2-40B4-BE49-F238E27FC236}">
                <a16:creationId xmlns:a16="http://schemas.microsoft.com/office/drawing/2014/main" id="{B336FEE4-D2D5-415E-B376-CF55B51C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267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ping 正常
ps 显示服务进程存在</a:t>
            </a:r>
          </a:p>
        </p:txBody>
      </p:sp>
      <p:sp>
        <p:nvSpPr>
          <p:cNvPr id="23" name="port-inequality">
            <a:extLst xmlns:a="http://schemas.openxmlformats.org/drawingml/2006/main">
              <a:ext uri="{FF2B5EF4-FFF2-40B4-BE49-F238E27FC236}">
                <a16:creationId xmlns:a16="http://schemas.microsoft.com/office/drawing/2014/main" id="{897114D0-4A0C-4766-B6E5-01BF726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426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进程存在  ≠  正在监听  ≠  协议正常</a:t>
            </a:r>
          </a:p>
        </p:txBody>
      </p:sp>
      <p:sp>
        <p:nvSpPr>
          <p:cNvPr id="24" name="port-evidence-panel">
            <a:extLst xmlns:a="http://schemas.openxmlformats.org/drawingml/2006/main">
              <a:ext uri="{FF2B5EF4-FFF2-40B4-BE49-F238E27FC236}">
                <a16:creationId xmlns:a16="http://schemas.microsoft.com/office/drawing/2014/main" id="{322861EB-875D-4A1A-9822-FA39B37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753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25" name="port-evidence-heading">
            <a:extLst xmlns:a="http://schemas.openxmlformats.org/drawingml/2006/main">
              <a:ext uri="{FF2B5EF4-FFF2-40B4-BE49-F238E27FC236}">
                <a16:creationId xmlns:a16="http://schemas.microsoft.com/office/drawing/2014/main" id="{C8428E25-DB30-4250-AA07-736E68A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证据顺序</a:t>
            </a:r>
          </a:p>
        </p:txBody>
      </p:sp>
      <p:sp>
        <p:nvSpPr>
          <p:cNvPr id="26" name="port-step-index-1">
            <a:extLst xmlns:a="http://schemas.openxmlformats.org/drawingml/2006/main">
              <a:ext uri="{FF2B5EF4-FFF2-40B4-BE49-F238E27FC236}">
                <a16:creationId xmlns:a16="http://schemas.microsoft.com/office/drawing/2014/main" id="{9473C225-B256-4BDA-BCC0-18092E2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7" name="port-step-command-1">
            <a:extLst xmlns:a="http://schemas.openxmlformats.org/drawingml/2006/main">
              <a:ext uri="{FF2B5EF4-FFF2-40B4-BE49-F238E27FC236}">
                <a16:creationId xmlns:a16="http://schemas.microsoft.com/office/drawing/2014/main" id="{B793475F-D03F-40C3-B686-23B4F8B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F5CE"/>
                </a:solidFill>
                <a:latin typeface="Menlo"/>
                <a:ea typeface="Menlo"/>
                <a:cs typeface="Menlo"/>
              </a:defRPr>
            </a:pPr>
            <a:r>
              <a:t>ss -lntp</a:t>
            </a:r>
          </a:p>
        </p:txBody>
      </p:sp>
      <p:sp>
        <p:nvSpPr>
          <p:cNvPr id="28" name="port-step-question-1">
            <a:extLst xmlns:a="http://schemas.openxmlformats.org/drawingml/2006/main">
              <a:ext uri="{FF2B5EF4-FFF2-40B4-BE49-F238E27FC236}">
                <a16:creationId xmlns:a16="http://schemas.microsoft.com/office/drawing/2014/main" id="{53E9886F-27BE-42E6-8A96-A2EFB559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是否监听？监听在哪个地址？</a:t>
            </a:r>
          </a:p>
        </p:txBody>
      </p:sp>
      <p:sp>
        <p:nvSpPr>
          <p:cNvPr id="29" name="port-step-index-2">
            <a:extLst xmlns:a="http://schemas.openxmlformats.org/drawingml/2006/main">
              <a:ext uri="{FF2B5EF4-FFF2-40B4-BE49-F238E27FC236}">
                <a16:creationId xmlns:a16="http://schemas.microsoft.com/office/drawing/2014/main" id="{8961F416-FAE0-4246-9EA7-F405962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7667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0" name="port-step-command-2">
            <a:extLst xmlns:a="http://schemas.openxmlformats.org/drawingml/2006/main">
              <a:ext uri="{FF2B5EF4-FFF2-40B4-BE49-F238E27FC236}">
                <a16:creationId xmlns:a16="http://schemas.microsoft.com/office/drawing/2014/main" id="{13C03280-64ED-45FD-B84E-9A32EB8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7667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F5CE"/>
                </a:solidFill>
                <a:latin typeface="Menlo"/>
                <a:ea typeface="Menlo"/>
                <a:cs typeface="Menlo"/>
              </a:defRPr>
            </a:pPr>
            <a:r>
              <a:t>systemctl / 日志</a:t>
            </a:r>
          </a:p>
        </p:txBody>
      </p:sp>
      <p:sp>
        <p:nvSpPr>
          <p:cNvPr id="31" name="port-step-question-2">
            <a:extLst xmlns:a="http://schemas.openxmlformats.org/drawingml/2006/main">
              <a:ext uri="{FF2B5EF4-FFF2-40B4-BE49-F238E27FC236}">
                <a16:creationId xmlns:a16="http://schemas.microsoft.com/office/drawing/2014/main" id="{3266B6B9-0AEF-4D39-886F-2323C52C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进程为何没有建立预期监听？</a:t>
            </a:r>
          </a:p>
        </p:txBody>
      </p:sp>
      <p:sp>
        <p:nvSpPr>
          <p:cNvPr id="32" name="port-step-index-3">
            <a:extLst xmlns:a="http://schemas.openxmlformats.org/drawingml/2006/main">
              <a:ext uri="{FF2B5EF4-FFF2-40B4-BE49-F238E27FC236}">
                <a16:creationId xmlns:a16="http://schemas.microsoft.com/office/drawing/2014/main" id="{EAB66A80-368A-4662-B31B-BDDF912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33" name="port-step-command-3">
            <a:extLst xmlns:a="http://schemas.openxmlformats.org/drawingml/2006/main">
              <a:ext uri="{FF2B5EF4-FFF2-40B4-BE49-F238E27FC236}">
                <a16:creationId xmlns:a16="http://schemas.microsoft.com/office/drawing/2014/main" id="{B3894C06-2944-4EEE-8FF6-A8D98BB0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F5CE"/>
                </a:solidFill>
                <a:latin typeface="Menlo"/>
                <a:ea typeface="Menlo"/>
                <a:cs typeface="Menlo"/>
              </a:defRPr>
            </a:pPr>
            <a:r>
              <a:t>curl -v</a:t>
            </a:r>
          </a:p>
        </p:txBody>
      </p:sp>
      <p:sp>
        <p:nvSpPr>
          <p:cNvPr id="34" name="port-step-question-3">
            <a:extLst xmlns:a="http://schemas.openxmlformats.org/drawingml/2006/main">
              <a:ext uri="{FF2B5EF4-FFF2-40B4-BE49-F238E27FC236}">
                <a16:creationId xmlns:a16="http://schemas.microsoft.com/office/drawing/2014/main" id="{0282D2FA-80C1-4029-A6D1-DAF3A27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连接建立后协议是否正常？</a:t>
            </a:r>
          </a:p>
        </p:txBody>
      </p:sp>
      <p:sp>
        <p:nvSpPr>
          <p:cNvPr id="35" name="port-step-index-4">
            <a:extLst xmlns:a="http://schemas.openxmlformats.org/drawingml/2006/main">
              <a:ext uri="{FF2B5EF4-FFF2-40B4-BE49-F238E27FC236}">
                <a16:creationId xmlns:a16="http://schemas.microsoft.com/office/drawing/2014/main" id="{3A0FCE6C-0A04-4E5F-B308-DC49F68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48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6" name="port-step-command-4">
            <a:extLst xmlns:a="http://schemas.openxmlformats.org/drawingml/2006/main">
              <a:ext uri="{FF2B5EF4-FFF2-40B4-BE49-F238E27FC236}">
                <a16:creationId xmlns:a16="http://schemas.microsoft.com/office/drawing/2014/main" id="{8067114B-6B6D-4783-AB09-DD675CFC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4822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F5CE"/>
                </a:solidFill>
                <a:latin typeface="Menlo"/>
                <a:ea typeface="Menlo"/>
                <a:cs typeface="Menlo"/>
              </a:defRPr>
            </a:pPr>
            <a:r>
              <a:t>若是超时</a:t>
            </a:r>
          </a:p>
        </p:txBody>
      </p:sp>
      <p:sp>
        <p:nvSpPr>
          <p:cNvPr id="37" name="port-step-question-4">
            <a:extLst xmlns:a="http://schemas.openxmlformats.org/drawingml/2006/main">
              <a:ext uri="{FF2B5EF4-FFF2-40B4-BE49-F238E27FC236}">
                <a16:creationId xmlns:a16="http://schemas.microsoft.com/office/drawing/2014/main" id="{4E8C20E1-8F51-4DE6-A493-AD055BE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48225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再查路由、防火墙、丢包与链路</a:t>
            </a:r>
          </a:p>
        </p:txBody>
      </p:sp>
      <p:sp>
        <p:nvSpPr>
          <p:cNvPr id="38" name="port-reveal-panel">
            <a:extLst xmlns:a="http://schemas.openxmlformats.org/drawingml/2006/main">
              <a:ext uri="{FF2B5EF4-FFF2-40B4-BE49-F238E27FC236}">
                <a16:creationId xmlns:a16="http://schemas.microsoft.com/office/drawing/2014/main" id="{31A312E5-DF42-4851-9C20-0D21884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39" name="port-reveal-label">
            <a:extLst xmlns:a="http://schemas.openxmlformats.org/drawingml/2006/main">
              <a:ext uri="{FF2B5EF4-FFF2-40B4-BE49-F238E27FC236}">
                <a16:creationId xmlns:a16="http://schemas.microsoft.com/office/drawing/2014/main" id="{8EDF661C-5E4B-4305-BDE5-1D9FF94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t>证据揭示</a:t>
            </a:r>
          </a:p>
        </p:txBody>
      </p:sp>
      <p:sp>
        <p:nvSpPr>
          <p:cNvPr id="40" name="port-reveal-command">
            <a:extLst xmlns:a="http://schemas.openxmlformats.org/drawingml/2006/main">
              <a:ext uri="{FF2B5EF4-FFF2-40B4-BE49-F238E27FC236}">
                <a16:creationId xmlns:a16="http://schemas.microsoft.com/office/drawing/2014/main" id="{6A8CA5C9-346A-4993-8BF5-C223D8C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0007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>ss -lntp  →  127.0.0.1:8080</a:t>
            </a:r>
          </a:p>
        </p:txBody>
      </p:sp>
      <p:sp>
        <p:nvSpPr>
          <p:cNvPr id="41" name="port-reveal-result">
            <a:extLst xmlns:a="http://schemas.openxmlformats.org/drawingml/2006/main">
              <a:ext uri="{FF2B5EF4-FFF2-40B4-BE49-F238E27FC236}">
                <a16:creationId xmlns:a16="http://schemas.microsoft.com/office/drawing/2014/main" id="{0362618E-F351-4F0A-9569-2AADE85D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000750"/>
            <a:ext cx="4781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FFB454"/>
                </a:solidFill>
                <a:latin typeface="PingFang SC"/>
                <a:ea typeface="PingFang SC"/>
                <a:cs typeface="PingFang SC"/>
              </a:defRPr>
            </a:pPr>
            <a:r>
              <a:t>服务只监听回环地址</a:t>
            </a:r>
          </a:p>
        </p:txBody>
      </p:sp>
    </p:spTree>
    <p:extLst>
      <p:ext uri="{BB962C8B-B14F-4D97-AF65-F5344CB8AC3E}">
        <p14:creationId xmlns:p14="http://schemas.microsoft.com/office/powerpoint/2010/main" val="1151694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1744FC1C-C47B-48C9-85D7-954F2DD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知道下一步该查什么</a:t>
            </a:r>
            <a:r>
              <a:rPr sz="3900" b="1">
                <a:solidFill>
                  <a:srgbClr val="F4F7FB"/>
                </a:solidFill>
                <a:latin typeface="PingFang SC"/>
                <a:ea typeface="PingFang SC"/>
                <a:cs typeface="PingFang SC"/>
              </a:rPr>
              <a:t>，就是工程视角</a:t>
            </a:r>
          </a:p>
        </p:txBody>
      </p:sp>
      <p:sp>
        <p:nvSpPr>
          <p:cNvPr id="2" name="closing-map-heading">
            <a:extLst xmlns:a="http://schemas.openxmlformats.org/drawingml/2006/main">
              <a:ext uri="{FF2B5EF4-FFF2-40B4-BE49-F238E27FC236}">
                <a16:creationId xmlns:a16="http://schemas.microsoft.com/office/drawing/2014/main" id="{5122A7E6-0F54-43B2-9D49-38E21EE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一张运行时地图</a:t>
            </a:r>
          </a:p>
        </p:txBody>
      </p:sp>
      <p:sp>
        <p:nvSpPr>
          <p:cNvPr id="3" name="closing-map-node-1">
            <a:extLst xmlns:a="http://schemas.openxmlformats.org/drawingml/2006/main">
              <a:ext uri="{FF2B5EF4-FFF2-40B4-BE49-F238E27FC236}">
                <a16:creationId xmlns:a16="http://schemas.microsoft.com/office/drawing/2014/main" id="{A50B9084-6E99-4566-9ABE-649AC778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1D25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4" name="closing-map-label-1">
            <a:extLst xmlns:a="http://schemas.openxmlformats.org/drawingml/2006/main">
              <a:ext uri="{FF2B5EF4-FFF2-40B4-BE49-F238E27FC236}">
                <a16:creationId xmlns:a16="http://schemas.microsoft.com/office/drawing/2014/main" id="{51A6B74B-9C67-46D7-A968-FDFCBA9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用户体验</a:t>
            </a:r>
          </a:p>
        </p:txBody>
      </p:sp>
      <p:sp>
        <p:nvSpPr>
          <p:cNvPr id="5" name="closing-map-link-1">
            <a:extLst xmlns:a="http://schemas.openxmlformats.org/drawingml/2006/main">
              <a:ext uri="{FF2B5EF4-FFF2-40B4-BE49-F238E27FC236}">
                <a16:creationId xmlns:a16="http://schemas.microsoft.com/office/drawing/2014/main" id="{B5971D24-0E12-40F7-8109-986175FD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map-node-2">
            <a:extLst xmlns:a="http://schemas.openxmlformats.org/drawingml/2006/main">
              <a:ext uri="{FF2B5EF4-FFF2-40B4-BE49-F238E27FC236}">
                <a16:creationId xmlns:a16="http://schemas.microsoft.com/office/drawing/2014/main" id="{E035C133-7168-4834-83BB-A1865814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7" name="closing-map-label-2">
            <a:extLst xmlns:a="http://schemas.openxmlformats.org/drawingml/2006/main">
              <a:ext uri="{FF2B5EF4-FFF2-40B4-BE49-F238E27FC236}">
                <a16:creationId xmlns:a16="http://schemas.microsoft.com/office/drawing/2014/main" id="{1CC442F9-A472-4503-9D6E-BF0E11DF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服务进程</a:t>
            </a:r>
          </a:p>
        </p:txBody>
      </p:sp>
      <p:sp>
        <p:nvSpPr>
          <p:cNvPr id="8" name="closing-map-link-2">
            <a:extLst xmlns:a="http://schemas.openxmlformats.org/drawingml/2006/main">
              <a:ext uri="{FF2B5EF4-FFF2-40B4-BE49-F238E27FC236}">
                <a16:creationId xmlns:a16="http://schemas.microsoft.com/office/drawing/2014/main" id="{FA9B7F4F-0DC7-4DF4-A514-56BA22A5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ing-map-node-3">
            <a:extLst xmlns:a="http://schemas.openxmlformats.org/drawingml/2006/main">
              <a:ext uri="{FF2B5EF4-FFF2-40B4-BE49-F238E27FC236}">
                <a16:creationId xmlns:a16="http://schemas.microsoft.com/office/drawing/2014/main" id="{8662CFED-DABC-478B-95B7-F914A6C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0" name="closing-map-label-3">
            <a:extLst xmlns:a="http://schemas.openxmlformats.org/drawingml/2006/main">
              <a:ext uri="{FF2B5EF4-FFF2-40B4-BE49-F238E27FC236}">
                <a16:creationId xmlns:a16="http://schemas.microsoft.com/office/drawing/2014/main" id="{C8A96A17-29FF-4DCC-B777-BB86AA5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FD / Socket</a:t>
            </a:r>
          </a:p>
        </p:txBody>
      </p:sp>
      <p:sp>
        <p:nvSpPr>
          <p:cNvPr id="11" name="closing-map-link-3">
            <a:extLst xmlns:a="http://schemas.openxmlformats.org/drawingml/2006/main">
              <a:ext uri="{FF2B5EF4-FFF2-40B4-BE49-F238E27FC236}">
                <a16:creationId xmlns:a16="http://schemas.microsoft.com/office/drawing/2014/main" id="{59E8A580-AECE-454D-A97E-086FD428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243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ing-map-node-4">
            <a:extLst xmlns:a="http://schemas.openxmlformats.org/drawingml/2006/main">
              <a:ext uri="{FF2B5EF4-FFF2-40B4-BE49-F238E27FC236}">
                <a16:creationId xmlns:a16="http://schemas.microsoft.com/office/drawing/2014/main" id="{D57D4B8B-7932-4113-AD92-9B238DF9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6323E"/>
            </a:solidFill>
            <a:prstDash val="solid"/>
          </a:ln>
        </p:spPr>
      </p:sp>
      <p:sp>
        <p:nvSpPr>
          <p:cNvPr id="13" name="closing-map-label-4">
            <a:extLst xmlns:a="http://schemas.openxmlformats.org/drawingml/2006/main">
              <a:ext uri="{FF2B5EF4-FFF2-40B4-BE49-F238E27FC236}">
                <a16:creationId xmlns:a16="http://schemas.microsoft.com/office/drawing/2014/main" id="{6CA3C5EF-8BAC-4CDC-87B9-41181BCD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系统调用</a:t>
            </a:r>
          </a:p>
        </p:txBody>
      </p:sp>
      <p:sp>
        <p:nvSpPr>
          <p:cNvPr id="14" name="closing-map-link-4">
            <a:extLst xmlns:a="http://schemas.openxmlformats.org/drawingml/2006/main">
              <a:ext uri="{FF2B5EF4-FFF2-40B4-BE49-F238E27FC236}">
                <a16:creationId xmlns:a16="http://schemas.microsoft.com/office/drawing/2014/main" id="{9807EA7D-A412-48CE-A8AA-54E9EC7B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82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ing-map-node-5">
            <a:extLst xmlns:a="http://schemas.openxmlformats.org/drawingml/2006/main">
              <a:ext uri="{FF2B5EF4-FFF2-40B4-BE49-F238E27FC236}">
                <a16:creationId xmlns:a16="http://schemas.microsoft.com/office/drawing/2014/main" id="{21B188E2-516F-44DA-ABB6-8DE03A98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61D"/>
          </a:solidFill>
          <a:ln xmlns:a="http://schemas.openxmlformats.org/drawingml/2006/main" w="9525">
            <a:solidFill>
              <a:srgbClr val="244236"/>
            </a:solidFill>
            <a:prstDash val="solid"/>
          </a:ln>
        </p:spPr>
      </p:sp>
      <p:sp>
        <p:nvSpPr>
          <p:cNvPr id="16" name="closing-map-label-5">
            <a:extLst xmlns:a="http://schemas.openxmlformats.org/drawingml/2006/main">
              <a:ext uri="{FF2B5EF4-FFF2-40B4-BE49-F238E27FC236}">
                <a16:creationId xmlns:a16="http://schemas.microsoft.com/office/drawing/2014/main" id="{E144F9B8-297A-4565-96CF-49C9B951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5DCE5"/>
                </a:solidFill>
                <a:latin typeface="PingFang SC"/>
                <a:ea typeface="PingFang SC"/>
                <a:cs typeface="PingFang SC"/>
              </a:defRPr>
            </a:pPr>
            <a:r>
              <a:t>计算 · 内存 · 存储 · 网络</a:t>
            </a:r>
          </a:p>
        </p:txBody>
      </p:sp>
      <p:sp>
        <p:nvSpPr>
          <p:cNvPr id="17" name="closing-map-end">
            <a:extLst xmlns:a="http://schemas.openxmlformats.org/drawingml/2006/main">
              <a:ext uri="{FF2B5EF4-FFF2-40B4-BE49-F238E27FC236}">
                <a16:creationId xmlns:a16="http://schemas.microsoft.com/office/drawing/2014/main" id="{E924C47E-3312-41B1-8009-A9A95F7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closing-question-heading">
            <a:extLst xmlns:a="http://schemas.openxmlformats.org/drawingml/2006/main">
              <a:ext uri="{FF2B5EF4-FFF2-40B4-BE49-F238E27FC236}">
                <a16:creationId xmlns:a16="http://schemas.microsoft.com/office/drawing/2014/main" id="{36AC81A2-C3B4-451C-BE3C-C6F33E0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五个工程判断</a:t>
            </a:r>
          </a:p>
        </p:txBody>
      </p:sp>
      <p:sp>
        <p:nvSpPr>
          <p:cNvPr id="19" name="closing-question-index-1">
            <a:extLst xmlns:a="http://schemas.openxmlformats.org/drawingml/2006/main">
              <a:ext uri="{FF2B5EF4-FFF2-40B4-BE49-F238E27FC236}">
                <a16:creationId xmlns:a16="http://schemas.microsoft.com/office/drawing/2014/main" id="{2617F16E-BD56-4B9E-BB82-3F5D5E1D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0" name="closing-question-title-1">
            <a:extLst xmlns:a="http://schemas.openxmlformats.org/drawingml/2006/main">
              <a:ext uri="{FF2B5EF4-FFF2-40B4-BE49-F238E27FC236}">
                <a16:creationId xmlns:a16="http://schemas.microsoft.com/office/drawing/2014/main" id="{4B24C198-51B6-4AD1-B399-820732E1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43100"/>
            <a:ext cx="582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问题是什么？</a:t>
            </a:r>
          </a:p>
        </p:txBody>
      </p:sp>
      <p:sp>
        <p:nvSpPr>
          <p:cNvPr id="21" name="closing-question-detail-1">
            <a:extLst xmlns:a="http://schemas.openxmlformats.org/drawingml/2006/main">
              <a:ext uri="{FF2B5EF4-FFF2-40B4-BE49-F238E27FC236}">
                <a16:creationId xmlns:a16="http://schemas.microsoft.com/office/drawing/2014/main" id="{E9E40DA8-7E32-4A13-8DC7-F687B4C8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对象、范围、时间、用户指标</a:t>
            </a:r>
          </a:p>
        </p:txBody>
      </p:sp>
      <p:sp>
        <p:nvSpPr>
          <p:cNvPr id="22" name="closing-question-rule-1">
            <a:extLst xmlns:a="http://schemas.openxmlformats.org/drawingml/2006/main">
              <a:ext uri="{FF2B5EF4-FFF2-40B4-BE49-F238E27FC236}">
                <a16:creationId xmlns:a16="http://schemas.microsoft.com/office/drawing/2014/main" id="{C9E39972-1170-41AF-BBFD-64BFD032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90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osing-question-index-2">
            <a:extLst xmlns:a="http://schemas.openxmlformats.org/drawingml/2006/main">
              <a:ext uri="{FF2B5EF4-FFF2-40B4-BE49-F238E27FC236}">
                <a16:creationId xmlns:a16="http://schemas.microsoft.com/office/drawing/2014/main" id="{1E9E8387-7C0E-4F62-9F9C-90D8E624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52725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4" name="closing-question-title-2">
            <a:extLst xmlns:a="http://schemas.openxmlformats.org/drawingml/2006/main">
              <a:ext uri="{FF2B5EF4-FFF2-40B4-BE49-F238E27FC236}">
                <a16:creationId xmlns:a16="http://schemas.microsoft.com/office/drawing/2014/main" id="{68076337-5B7A-4480-9142-ADA136C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76525"/>
            <a:ext cx="582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它发生在哪一层？</a:t>
            </a:r>
          </a:p>
        </p:txBody>
      </p:sp>
      <p:sp>
        <p:nvSpPr>
          <p:cNvPr id="25" name="closing-question-detail-2">
            <a:extLst xmlns:a="http://schemas.openxmlformats.org/drawingml/2006/main">
              <a:ext uri="{FF2B5EF4-FFF2-40B4-BE49-F238E27FC236}">
                <a16:creationId xmlns:a16="http://schemas.microsoft.com/office/drawing/2014/main" id="{E53F0BFD-F93D-427A-BB83-B38CD1F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进程、FD、Socket、文件、资源</a:t>
            </a:r>
          </a:p>
        </p:txBody>
      </p:sp>
      <p:sp>
        <p:nvSpPr>
          <p:cNvPr id="26" name="closing-question-rule-2">
            <a:extLst xmlns:a="http://schemas.openxmlformats.org/drawingml/2006/main">
              <a:ext uri="{FF2B5EF4-FFF2-40B4-BE49-F238E27FC236}">
                <a16:creationId xmlns:a16="http://schemas.microsoft.com/office/drawing/2014/main" id="{6029BF1E-6015-42FE-86E1-83C40B4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2422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osing-question-index-3">
            <a:extLst xmlns:a="http://schemas.openxmlformats.org/drawingml/2006/main">
              <a:ext uri="{FF2B5EF4-FFF2-40B4-BE49-F238E27FC236}">
                <a16:creationId xmlns:a16="http://schemas.microsoft.com/office/drawing/2014/main" id="{AB3B71F7-7162-4124-918E-E0E6531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8" name="closing-question-title-3">
            <a:extLst xmlns:a="http://schemas.openxmlformats.org/drawingml/2006/main">
              <a:ext uri="{FF2B5EF4-FFF2-40B4-BE49-F238E27FC236}">
                <a16:creationId xmlns:a16="http://schemas.microsoft.com/office/drawing/2014/main" id="{55AAE581-E4C3-4984-B1D0-3600CAD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582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什么证据支持或反驳？</a:t>
            </a:r>
          </a:p>
        </p:txBody>
      </p:sp>
      <p:sp>
        <p:nvSpPr>
          <p:cNvPr id="29" name="closing-question-detail-3">
            <a:extLst xmlns:a="http://schemas.openxmlformats.org/drawingml/2006/main">
              <a:ext uri="{FF2B5EF4-FFF2-40B4-BE49-F238E27FC236}">
                <a16:creationId xmlns:a16="http://schemas.microsoft.com/office/drawing/2014/main" id="{953298BC-5BE0-4A88-80E3-CCBD399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33800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把指标放进同一条因果链</a:t>
            </a:r>
          </a:p>
        </p:txBody>
      </p:sp>
      <p:sp>
        <p:nvSpPr>
          <p:cNvPr id="30" name="closing-question-rule-3">
            <a:extLst xmlns:a="http://schemas.openxmlformats.org/drawingml/2006/main">
              <a:ext uri="{FF2B5EF4-FFF2-40B4-BE49-F238E27FC236}">
                <a16:creationId xmlns:a16="http://schemas.microsoft.com/office/drawing/2014/main" id="{6358CB98-50C8-45E5-81DC-19BED20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576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osing-question-index-4">
            <a:extLst xmlns:a="http://schemas.openxmlformats.org/drawingml/2006/main">
              <a:ext uri="{FF2B5EF4-FFF2-40B4-BE49-F238E27FC236}">
                <a16:creationId xmlns:a16="http://schemas.microsoft.com/office/drawing/2014/main" id="{690539FB-0B80-4B21-9817-93A6AB1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19575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995A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2" name="closing-question-title-4">
            <a:extLst xmlns:a="http://schemas.openxmlformats.org/drawingml/2006/main">
              <a:ext uri="{FF2B5EF4-FFF2-40B4-BE49-F238E27FC236}">
                <a16:creationId xmlns:a16="http://schemas.microsoft.com/office/drawing/2014/main" id="{7F20496A-AF8C-4267-859D-9896956D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43375"/>
            <a:ext cx="582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最小且安全的动作？</a:t>
            </a:r>
          </a:p>
        </p:txBody>
      </p:sp>
      <p:sp>
        <p:nvSpPr>
          <p:cNvPr id="33" name="closing-question-detail-4">
            <a:extLst xmlns:a="http://schemas.openxmlformats.org/drawingml/2006/main">
              <a:ext uri="{FF2B5EF4-FFF2-40B4-BE49-F238E27FC236}">
                <a16:creationId xmlns:a16="http://schemas.microsoft.com/office/drawing/2014/main" id="{CBA8D8B8-9635-4017-ACF1-3B155B1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8995A3"/>
                </a:solidFill>
                <a:latin typeface="PingFang SC"/>
                <a:ea typeface="PingFang SC"/>
                <a:cs typeface="PingFang SC"/>
              </a:defRPr>
            </a:pPr>
            <a:r>
              <a:t>只改变一个变量，并且可回退</a:t>
            </a:r>
          </a:p>
        </p:txBody>
      </p:sp>
      <p:sp>
        <p:nvSpPr>
          <p:cNvPr id="34" name="closing-question-rule-4">
            <a:extLst xmlns:a="http://schemas.openxmlformats.org/drawingml/2006/main">
              <a:ext uri="{FF2B5EF4-FFF2-40B4-BE49-F238E27FC236}">
                <a16:creationId xmlns:a16="http://schemas.microsoft.com/office/drawing/2014/main" id="{1FDC23E2-1AFB-47E3-93A1-A2945492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9107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osing-question-index-5">
            <a:extLst xmlns:a="http://schemas.openxmlformats.org/drawingml/2006/main">
              <a:ext uri="{FF2B5EF4-FFF2-40B4-BE49-F238E27FC236}">
                <a16:creationId xmlns:a16="http://schemas.microsoft.com/office/drawing/2014/main" id="{D9399515-2B65-4D4D-A3C3-F7D080D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6" name="closing-question-title-5">
            <a:extLst xmlns:a="http://schemas.openxmlformats.org/drawingml/2006/main">
              <a:ext uri="{FF2B5EF4-FFF2-40B4-BE49-F238E27FC236}">
                <a16:creationId xmlns:a16="http://schemas.microsoft.com/office/drawing/2014/main" id="{CC041361-6F47-402C-A429-95EE854D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76800"/>
            <a:ext cx="5829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PingFang SC"/>
                <a:ea typeface="PingFang SC"/>
                <a:cs typeface="PingFang SC"/>
              </a:defRPr>
            </a:pPr>
            <a:r>
              <a:t>如何证明真的改善？</a:t>
            </a:r>
          </a:p>
        </p:txBody>
      </p:sp>
      <p:sp>
        <p:nvSpPr>
          <p:cNvPr id="37" name="closing-question-detail-5">
            <a:extLst xmlns:a="http://schemas.openxmlformats.org/drawingml/2006/main">
              <a:ext uri="{FF2B5EF4-FFF2-40B4-BE49-F238E27FC236}">
                <a16:creationId xmlns:a16="http://schemas.microsoft.com/office/drawing/2014/main" id="{ED69165D-CCD2-423D-B219-E26AFA0E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00650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同负载复测用户与系统指标</a:t>
            </a:r>
          </a:p>
        </p:txBody>
      </p:sp>
      <p:sp>
        <p:nvSpPr>
          <p:cNvPr id="38" name="closing-question-end">
            <a:extLst xmlns:a="http://schemas.openxmlformats.org/drawingml/2006/main">
              <a:ext uri="{FF2B5EF4-FFF2-40B4-BE49-F238E27FC236}">
                <a16:creationId xmlns:a16="http://schemas.microsoft.com/office/drawing/2014/main" id="{D32C8C86-61FC-414B-AC13-BC527A7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closing-quote-rule">
            <a:extLst xmlns:a="http://schemas.openxmlformats.org/drawingml/2006/main">
              <a:ext uri="{FF2B5EF4-FFF2-40B4-BE49-F238E27FC236}">
                <a16:creationId xmlns:a16="http://schemas.microsoft.com/office/drawing/2014/main" id="{860C2115-8DBD-4F14-95FA-1E563E1D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46C1A969-5472-43FC-A112-7D1859E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7F5CE"/>
                </a:solidFill>
                <a:latin typeface="PingFang SC"/>
                <a:ea typeface="PingFang SC"/>
                <a:cs typeface="PingFang SC"/>
              </a:defRPr>
            </a:pPr>
            <a:r>
              <a:t>AI 可以帮你找命令；你要决定问什么、信什么，以及怎样证明它有效。</a:t>
            </a:r>
          </a:p>
        </p:txBody>
      </p:sp>
    </p:spTree>
    <p:extLst>
      <p:ext uri="{BB962C8B-B14F-4D97-AF65-F5344CB8AC3E}">
        <p14:creationId xmlns:p14="http://schemas.microsoft.com/office/powerpoint/2010/main" val="449487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2026-08-16T10:25:10.4370000Z</dcterms:created>
  <dcterms:modified xsi:type="dcterms:W3CDTF">2026-08-16T10:25:10.4370000Z</dcterms:modified>
</coreProperties>
</file>